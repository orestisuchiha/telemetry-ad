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charts/chart2.xml" ContentType="application/vnd.openxmlformats-officedocument.drawingml.chart+xml"/>
  <Override PartName="/ppt/notesSlides/notesSlide16.xml" ContentType="application/vnd.openxmlformats-officedocument.presentationml.notesSlide+xml"/>
  <Override PartName="/ppt/charts/chart3.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78"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7482" autoAdjust="0"/>
  </p:normalViewPr>
  <p:slideViewPr>
    <p:cSldViewPr snapToGrid="0" snapToObjects="1">
      <p:cViewPr varScale="1">
        <p:scale>
          <a:sx n="162" d="100"/>
          <a:sy n="162" d="100"/>
        </p:scale>
        <p:origin x="1764"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Z-score</c:v>
                </c:pt>
              </c:strCache>
            </c:strRef>
          </c:tx>
          <c:spPr>
            <a:solidFill>
              <a:srgbClr val="1A6FC4"/>
            </a:solidFill>
            <a:effectLst/>
          </c:spPr>
          <c:invertIfNegative val="0"/>
          <c:dLbls>
            <c:numFmt formatCode="0.000" sourceLinked="0"/>
            <c:spPr>
              <a:noFill/>
              <a:ln>
                <a:noFill/>
              </a:ln>
              <a:effectLst/>
            </c:spPr>
            <c:txPr>
              <a:bodyPr/>
              <a:lstStyle/>
              <a:p>
                <a:pPr>
                  <a:defRPr sz="900" b="0" i="0" u="none" strike="noStrike">
                    <a:solidFill>
                      <a:srgbClr val="1A202C"/>
                    </a:solidFill>
                    <a:latin typeface="Arial"/>
                  </a:defRPr>
                </a:pPr>
                <a:endParaRPr lang="LID4096"/>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SKAB valve1/1</c:v>
                </c:pt>
                <c:pt idx="1">
                  <c:v>NAB rds_cpu</c:v>
                </c:pt>
                <c:pt idx="2">
                  <c:v>NAB ec2_cpu</c:v>
                </c:pt>
                <c:pt idx="3">
                  <c:v>NAB ec2_network</c:v>
                </c:pt>
              </c:strCache>
            </c:strRef>
          </c:cat>
          <c:val>
            <c:numRef>
              <c:f>Sheet1!$B$2:$B$5</c:f>
              <c:numCache>
                <c:formatCode>General</c:formatCode>
                <c:ptCount val="4"/>
                <c:pt idx="0">
                  <c:v>0.67700000000000005</c:v>
                </c:pt>
                <c:pt idx="1">
                  <c:v>0.44600000000000001</c:v>
                </c:pt>
                <c:pt idx="2">
                  <c:v>0.24199999999999999</c:v>
                </c:pt>
                <c:pt idx="3">
                  <c:v>0.157</c:v>
                </c:pt>
              </c:numCache>
            </c:numRef>
          </c:val>
          <c:extLst>
            <c:ext xmlns:c16="http://schemas.microsoft.com/office/drawing/2014/chart" uri="{C3380CC4-5D6E-409C-BE32-E72D297353CC}">
              <c16:uniqueId val="{00000000-9DD7-4F9F-BA6C-6B95142CF923}"/>
            </c:ext>
          </c:extLst>
        </c:ser>
        <c:ser>
          <c:idx val="1"/>
          <c:order val="1"/>
          <c:tx>
            <c:strRef>
              <c:f>Sheet1!$C$1</c:f>
              <c:strCache>
                <c:ptCount val="1"/>
                <c:pt idx="0">
                  <c:v>Isol. Forest</c:v>
                </c:pt>
              </c:strCache>
            </c:strRef>
          </c:tx>
          <c:spPr>
            <a:solidFill>
              <a:srgbClr val="8B5CF6"/>
            </a:solidFill>
            <a:effectLst/>
          </c:spPr>
          <c:invertIfNegative val="0"/>
          <c:dLbls>
            <c:numFmt formatCode="0.000" sourceLinked="0"/>
            <c:spPr>
              <a:noFill/>
              <a:ln>
                <a:noFill/>
              </a:ln>
              <a:effectLst/>
            </c:spPr>
            <c:txPr>
              <a:bodyPr/>
              <a:lstStyle/>
              <a:p>
                <a:pPr>
                  <a:defRPr sz="900" b="0" i="0" u="none" strike="noStrike">
                    <a:solidFill>
                      <a:srgbClr val="1A202C"/>
                    </a:solidFill>
                    <a:latin typeface="Arial"/>
                  </a:defRPr>
                </a:pPr>
                <a:endParaRPr lang="LID4096"/>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SKAB valve1/1</c:v>
                </c:pt>
                <c:pt idx="1">
                  <c:v>NAB rds_cpu</c:v>
                </c:pt>
                <c:pt idx="2">
                  <c:v>NAB ec2_cpu</c:v>
                </c:pt>
                <c:pt idx="3">
                  <c:v>NAB ec2_network</c:v>
                </c:pt>
              </c:strCache>
            </c:strRef>
          </c:cat>
          <c:val>
            <c:numRef>
              <c:f>Sheet1!$C$2:$C$5</c:f>
              <c:numCache>
                <c:formatCode>General</c:formatCode>
                <c:ptCount val="4"/>
                <c:pt idx="0">
                  <c:v>0.628</c:v>
                </c:pt>
                <c:pt idx="1">
                  <c:v>0.437</c:v>
                </c:pt>
                <c:pt idx="2">
                  <c:v>0.223</c:v>
                </c:pt>
                <c:pt idx="3">
                  <c:v>0.39800000000000002</c:v>
                </c:pt>
              </c:numCache>
            </c:numRef>
          </c:val>
          <c:extLst>
            <c:ext xmlns:c16="http://schemas.microsoft.com/office/drawing/2014/chart" uri="{C3380CC4-5D6E-409C-BE32-E72D297353CC}">
              <c16:uniqueId val="{00000001-9DD7-4F9F-BA6C-6B95142CF923}"/>
            </c:ext>
          </c:extLst>
        </c:ser>
        <c:ser>
          <c:idx val="2"/>
          <c:order val="2"/>
          <c:tx>
            <c:strRef>
              <c:f>Sheet1!$D$1</c:f>
              <c:strCache>
                <c:ptCount val="1"/>
                <c:pt idx="0">
                  <c:v>LSTM-AE</c:v>
                </c:pt>
              </c:strCache>
            </c:strRef>
          </c:tx>
          <c:spPr>
            <a:solidFill>
              <a:srgbClr val="00B4A6"/>
            </a:solidFill>
            <a:effectLst/>
          </c:spPr>
          <c:invertIfNegative val="0"/>
          <c:dLbls>
            <c:numFmt formatCode="0.000" sourceLinked="0"/>
            <c:spPr>
              <a:noFill/>
              <a:ln>
                <a:noFill/>
              </a:ln>
              <a:effectLst/>
            </c:spPr>
            <c:txPr>
              <a:bodyPr/>
              <a:lstStyle/>
              <a:p>
                <a:pPr>
                  <a:defRPr sz="900" b="0" i="0" u="none" strike="noStrike">
                    <a:solidFill>
                      <a:srgbClr val="1A202C"/>
                    </a:solidFill>
                    <a:latin typeface="Arial"/>
                  </a:defRPr>
                </a:pPr>
                <a:endParaRPr lang="LID4096"/>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SKAB valve1/1</c:v>
                </c:pt>
                <c:pt idx="1">
                  <c:v>NAB rds_cpu</c:v>
                </c:pt>
                <c:pt idx="2">
                  <c:v>NAB ec2_cpu</c:v>
                </c:pt>
                <c:pt idx="3">
                  <c:v>NAB ec2_network</c:v>
                </c:pt>
              </c:strCache>
            </c:strRef>
          </c:cat>
          <c:val>
            <c:numRef>
              <c:f>Sheet1!$D$2:$D$5</c:f>
              <c:numCache>
                <c:formatCode>General</c:formatCode>
                <c:ptCount val="4"/>
                <c:pt idx="0">
                  <c:v>0.66700000000000004</c:v>
                </c:pt>
                <c:pt idx="1">
                  <c:v>0.57099999999999995</c:v>
                </c:pt>
                <c:pt idx="2">
                  <c:v>0.30199999999999999</c:v>
                </c:pt>
                <c:pt idx="3">
                  <c:v>0.61299999999999999</c:v>
                </c:pt>
              </c:numCache>
            </c:numRef>
          </c:val>
          <c:extLst>
            <c:ext xmlns:c16="http://schemas.microsoft.com/office/drawing/2014/chart" uri="{C3380CC4-5D6E-409C-BE32-E72D297353CC}">
              <c16:uniqueId val="{00000002-9DD7-4F9F-BA6C-6B95142CF923}"/>
            </c:ext>
          </c:extLst>
        </c:ser>
        <c:ser>
          <c:idx val="3"/>
          <c:order val="3"/>
          <c:tx>
            <c:strRef>
              <c:f>Sheet1!$E$1</c:f>
              <c:strCache>
                <c:ptCount val="1"/>
                <c:pt idx="0">
                  <c:v>CNN-AE</c:v>
                </c:pt>
              </c:strCache>
            </c:strRef>
          </c:tx>
          <c:spPr>
            <a:solidFill>
              <a:srgbClr val="F4844C"/>
            </a:solidFill>
            <a:effectLst/>
          </c:spPr>
          <c:invertIfNegative val="0"/>
          <c:dLbls>
            <c:numFmt formatCode="0.000" sourceLinked="0"/>
            <c:spPr>
              <a:noFill/>
              <a:ln>
                <a:noFill/>
              </a:ln>
              <a:effectLst/>
            </c:spPr>
            <c:txPr>
              <a:bodyPr/>
              <a:lstStyle/>
              <a:p>
                <a:pPr>
                  <a:defRPr sz="900" b="0" i="0" u="none" strike="noStrike">
                    <a:solidFill>
                      <a:srgbClr val="1A202C"/>
                    </a:solidFill>
                    <a:latin typeface="Arial"/>
                  </a:defRPr>
                </a:pPr>
                <a:endParaRPr lang="LID4096"/>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SKAB valve1/1</c:v>
                </c:pt>
                <c:pt idx="1">
                  <c:v>NAB rds_cpu</c:v>
                </c:pt>
                <c:pt idx="2">
                  <c:v>NAB ec2_cpu</c:v>
                </c:pt>
                <c:pt idx="3">
                  <c:v>NAB ec2_network</c:v>
                </c:pt>
              </c:strCache>
            </c:strRef>
          </c:cat>
          <c:val>
            <c:numRef>
              <c:f>Sheet1!$E$2:$E$5</c:f>
              <c:numCache>
                <c:formatCode>General</c:formatCode>
                <c:ptCount val="4"/>
                <c:pt idx="0">
                  <c:v>0.64200000000000002</c:v>
                </c:pt>
                <c:pt idx="1">
                  <c:v>0.57099999999999995</c:v>
                </c:pt>
                <c:pt idx="2">
                  <c:v>0.30199999999999999</c:v>
                </c:pt>
                <c:pt idx="3">
                  <c:v>0.17299999999999999</c:v>
                </c:pt>
              </c:numCache>
            </c:numRef>
          </c:val>
          <c:extLst>
            <c:ext xmlns:c16="http://schemas.microsoft.com/office/drawing/2014/chart" uri="{C3380CC4-5D6E-409C-BE32-E72D297353CC}">
              <c16:uniqueId val="{00000003-9DD7-4F9F-BA6C-6B95142CF92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Z-score</c:v>
                </c:pt>
              </c:strCache>
            </c:strRef>
          </c:tx>
          <c:spPr>
            <a:solidFill>
              <a:srgbClr val="1A6FC4"/>
            </a:solidFill>
            <a:effectLst/>
          </c:spPr>
          <c:invertIfNegative val="0"/>
          <c:dLbls>
            <c:numFmt formatCode="0.000" sourceLinked="0"/>
            <c:spPr>
              <a:noFill/>
              <a:ln>
                <a:noFill/>
              </a:ln>
              <a:effectLst/>
            </c:spPr>
            <c:txPr>
              <a:bodyPr/>
              <a:lstStyle/>
              <a:p>
                <a:pPr>
                  <a:defRPr sz="900" b="0" i="0" u="none" strike="noStrike">
                    <a:solidFill>
                      <a:srgbClr val="1A202C"/>
                    </a:solidFill>
                    <a:latin typeface="Arial"/>
                  </a:defRPr>
                </a:pPr>
                <a:endParaRPr lang="LID4096"/>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SKAB valve1/1</c:v>
                </c:pt>
                <c:pt idx="1">
                  <c:v>NAB rds_cpu</c:v>
                </c:pt>
                <c:pt idx="2">
                  <c:v>NAB ec2_cpu</c:v>
                </c:pt>
                <c:pt idx="3">
                  <c:v>NAB ec2_network</c:v>
                </c:pt>
              </c:strCache>
            </c:strRef>
          </c:cat>
          <c:val>
            <c:numRef>
              <c:f>Sheet1!$B$2:$B$5</c:f>
              <c:numCache>
                <c:formatCode>General</c:formatCode>
                <c:ptCount val="4"/>
                <c:pt idx="0">
                  <c:v>1</c:v>
                </c:pt>
                <c:pt idx="1">
                  <c:v>1</c:v>
                </c:pt>
                <c:pt idx="2">
                  <c:v>1</c:v>
                </c:pt>
                <c:pt idx="3">
                  <c:v>0.4</c:v>
                </c:pt>
              </c:numCache>
            </c:numRef>
          </c:val>
          <c:extLst>
            <c:ext xmlns:c16="http://schemas.microsoft.com/office/drawing/2014/chart" uri="{C3380CC4-5D6E-409C-BE32-E72D297353CC}">
              <c16:uniqueId val="{00000000-5B38-48B1-A043-73EA262D181B}"/>
            </c:ext>
          </c:extLst>
        </c:ser>
        <c:ser>
          <c:idx val="1"/>
          <c:order val="1"/>
          <c:tx>
            <c:strRef>
              <c:f>Sheet1!$C$1</c:f>
              <c:strCache>
                <c:ptCount val="1"/>
                <c:pt idx="0">
                  <c:v>Isol. Forest</c:v>
                </c:pt>
              </c:strCache>
            </c:strRef>
          </c:tx>
          <c:spPr>
            <a:solidFill>
              <a:srgbClr val="8B5CF6"/>
            </a:solidFill>
            <a:effectLst/>
          </c:spPr>
          <c:invertIfNegative val="0"/>
          <c:dLbls>
            <c:numFmt formatCode="0.000" sourceLinked="0"/>
            <c:spPr>
              <a:noFill/>
              <a:ln>
                <a:noFill/>
              </a:ln>
              <a:effectLst/>
            </c:spPr>
            <c:txPr>
              <a:bodyPr/>
              <a:lstStyle/>
              <a:p>
                <a:pPr>
                  <a:defRPr sz="900" b="0" i="0" u="none" strike="noStrike">
                    <a:solidFill>
                      <a:srgbClr val="1A202C"/>
                    </a:solidFill>
                    <a:latin typeface="Arial"/>
                  </a:defRPr>
                </a:pPr>
                <a:endParaRPr lang="LID4096"/>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SKAB valve1/1</c:v>
                </c:pt>
                <c:pt idx="1">
                  <c:v>NAB rds_cpu</c:v>
                </c:pt>
                <c:pt idx="2">
                  <c:v>NAB ec2_cpu</c:v>
                </c:pt>
                <c:pt idx="3">
                  <c:v>NAB ec2_network</c:v>
                </c:pt>
              </c:strCache>
            </c:strRef>
          </c:cat>
          <c:val>
            <c:numRef>
              <c:f>Sheet1!$C$2:$C$5</c:f>
              <c:numCache>
                <c:formatCode>General</c:formatCode>
                <c:ptCount val="4"/>
                <c:pt idx="0">
                  <c:v>0.68100000000000005</c:v>
                </c:pt>
                <c:pt idx="1">
                  <c:v>1</c:v>
                </c:pt>
                <c:pt idx="2">
                  <c:v>0.23699999999999999</c:v>
                </c:pt>
                <c:pt idx="3">
                  <c:v>4.7E-2</c:v>
                </c:pt>
              </c:numCache>
            </c:numRef>
          </c:val>
          <c:extLst>
            <c:ext xmlns:c16="http://schemas.microsoft.com/office/drawing/2014/chart" uri="{C3380CC4-5D6E-409C-BE32-E72D297353CC}">
              <c16:uniqueId val="{00000001-5B38-48B1-A043-73EA262D181B}"/>
            </c:ext>
          </c:extLst>
        </c:ser>
        <c:ser>
          <c:idx val="2"/>
          <c:order val="2"/>
          <c:tx>
            <c:strRef>
              <c:f>Sheet1!$D$1</c:f>
              <c:strCache>
                <c:ptCount val="1"/>
                <c:pt idx="0">
                  <c:v>LSTM-AE</c:v>
                </c:pt>
              </c:strCache>
            </c:strRef>
          </c:tx>
          <c:spPr>
            <a:solidFill>
              <a:srgbClr val="00B4A6"/>
            </a:solidFill>
            <a:effectLst/>
          </c:spPr>
          <c:invertIfNegative val="0"/>
          <c:dLbls>
            <c:numFmt formatCode="0.000" sourceLinked="0"/>
            <c:spPr>
              <a:noFill/>
              <a:ln>
                <a:noFill/>
              </a:ln>
              <a:effectLst/>
            </c:spPr>
            <c:txPr>
              <a:bodyPr/>
              <a:lstStyle/>
              <a:p>
                <a:pPr>
                  <a:defRPr sz="900" b="0" i="0" u="none" strike="noStrike">
                    <a:solidFill>
                      <a:srgbClr val="1A202C"/>
                    </a:solidFill>
                    <a:latin typeface="Arial"/>
                  </a:defRPr>
                </a:pPr>
                <a:endParaRPr lang="LID4096"/>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SKAB valve1/1</c:v>
                </c:pt>
                <c:pt idx="1">
                  <c:v>NAB rds_cpu</c:v>
                </c:pt>
                <c:pt idx="2">
                  <c:v>NAB ec2_cpu</c:v>
                </c:pt>
                <c:pt idx="3">
                  <c:v>NAB ec2_network</c:v>
                </c:pt>
              </c:strCache>
            </c:strRef>
          </c:cat>
          <c:val>
            <c:numRef>
              <c:f>Sheet1!$D$2:$D$5</c:f>
              <c:numCache>
                <c:formatCode>General</c:formatCode>
                <c:ptCount val="4"/>
                <c:pt idx="0">
                  <c:v>0.57099999999999995</c:v>
                </c:pt>
                <c:pt idx="1">
                  <c:v>1</c:v>
                </c:pt>
                <c:pt idx="2">
                  <c:v>1</c:v>
                </c:pt>
                <c:pt idx="3">
                  <c:v>1</c:v>
                </c:pt>
              </c:numCache>
            </c:numRef>
          </c:val>
          <c:extLst>
            <c:ext xmlns:c16="http://schemas.microsoft.com/office/drawing/2014/chart" uri="{C3380CC4-5D6E-409C-BE32-E72D297353CC}">
              <c16:uniqueId val="{00000002-5B38-48B1-A043-73EA262D181B}"/>
            </c:ext>
          </c:extLst>
        </c:ser>
        <c:ser>
          <c:idx val="3"/>
          <c:order val="3"/>
          <c:tx>
            <c:strRef>
              <c:f>Sheet1!$E$1</c:f>
              <c:strCache>
                <c:ptCount val="1"/>
                <c:pt idx="0">
                  <c:v>CNN-AE</c:v>
                </c:pt>
              </c:strCache>
            </c:strRef>
          </c:tx>
          <c:spPr>
            <a:solidFill>
              <a:srgbClr val="F4844C"/>
            </a:solidFill>
            <a:effectLst/>
          </c:spPr>
          <c:invertIfNegative val="0"/>
          <c:dLbls>
            <c:numFmt formatCode="0.000" sourceLinked="0"/>
            <c:spPr>
              <a:noFill/>
              <a:ln>
                <a:noFill/>
              </a:ln>
              <a:effectLst/>
            </c:spPr>
            <c:txPr>
              <a:bodyPr/>
              <a:lstStyle/>
              <a:p>
                <a:pPr>
                  <a:defRPr sz="900" b="0" i="0" u="none" strike="noStrike">
                    <a:solidFill>
                      <a:srgbClr val="1A202C"/>
                    </a:solidFill>
                    <a:latin typeface="Arial"/>
                  </a:defRPr>
                </a:pPr>
                <a:endParaRPr lang="LID4096"/>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SKAB valve1/1</c:v>
                </c:pt>
                <c:pt idx="1">
                  <c:v>NAB rds_cpu</c:v>
                </c:pt>
                <c:pt idx="2">
                  <c:v>NAB ec2_cpu</c:v>
                </c:pt>
                <c:pt idx="3">
                  <c:v>NAB ec2_network</c:v>
                </c:pt>
              </c:strCache>
            </c:strRef>
          </c:cat>
          <c:val>
            <c:numRef>
              <c:f>Sheet1!$E$2:$E$5</c:f>
              <c:numCache>
                <c:formatCode>General</c:formatCode>
                <c:ptCount val="4"/>
                <c:pt idx="0">
                  <c:v>0.66700000000000004</c:v>
                </c:pt>
                <c:pt idx="1">
                  <c:v>1</c:v>
                </c:pt>
                <c:pt idx="2">
                  <c:v>1</c:v>
                </c:pt>
                <c:pt idx="3">
                  <c:v>1</c:v>
                </c:pt>
              </c:numCache>
            </c:numRef>
          </c:val>
          <c:extLst>
            <c:ext xmlns:c16="http://schemas.microsoft.com/office/drawing/2014/chart" uri="{C3380CC4-5D6E-409C-BE32-E72D297353CC}">
              <c16:uniqueId val="{00000003-5B38-48B1-A043-73EA262D181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Z-score</c:v>
                </c:pt>
              </c:strCache>
            </c:strRef>
          </c:tx>
          <c:spPr>
            <a:solidFill>
              <a:srgbClr val="1A6FC4"/>
            </a:solidFill>
            <a:effectLst/>
          </c:spPr>
          <c:invertIfNegative val="0"/>
          <c:dLbls>
            <c:numFmt formatCode="0.000" sourceLinked="0"/>
            <c:spPr>
              <a:noFill/>
              <a:ln>
                <a:noFill/>
              </a:ln>
              <a:effectLst/>
            </c:spPr>
            <c:txPr>
              <a:bodyPr/>
              <a:lstStyle/>
              <a:p>
                <a:pPr>
                  <a:defRPr sz="900" b="0" i="0" u="none" strike="noStrike">
                    <a:solidFill>
                      <a:srgbClr val="1A202C"/>
                    </a:solidFill>
                    <a:latin typeface="Arial"/>
                  </a:defRPr>
                </a:pPr>
                <a:endParaRPr lang="LID4096"/>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SKAB valve1/1</c:v>
                </c:pt>
                <c:pt idx="1">
                  <c:v>NAB rds_cpu</c:v>
                </c:pt>
                <c:pt idx="2">
                  <c:v>NAB ec2_cpu</c:v>
                </c:pt>
                <c:pt idx="3">
                  <c:v>NAB ec2_network</c:v>
                </c:pt>
              </c:strCache>
            </c:strRef>
          </c:cat>
          <c:val>
            <c:numRef>
              <c:f>Sheet1!$B$2:$B$5</c:f>
              <c:numCache>
                <c:formatCode>General</c:formatCode>
                <c:ptCount val="4"/>
                <c:pt idx="0">
                  <c:v>0.38300000000000001</c:v>
                </c:pt>
                <c:pt idx="1">
                  <c:v>0.36599999999999999</c:v>
                </c:pt>
                <c:pt idx="2">
                  <c:v>0.76200000000000001</c:v>
                </c:pt>
                <c:pt idx="3">
                  <c:v>0.56200000000000006</c:v>
                </c:pt>
              </c:numCache>
            </c:numRef>
          </c:val>
          <c:extLst>
            <c:ext xmlns:c16="http://schemas.microsoft.com/office/drawing/2014/chart" uri="{C3380CC4-5D6E-409C-BE32-E72D297353CC}">
              <c16:uniqueId val="{00000000-8C03-45D7-A228-A3628D23D8B3}"/>
            </c:ext>
          </c:extLst>
        </c:ser>
        <c:ser>
          <c:idx val="1"/>
          <c:order val="1"/>
          <c:tx>
            <c:strRef>
              <c:f>Sheet1!$C$1</c:f>
              <c:strCache>
                <c:ptCount val="1"/>
                <c:pt idx="0">
                  <c:v>Isol. Forest</c:v>
                </c:pt>
              </c:strCache>
            </c:strRef>
          </c:tx>
          <c:spPr>
            <a:solidFill>
              <a:srgbClr val="8B5CF6"/>
            </a:solidFill>
            <a:effectLst/>
          </c:spPr>
          <c:invertIfNegative val="0"/>
          <c:dLbls>
            <c:numFmt formatCode="0.000" sourceLinked="0"/>
            <c:spPr>
              <a:noFill/>
              <a:ln>
                <a:noFill/>
              </a:ln>
              <a:effectLst/>
            </c:spPr>
            <c:txPr>
              <a:bodyPr/>
              <a:lstStyle/>
              <a:p>
                <a:pPr>
                  <a:defRPr sz="900" b="0" i="0" u="none" strike="noStrike">
                    <a:solidFill>
                      <a:srgbClr val="1A202C"/>
                    </a:solidFill>
                    <a:latin typeface="Arial"/>
                  </a:defRPr>
                </a:pPr>
                <a:endParaRPr lang="LID4096"/>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SKAB valve1/1</c:v>
                </c:pt>
                <c:pt idx="1">
                  <c:v>NAB rds_cpu</c:v>
                </c:pt>
                <c:pt idx="2">
                  <c:v>NAB ec2_cpu</c:v>
                </c:pt>
                <c:pt idx="3">
                  <c:v>NAB ec2_network</c:v>
                </c:pt>
              </c:strCache>
            </c:strRef>
          </c:cat>
          <c:val>
            <c:numRef>
              <c:f>Sheet1!$C$2:$C$5</c:f>
              <c:numCache>
                <c:formatCode>General</c:formatCode>
                <c:ptCount val="4"/>
                <c:pt idx="0">
                  <c:v>0.51600000000000001</c:v>
                </c:pt>
                <c:pt idx="1">
                  <c:v>0.30199999999999999</c:v>
                </c:pt>
                <c:pt idx="2">
                  <c:v>0.29899999999999999</c:v>
                </c:pt>
                <c:pt idx="3">
                  <c:v>0.40200000000000002</c:v>
                </c:pt>
              </c:numCache>
            </c:numRef>
          </c:val>
          <c:extLst>
            <c:ext xmlns:c16="http://schemas.microsoft.com/office/drawing/2014/chart" uri="{C3380CC4-5D6E-409C-BE32-E72D297353CC}">
              <c16:uniqueId val="{00000001-8C03-45D7-A228-A3628D23D8B3}"/>
            </c:ext>
          </c:extLst>
        </c:ser>
        <c:ser>
          <c:idx val="2"/>
          <c:order val="2"/>
          <c:tx>
            <c:strRef>
              <c:f>Sheet1!$D$1</c:f>
              <c:strCache>
                <c:ptCount val="1"/>
                <c:pt idx="0">
                  <c:v>LSTM-AE</c:v>
                </c:pt>
              </c:strCache>
            </c:strRef>
          </c:tx>
          <c:spPr>
            <a:solidFill>
              <a:srgbClr val="00B4A6"/>
            </a:solidFill>
            <a:effectLst/>
          </c:spPr>
          <c:invertIfNegative val="0"/>
          <c:dLbls>
            <c:numFmt formatCode="0.000" sourceLinked="0"/>
            <c:spPr>
              <a:noFill/>
              <a:ln>
                <a:noFill/>
              </a:ln>
              <a:effectLst/>
            </c:spPr>
            <c:txPr>
              <a:bodyPr/>
              <a:lstStyle/>
              <a:p>
                <a:pPr>
                  <a:defRPr sz="900" b="0" i="0" u="none" strike="noStrike">
                    <a:solidFill>
                      <a:srgbClr val="1A202C"/>
                    </a:solidFill>
                    <a:latin typeface="Arial"/>
                  </a:defRPr>
                </a:pPr>
                <a:endParaRPr lang="LID4096"/>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SKAB valve1/1</c:v>
                </c:pt>
                <c:pt idx="1">
                  <c:v>NAB rds_cpu</c:v>
                </c:pt>
                <c:pt idx="2">
                  <c:v>NAB ec2_cpu</c:v>
                </c:pt>
                <c:pt idx="3">
                  <c:v>NAB ec2_network</c:v>
                </c:pt>
              </c:strCache>
            </c:strRef>
          </c:cat>
          <c:val>
            <c:numRef>
              <c:f>Sheet1!$D$2:$D$5</c:f>
              <c:numCache>
                <c:formatCode>General</c:formatCode>
                <c:ptCount val="4"/>
                <c:pt idx="0">
                  <c:v>0.69499999999999995</c:v>
                </c:pt>
                <c:pt idx="1">
                  <c:v>0.49299999999999999</c:v>
                </c:pt>
                <c:pt idx="2">
                  <c:v>0.57099999999999995</c:v>
                </c:pt>
                <c:pt idx="3">
                  <c:v>0.95</c:v>
                </c:pt>
              </c:numCache>
            </c:numRef>
          </c:val>
          <c:extLst>
            <c:ext xmlns:c16="http://schemas.microsoft.com/office/drawing/2014/chart" uri="{C3380CC4-5D6E-409C-BE32-E72D297353CC}">
              <c16:uniqueId val="{00000002-8C03-45D7-A228-A3628D23D8B3}"/>
            </c:ext>
          </c:extLst>
        </c:ser>
        <c:ser>
          <c:idx val="3"/>
          <c:order val="3"/>
          <c:tx>
            <c:strRef>
              <c:f>Sheet1!$E$1</c:f>
              <c:strCache>
                <c:ptCount val="1"/>
                <c:pt idx="0">
                  <c:v>CNN-AE</c:v>
                </c:pt>
              </c:strCache>
            </c:strRef>
          </c:tx>
          <c:spPr>
            <a:solidFill>
              <a:srgbClr val="F4844C"/>
            </a:solidFill>
            <a:effectLst/>
          </c:spPr>
          <c:invertIfNegative val="0"/>
          <c:dLbls>
            <c:numFmt formatCode="0.000" sourceLinked="0"/>
            <c:spPr>
              <a:noFill/>
              <a:ln>
                <a:noFill/>
              </a:ln>
              <a:effectLst/>
            </c:spPr>
            <c:txPr>
              <a:bodyPr/>
              <a:lstStyle/>
              <a:p>
                <a:pPr>
                  <a:defRPr sz="900" b="0" i="0" u="none" strike="noStrike">
                    <a:solidFill>
                      <a:srgbClr val="1A202C"/>
                    </a:solidFill>
                    <a:latin typeface="Arial"/>
                  </a:defRPr>
                </a:pPr>
                <a:endParaRPr lang="LID4096"/>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SKAB valve1/1</c:v>
                </c:pt>
                <c:pt idx="1">
                  <c:v>NAB rds_cpu</c:v>
                </c:pt>
                <c:pt idx="2">
                  <c:v>NAB ec2_cpu</c:v>
                </c:pt>
                <c:pt idx="3">
                  <c:v>NAB ec2_network</c:v>
                </c:pt>
              </c:strCache>
            </c:strRef>
          </c:cat>
          <c:val>
            <c:numRef>
              <c:f>Sheet1!$E$2:$E$5</c:f>
              <c:numCache>
                <c:formatCode>General</c:formatCode>
                <c:ptCount val="4"/>
                <c:pt idx="0">
                  <c:v>0.49099999999999999</c:v>
                </c:pt>
                <c:pt idx="1">
                  <c:v>0.42799999999999999</c:v>
                </c:pt>
                <c:pt idx="2">
                  <c:v>0.57399999999999995</c:v>
                </c:pt>
                <c:pt idx="3">
                  <c:v>0.52100000000000002</c:v>
                </c:pt>
              </c:numCache>
            </c:numRef>
          </c:val>
          <c:extLst>
            <c:ext xmlns:c16="http://schemas.microsoft.com/office/drawing/2014/chart" uri="{C3380CC4-5D6E-409C-BE32-E72D297353CC}">
              <c16:uniqueId val="{00000003-8C03-45D7-A228-A3628D23D8B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5926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present our end-to-end IoT telemetry anomaly detection system — from model training on a laptop all the way to real-time streaming inference on a Raspberry Pi.
The project compares four detectors — a robust Z-score, Isolation Forest, an LSTM Autoencoder, and a CNN Autoencoder — evaluated across two benchmark datasets. We'll walk through the full pipeline, deployment architecture, and key results.
Running time: approximately 20 minutes including Q&amp;A.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roadmap for today's talk.
We'll start with the problem definition and our two benchmark datasets. Then walk through the system architecture — it's a clean two-stage design separating offline training from online inference.
From there we cover the four anomaly detectors and the threshold calibration approach, before moving into the deployment section — which is really the distinguishing feature of this project.
We'll close with results, discussion, and conclusions.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challenge is that real telemetry streams are messy. Unlike clean benchmark datasets, they're noisy, non-stationary — the statistical properties change over time — and labels for anomaly events are scarce or absent.
The detector also can't just flag individual points. It needs to produce coherent alert sequences that an operations team can actually act on. A burst of 91 tiny alerts covering a single fault event is useless in practice — we need one clean alert.
Our four design goals drive every architectural decision: support multiple data sources under a single configurable pipeline; evaluate with multiple complementary metrics; score at both point and event level; and make the system lightweight enough for edge deployment on a Raspberry Pi.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two very different benchmarks, deliberately chosen to stress the system in different ways.
SKAB comes from a physical testbed at Skoltech — it gives us clean multivariate industrial sensor data with a well-defined normal period and a single valve fault scenario. The anomaly boundary is crisp, which makes it ideal for testing whether our warmup-based threshold calibration works.
NAB is noisier and more realistic of cloud infrastructure monitoring — three AWS CloudWatch series covering CPU utilisation on RDS and EC2, and network traffic. These have slow trend components, daily periodicity, and cloud-style concept drift. We exclude labeled anomaly windows from training to prevent contamination, which is standard NAB protocol.
Together they test the extremes: clean industrial vs messy cloud.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strictly layered. There are five entry-point scripts — train_offline, evaluate_offline, infer_stream_pi, serve_stream_api, and pi_preflight — all of which delegate to a central orchestration module.
Orchestration dispatches to five focused library packages: dataset_io for loading, preprocessing for resampling and feature engineering, models for the four detectors, evaluation for metrics and reporting, and streaming for the RingBuffer and alert logging.
All state is stored as files — datasets, YAML configs, trained artifacts, reports, and alert logs. This means training and inference are completely decoupled: the Pi only needs the artifact files and never touches the training code.
The dashed arrow from serve_stream_api to streaming illustrates that the FastAPI server feeds the Pi's streaming loop — we'll cover that in the deployment section.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Preprocessing is crucial and dataset-specific. The pipeline runs five steps in order, each configurable via YAML.
The key dataset difference: SKAB has a clean, stationary normal baseline, so we don't detrend — we want the detector to learn the true baseline directly. For NAB, we subtract a rolling mean with a 144-sample window (about 12 hours at 5-minute resolution) to remove slow trend components that would otherwise swamp the anomaly signal.
StandardScaler is always fit on training windows only and applied to the test set consistently — this is critical for correctness on the Pi, where we use the same saved scaler.
All five steps are on/off flags in the YAML, so experiments can be reproduced exactly or modified by changing a single config file.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models share exactly the same feature engineering pipeline — the differences come purely from how they consume those features.
We use a 60-sample sliding window with stride 1. For each window we compute rolling statistics (mean, std, median, min, max), lag embeddings at [1, 5, 10] steps, first-order deltas, and FFT energy. For SKAB's multivariate channels, these are computed per sensor.
The critical engineering detail: the feature column schema is serialised into metadata.json at training time. The Raspberry Pi reads this schema and reconstructs the exact same feature vector using only NumPy. If any column is missing due to a version drift it's filled with zero and flagged. This schema lock is what guarantees correctness between the PC and Pi environments.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 four detectors across the complexity spectrum.
The robust Z-score uses Median Absolute Deviation rather than standard deviation — this makes it resistant to outliers in the training data. The 0.6745 constant normalises MAD to be equivalent to std for Gaussian data. Crucially, it works on the full feature matrix and takes the maximum per-feature score — so a single anomalous feature will trigger it.
Isolation Forest with 200 trees uses nonlinear path-length scoring and makes no assumptions about the data distribution. In theory this should make it robust, but we'll see it struggles operationally.
The LSTM Autoencoder is our main deep learning model. It's an encoder-decoder: the encoder compresses the 60-step window, the decoder reconstructs it, and the MSE is the anomaly score. It captures long-range sequential dependencies — ideal when the anomaly manifests as a change in temporal pattern.
The CNN Autoencoder focuses on local motifs using 1-D convolutions. Same architecture principle but better for short-range shape changes.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Threshold calibration is arguably our biggest engineering contribution.
The naive approach — set a fixed percentile at training time — works reasonably for NAB because the test stream's score distribution is similar to training. We use the 99.9th percentile of training scores, meaning only the top 0.1% of training scores would have been flagged. This is saved to an artifact file and loaded on the Pi.
For SKAB, this fails. The valve fault produces scores that are orders of magnitude larger than anything in training — so even a generous training percentile will trigger on the normal warmup. Instead, we score the first 300 test windows (which correspond to the pre-fault normal period), suppress alerts during this time, then set the threshold at a per-model percentile of those warmup scores.
Why different percentiles per model? Because the LSTM-AE reconstruction error is much noisier than the Z-score during normal operation, so a higher percentile is needed to avoid false positives.
The threshold search module automates this: it tries a list of candidate percentiles, scores each against event F1 subject to a maximum alert rate, and picks the best one.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deliberately avoid relying on a single metric, because each one tells a different story.
Point-level F1 measures per-timestamp correctness. It's threshold-dependent. PR-AUC is threshold-independent and measures overall ranking quality — how well the model separates anomalous from normal windows regardless of where you draw the line.
Event-level F1 is our operational metric. An event is a contiguous run of predicted anomalies. A predicted event is a "hit" if it overlaps with any true anomaly event — and vice versa. This penalises fragmentation: if Isolation Forest produces 91 short alert bursts covering one true fault, it has high point recall but near-zero event precision. That's what we mean by "operational failure."
The interpretation layer goes further — it classifies events as point anomalies, contextual (2-sample), or collective (3+), and labels them with operational categories like "possible sustained fault" or "possible concept drift." This is what an on-call engineer would actually read.
Beyond these three layers we also run STL seasonality decomposition and nonstationarity analysis to characterise the data, plus per-model explanation artifacts for interpretability.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deployment architecture has three roles.
The PC handles everything heavyweight: training, evaluation, and serving. The </a:t>
            </a:r>
            <a:r>
              <a:rPr lang="en-US" dirty="0" err="1"/>
              <a:t>FastAPI</a:t>
            </a:r>
            <a:r>
              <a:rPr lang="en-US" dirty="0"/>
              <a:t> server — serve_stream_api.py — loads the test dataset at startup and exposes it as a paginated stream via two endpoints: GET /health for schema validation, and GET /stream/next with cursor-based pagination.
</a:t>
            </a:r>
            <a:r>
              <a:rPr lang="en-US" dirty="0" err="1"/>
              <a:t>Tailscale</a:t>
            </a:r>
            <a:r>
              <a:rPr lang="en-US" dirty="0"/>
              <a:t> creates a private encrypted mesh network between the PC and the Pi. No port forwarding, no VPN configuration — both devices just join the same </a:t>
            </a:r>
            <a:r>
              <a:rPr lang="en-US" dirty="0" err="1"/>
              <a:t>tailnet</a:t>
            </a:r>
            <a:r>
              <a:rPr lang="en-US" dirty="0"/>
              <a:t> and communicate securely by hostname. This is what makes the deployment practical on a home network.
The Pi runs only inference. Before any inference begins, pi_preflight.py checks that all imports load correctly, all required artifact files are present, </a:t>
            </a:r>
            <a:r>
              <a:rPr lang="en-US" dirty="0" err="1"/>
              <a:t>Tailscale</a:t>
            </a:r>
            <a:r>
              <a:rPr lang="en-US" dirty="0"/>
              <a:t> is connected, and both API endpoints are reachable. If anything fails, it exits with a descriptive error before wasting time.
Artifacts are transferred once via </a:t>
            </a:r>
            <a:r>
              <a:rPr lang="en-US" dirty="0" err="1"/>
              <a:t>scp</a:t>
            </a:r>
            <a:r>
              <a:rPr lang="en-US" dirty="0"/>
              <a:t> or </a:t>
            </a:r>
            <a:r>
              <a:rPr lang="en-US" dirty="0" err="1"/>
              <a:t>rsync</a:t>
            </a:r>
            <a:r>
              <a:rPr lang="en-US" dirty="0"/>
              <a:t> — shown by the orange arrow at the bottom. After that, the Pi is self-contained for feature rebuild and scoring; it only hits the API for telemetry data.</a:t>
            </a:r>
          </a:p>
          <a:p>
            <a:endParaRPr lang="LID4096" dirty="0"/>
          </a:p>
        </p:txBody>
      </p:sp>
    </p:spTree>
    <p:extLst>
      <p:ext uri="{BB962C8B-B14F-4D97-AF65-F5344CB8AC3E}">
        <p14:creationId xmlns:p14="http://schemas.microsoft.com/office/powerpoint/2010/main" val="30769508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per-row inference loop that runs continuously on the Pi.
Step 1: The Pi requests the next batch from the FastAPI server using cursor-based pagination — it sends its current cursor position and batch size (typically 32), and the server returns the next rows with a done flag.
Step 2: Each row is pushed into a Python deque configured as a ring buffer of length 60. The deque has O(1) push — no copying. Once it's full, the oldest row drops off automatically.
Step 3: We compute the feature vector directly from the buffer array using NumPy — the same rolling stats, lags, deltas, and FFT energy as training, but without pandas overhead.
Step 4: The feature vector is passed through the saved scaler and model. For the autoencoders, this is a forward pass of a small PyTorch model on CPU — fast enough on a Pi 4.
Step 5: The score is compared against the effective threshold. In warmup mode, the first 300 scores are accumulated silently to calibrate the threshold; alerts are suppressed during this period.
Step 6: If the score exceeds the threshold, append_alert() writes a CSV row. The header is created automatically on first write.
The --tui flag activates a live rich terminal panel showing all this in real time.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go into the detailed charts, here are the four headline numbers from this study.
First: calibrated Z-score achieves perfect event-level F1 of 1.000 on SKAB — one true fault event, one predicted alert, zero fragmentation. This is purely due to the warmup calibration giving a tight threshold.
Second: LSTM-AE achieves a PR-AUC of 0.950 on the most complex NAB split, ec2_network. This is the ranking quality — it means the model almost perfectly separates normal from anomalous windows across all possible thresholds.
Third: LSTM-AE also achieves event-level F1 of 1.000 on that same split with zero false positive events — its confusion matrix shows exactly one predicted collective event that perfectly overlaps the true one.
Fourth: Z-score's best point-level F1 of 0.677 on SKAB, which is the best point score on that dataset — showing that the MAD-based formulation produces well-calibrated scores even at the point level.
The next three slides break all of these down across all models and datasets.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Point-level F1 measures per-timestamp precision and recall at the calibrated threshold.
On SKAB, Z-score leads at 0.677, with LSTM-AE close behind at 0.667. The models are relatively similar here because the fault is a large, sustained deviation that all models pick up.
On NAB rds_cpu, LSTM-AE and CNN-AE both score 0.571 — significantly ahead of the baselines at 0.446 and 0.437. The autoencoders' temporal modelling helps localise the anomaly more precisely.
NAB ec2_cpu is the hardest — all models score below 0.35. The daily CPU periodicity combined with a level shift makes this genuinely difficult. Even 0.302 for the autoencoders represents reasonable performance given the challenge.
NAB ec2_network shows the widest divergence: LSTM-AE reaches 0.613 while CNN-AE collapses to 0.173. The anomaly here is a sustained network traffic spike spanning many timesteps — the LSTM captures the long-range pattern, while the CNN's local motif focus misses it.
Important: these are point F1 scores. As we'll see next, point F1 alone can be deeply misleading for operational purposes.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reveals the most important finding of the project — and why we need event-level evaluation.
Look at ec2_network. Isolation Forest had a point-level F1 of 0.398 — not bad. But its event-level F1 collapses to 0.047. What happened? It generated 91 short alert bursts scattered across the test series, most not overlapping the true anomaly window. Event precision is essentially zero.
From an operational standpoint, this model is useless — an on-call engineer would receive nearly 100 alerts and have to sift through them to find the one real event.
Contrast this with LSTM-AE at 1.000: it produced exactly one predicted collective event, which perfectly overlapped the true event. Zero false positive events, zero alert fatigue.
The ec2_cpu result is equally striking: Isolation Forest collapses to 0.237 while Z-score, LSTM-AE, and CNN-AE all hit 1.000. The model's score oscillates around the threshold throughout the anomaly period, fragmenting what should be one alert into dozens.
On SKAB, LSTM-AE underperforms at 0.571 despite its high PR-AUC — it splits the fault into multiple segments. Z-score with warmup calibration produces exactly one tight alert.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PR-AUC measures ranking quality independently of the threshold — it integrates precision over all possible recall levels. A score of 0.950 means the model almost perfectly separates anomalous from normal windows regardless of where you draw the threshold line.
The LSTM-AE's 0.950 on ec2_network is the strongest single result in the study. STL decomposition of that series confirms weak seasonality and a very large residual spike at the anomaly — precisely the signature an LSTM autoencoder is designed to detect as a sequence-level reconstruction failure.
The Z-score's 0.762 on ec2_cpu is surprisingly strong — it suggests the MAD-based formulation produces well-calibrated scores even when the deployed threshold isn't optimal. The rolling detrend we apply for NAB appears to be doing significant work here by removing the slow level shift before scoring.
Isolation Forest consistently underperforms on PR-AUC despite sometimes acceptable point F1 — this suggests its score distribution doesn't cleanly separate normal from anomalous windows, which is consistent with the fragmentation we observe at the event level.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summary table makes the main conclusion clear: no single model wins across all regimes.
Z-score wins SKAB on both point and event F1, and ties for the top event score on NAB ec2_cpu. Its strong PR-AUC on ec2_cpu (0.762) shows it ranks anomalies well even when its deployed threshold isn't perfectly calibrated.
LSTM-AE wins the point F1 on three of four NAB splits and takes the PR-AUC on three. It ties for event F1 on three splits and is the sole winner on ec2_network.
The event F1 column tells the key story: 1.000 across the board except for Isolation Forest on ec2_cpu (0.237) and ec2_network (0.047). All other models — even Z-score — achieve perfect operational alerting on NAB. The fragmentation issue is specific to Isolation Forest's scoring mechanism, not to the dataset or the threshold calibration approach.
The practical recommendation from these results: use warmup-calibrated Z-score for clean industrial telemetry with stable baselines. Use LSTM-AE for noisy cloud telemetry with complex seasonal patterns. Avoid Isolation Forest for sustained anomaly detection without score smoothing.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SKAB is our clearest evaluation case because the fault boundary is well defined.
The Pressure sensor (and others) has a stable baseline visible in the STL decomposition — trend and residual stay near zero, then sharply deviate at the valve fault. This stability makes warmup calibration work almost perfectly.
Z-score at the 10th percentile warmup threshold produces exactly one predicted event that perfectly overlaps the true fault. Event F1 = 1.000. The threshold search module confirmed this as optimal: the Z-score's warmup distribution is tight, so even a 10th percentile threshold sits well below the fault-period scores.
LSTM-AE is the better ranker (PR-AUC 0.695) but its deployed 80th percentile warmup threshold leads to a fragmented alert pattern during the fault — the reconstruction error oscillates rather than staying consistently above threshold. Event F1 drops to 0.571.
Isolation Forest produces 91 predicted events across the test series — its score oscillates around the 50th percentile warmup threshold throughout the fault region. Event F1 = 0.681 despite 91 events, because all of them overlap the single true event window.
The lesson: for clean industrial data with a stable pre-fault period, warmup calibration at a low percentile + robust Z-score is the most reliable operational choice.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NAB CloudWatch series, each progressively harder.
rds_cpu is the most tractable — all four models detect the event at event level, and autoencoders localise it more precisely at the point level. This is a clear CPU spike on an RDS database; the temporal signature is clean enough for all methods.
ec2_cpu has daily periodicity at 288 samples per cycle (5-minute resolution, 24 hours). This interacts badly with models that don't account for seasonality. Rolling detrend with window=144 removes approximately half a day of slow drift and materially improves point-level scores. Z-score achieves the best PR-AUC at 0.762 — surprisingly strong. LSTM-AE leads point F1 at 0.302. Isolation Forest collapses to event F1 = 0.237.
ec2_network is LSTM-AE's showcase result. STL decomposition shows weak seasonality — most of the variance is in the residual — with one enormous spike at the anomaly. LSTM-AE captures this as a catastrophic reconstruction failure: it has never seen a spike this large during training, so the MSE score is off the charts. CNN-AE misses it (0.173 point F1) because the local motif focus misses the sustained nature of the spike.
The ec2_network/Isolation Forest comparison is the clearest demonstration of why event-level evaluation matters: IForest point F1 = 0.398 (looks reasonable), event F1 = 0.047 (operationally useless).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lessons that generalise beyond this project.
Finding 1 — context matters more than model family. A simple statistical method (Z-score with MAD) with good threshold calibration beats deep learning on industrial telemetry. Deep learning wins when the data is complex and the temporal structure is genuinely long-range.
Finding 2 — report event-level metrics, not just point metrics. Any time you're deploying an anomaly detector to operations, event F1 is what tells you whether engineers can actually use the output. A model that halves your alert volume while keeping the same recall is twice as valuable operationally.
Finding 3 — warmup calibration generalises. The approach — score a normal prefix in production, set the threshold from that distribution — can be applied to any scoring method. It adapts to covariate shift between training and deployment without requiring labeled data.
Finding 4 — preprocessing is load-bearing. Removing the trend from NAB data before scoring, using an anomaly-aware train split, and locking the feature schema across environments are each necessary for the system to work correctly. This is often underappreciated.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honest about what this project doesn't do.
The most significant missing piece is Pi performance benchmarking. We validated that inference runs correctly on the Pi, but we haven't measured per-window latency or peak memory usage for each model. The LSTM-AE on CPU is likely the bottleneck — this needs measurement before any real-time deployment.
Alert delivery is currently CSV-only. For an actual operations team, you'd want webhook integration, a time-series database, and a visualization layer like Grafana. This is a significant engineering effort but not a research contribution.
We evaluated four dataset splits. While SKAB and NAB are established benchmarks, broader evaluation across more fault scenarios and sensor types would strengthen the generalization claims.
The CNN-AE uses same-padding throughout — no spatial downsampling — which means the bottleneck is only in the channel dimension. Adding strided or pooled encoding might improve the representation for long-duration anomalies.
The most tractable future directions: score smoothing (a short median filter over the last K scores) would likely fix most of Isolation Forest's fragmentation without retraining. And connecting to a live sensor rather than replaying test data would be the final step toward a real edge deployment.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We implemented and validated a complete end-to-end IoT telemetry anomaly detection system. Offline training on a PC, artifact transfer via scp, streaming inference on a Raspberry Pi over a Tailscale private network — the full path is validated and operational.
Four key conclusions:
One: the deployment works. FastAPI + Tailscale is a practical, zero-configuration private network solution for edge ML deployment.
Two: for clean industrial telemetry with a stable pre-fault baseline, warmup-calibrated robust Z-score is the best operational choice. It produces a single coherent alert, is interpretable, and runs in microseconds on the Pi.
Three: for noisy cloud telemetry, LSTM-AE is the strongest detector across all metrics. Its sequential reconstruction error naturally captures the sustained deviation signatures that characterise cloud infrastructure anomalies.
Four: multi-metric evaluation is not optional. Point F1 and event F1 together reveal failure modes that neither metric alone would expose. In operational anomaly detection, coherent alerting is as important as statistical accuracy.
We're happy to take questions. The codebase is available at github.com/orestisuchiha/telemetry-ad.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github.com/orestisuchiha/telemetry-ad"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342"/>
        </a:solidFill>
        <a:effectLst/>
      </p:bgPr>
    </p:bg>
    <p:spTree>
      <p:nvGrpSpPr>
        <p:cNvPr id="1" name=""/>
        <p:cNvGrpSpPr/>
        <p:nvPr/>
      </p:nvGrpSpPr>
      <p:grpSpPr>
        <a:xfrm>
          <a:off x="0" y="0"/>
          <a:ext cx="0" cy="0"/>
          <a:chOff x="0" y="0"/>
          <a:chExt cx="0" cy="0"/>
        </a:xfrm>
      </p:grpSpPr>
      <p:pic>
        <p:nvPicPr>
          <p:cNvPr id="2" name="Image 0" descr="/home/claude/pptx_extracted/ppt/media/image1.png"/>
          <p:cNvPicPr>
            <a:picLocks noChangeAspect="1"/>
          </p:cNvPicPr>
          <p:nvPr/>
        </p:nvPicPr>
        <p:blipFill>
          <a:blip r:embed="rId3"/>
          <a:srcRect/>
          <a:stretch/>
        </p:blipFill>
        <p:spPr>
          <a:xfrm>
            <a:off x="3657600" y="0"/>
            <a:ext cx="5486400" cy="5143500"/>
          </a:xfrm>
          <a:prstGeom prst="rect">
            <a:avLst/>
          </a:prstGeom>
        </p:spPr>
      </p:pic>
      <p:sp>
        <p:nvSpPr>
          <p:cNvPr id="3" name="Shape 0"/>
          <p:cNvSpPr/>
          <p:nvPr/>
        </p:nvSpPr>
        <p:spPr>
          <a:xfrm>
            <a:off x="3657600" y="0"/>
            <a:ext cx="5486400" cy="5143500"/>
          </a:xfrm>
          <a:prstGeom prst="rect">
            <a:avLst/>
          </a:prstGeom>
          <a:solidFill>
            <a:srgbClr val="0A2342">
              <a:alpha val="45000"/>
            </a:srgbClr>
          </a:solidFill>
          <a:ln w="12700">
            <a:solidFill>
              <a:srgbClr val="0A2342">
                <a:alpha val="45000"/>
              </a:srgbClr>
            </a:solidFill>
            <a:prstDash val="solid"/>
          </a:ln>
        </p:spPr>
        <p:txBody>
          <a:bodyPr/>
          <a:lstStyle/>
          <a:p>
            <a:endParaRPr lang="LID4096"/>
          </a:p>
        </p:txBody>
      </p:sp>
      <p:sp>
        <p:nvSpPr>
          <p:cNvPr id="4" name="Shape 1"/>
          <p:cNvSpPr/>
          <p:nvPr/>
        </p:nvSpPr>
        <p:spPr>
          <a:xfrm>
            <a:off x="0" y="0"/>
            <a:ext cx="4206240" cy="5143500"/>
          </a:xfrm>
          <a:prstGeom prst="rect">
            <a:avLst/>
          </a:prstGeom>
          <a:solidFill>
            <a:srgbClr val="0A2342"/>
          </a:solidFill>
          <a:ln w="12700">
            <a:solidFill>
              <a:srgbClr val="0A2342"/>
            </a:solidFill>
            <a:prstDash val="solid"/>
          </a:ln>
        </p:spPr>
        <p:txBody>
          <a:bodyPr/>
          <a:lstStyle/>
          <a:p>
            <a:endParaRPr lang="LID4096"/>
          </a:p>
        </p:txBody>
      </p:sp>
      <p:sp>
        <p:nvSpPr>
          <p:cNvPr id="5" name="Shape 2"/>
          <p:cNvSpPr/>
          <p:nvPr/>
        </p:nvSpPr>
        <p:spPr>
          <a:xfrm>
            <a:off x="420624" y="768096"/>
            <a:ext cx="73152" cy="2011680"/>
          </a:xfrm>
          <a:prstGeom prst="rect">
            <a:avLst/>
          </a:prstGeom>
          <a:solidFill>
            <a:srgbClr val="29ABE2"/>
          </a:solidFill>
          <a:ln w="12700">
            <a:solidFill>
              <a:srgbClr val="29ABE2"/>
            </a:solidFill>
            <a:prstDash val="solid"/>
          </a:ln>
        </p:spPr>
        <p:txBody>
          <a:bodyPr/>
          <a:lstStyle/>
          <a:p>
            <a:endParaRPr lang="LID4096"/>
          </a:p>
        </p:txBody>
      </p:sp>
      <p:sp>
        <p:nvSpPr>
          <p:cNvPr id="6" name="Text 3"/>
          <p:cNvSpPr/>
          <p:nvPr/>
        </p:nvSpPr>
        <p:spPr>
          <a:xfrm>
            <a:off x="587576" y="676656"/>
            <a:ext cx="3383280" cy="2194560"/>
          </a:xfrm>
          <a:prstGeom prst="rect">
            <a:avLst/>
          </a:prstGeom>
          <a:noFill/>
          <a:ln/>
        </p:spPr>
        <p:txBody>
          <a:bodyPr wrap="square" rtlCol="0" anchor="ctr"/>
          <a:lstStyle/>
          <a:p>
            <a:pPr marL="0" indent="0">
              <a:lnSpc>
                <a:spcPct val="110000"/>
              </a:lnSpc>
              <a:buNone/>
            </a:pPr>
            <a:r>
              <a:rPr lang="en-US" sz="3800" b="1" dirty="0">
                <a:solidFill>
                  <a:srgbClr val="FFFFFF"/>
                </a:solidFill>
                <a:latin typeface="Palatino Linotype" pitchFamily="34" charset="0"/>
                <a:ea typeface="Palatino Linotype" pitchFamily="34" charset="-122"/>
                <a:cs typeface="Palatino Linotype" pitchFamily="34" charset="-120"/>
              </a:rPr>
              <a:t>IoT Telemetry</a:t>
            </a:r>
            <a:endParaRPr lang="en-US" sz="3800" dirty="0"/>
          </a:p>
          <a:p>
            <a:pPr marL="0" indent="0">
              <a:lnSpc>
                <a:spcPct val="110000"/>
              </a:lnSpc>
              <a:buNone/>
            </a:pPr>
            <a:r>
              <a:rPr lang="en-US" sz="3800" b="1" dirty="0">
                <a:solidFill>
                  <a:srgbClr val="FFFFFF"/>
                </a:solidFill>
                <a:latin typeface="Palatino Linotype" pitchFamily="34" charset="0"/>
                <a:ea typeface="Palatino Linotype" pitchFamily="34" charset="-122"/>
                <a:cs typeface="Palatino Linotype" pitchFamily="34" charset="-120"/>
              </a:rPr>
              <a:t>Anomaly</a:t>
            </a:r>
            <a:endParaRPr lang="en-US" sz="3800" dirty="0"/>
          </a:p>
          <a:p>
            <a:pPr marL="0" indent="0">
              <a:lnSpc>
                <a:spcPct val="110000"/>
              </a:lnSpc>
              <a:buNone/>
            </a:pPr>
            <a:r>
              <a:rPr lang="en-US" sz="3800" b="1" dirty="0">
                <a:solidFill>
                  <a:srgbClr val="FFFFFF"/>
                </a:solidFill>
                <a:latin typeface="Palatino Linotype" pitchFamily="34" charset="0"/>
                <a:ea typeface="Palatino Linotype" pitchFamily="34" charset="-122"/>
                <a:cs typeface="Palatino Linotype" pitchFamily="34" charset="-120"/>
              </a:rPr>
              <a:t>Detection</a:t>
            </a:r>
            <a:endParaRPr lang="en-US" sz="3800" dirty="0"/>
          </a:p>
        </p:txBody>
      </p:sp>
      <p:sp>
        <p:nvSpPr>
          <p:cNvPr id="7" name="Text 4"/>
          <p:cNvSpPr/>
          <p:nvPr/>
        </p:nvSpPr>
        <p:spPr>
          <a:xfrm>
            <a:off x="587576" y="2861777"/>
            <a:ext cx="3383280" cy="731520"/>
          </a:xfrm>
          <a:prstGeom prst="rect">
            <a:avLst/>
          </a:prstGeom>
          <a:noFill/>
          <a:ln/>
        </p:spPr>
        <p:txBody>
          <a:bodyPr wrap="square" rtlCol="0" anchor="ctr"/>
          <a:lstStyle/>
          <a:p>
            <a:pPr marL="0" indent="0">
              <a:lnSpc>
                <a:spcPct val="130000"/>
              </a:lnSpc>
              <a:buNone/>
            </a:pPr>
            <a:r>
              <a:rPr lang="en-US" sz="1300" dirty="0">
                <a:solidFill>
                  <a:srgbClr val="A0C8E8"/>
                </a:solidFill>
                <a:latin typeface="Garamond" pitchFamily="34" charset="0"/>
                <a:ea typeface="Garamond" pitchFamily="34" charset="-122"/>
                <a:cs typeface="Garamond" pitchFamily="34" charset="-120"/>
              </a:rPr>
              <a:t>End-to-End Streaming Anomaly Detection</a:t>
            </a:r>
            <a:endParaRPr lang="en-US" sz="1300" dirty="0"/>
          </a:p>
          <a:p>
            <a:pPr marL="0" indent="0">
              <a:lnSpc>
                <a:spcPct val="130000"/>
              </a:lnSpc>
              <a:buNone/>
            </a:pPr>
            <a:r>
              <a:rPr lang="en-US" sz="1300" dirty="0">
                <a:solidFill>
                  <a:srgbClr val="A0C8E8"/>
                </a:solidFill>
                <a:latin typeface="Garamond" pitchFamily="34" charset="0"/>
                <a:ea typeface="Garamond" pitchFamily="34" charset="-122"/>
                <a:cs typeface="Garamond" pitchFamily="34" charset="-120"/>
              </a:rPr>
              <a:t>with PC-to-Raspberry Pi Deployment</a:t>
            </a:r>
            <a:endParaRPr lang="en-US" sz="1300" dirty="0"/>
          </a:p>
        </p:txBody>
      </p:sp>
      <p:sp>
        <p:nvSpPr>
          <p:cNvPr id="8" name="Text 5"/>
          <p:cNvSpPr/>
          <p:nvPr/>
        </p:nvSpPr>
        <p:spPr>
          <a:xfrm>
            <a:off x="587576" y="3740781"/>
            <a:ext cx="3383280" cy="365760"/>
          </a:xfrm>
          <a:prstGeom prst="rect">
            <a:avLst/>
          </a:prstGeom>
          <a:noFill/>
          <a:ln/>
        </p:spPr>
        <p:txBody>
          <a:bodyPr wrap="square" rtlCol="0" anchor="ctr"/>
          <a:lstStyle/>
          <a:p>
            <a:pPr marL="0" indent="0">
              <a:buNone/>
            </a:pPr>
            <a:r>
              <a:rPr lang="en-US" sz="1300" dirty="0">
                <a:solidFill>
                  <a:srgbClr val="A0C8E8"/>
                </a:solidFill>
                <a:latin typeface="Garamond" pitchFamily="34" charset="0"/>
              </a:rPr>
              <a:t>Orestis Kalogirou  ·  Konstantinos Larkos</a:t>
            </a:r>
          </a:p>
        </p:txBody>
      </p:sp>
      <p:sp>
        <p:nvSpPr>
          <p:cNvPr id="9" name="Text 5">
            <a:extLst>
              <a:ext uri="{FF2B5EF4-FFF2-40B4-BE49-F238E27FC236}">
                <a16:creationId xmlns:a16="http://schemas.microsoft.com/office/drawing/2014/main" id="{F4DA613D-129D-0A1D-DE17-C1B41DE5308C}"/>
              </a:ext>
            </a:extLst>
          </p:cNvPr>
          <p:cNvSpPr/>
          <p:nvPr/>
        </p:nvSpPr>
        <p:spPr>
          <a:xfrm>
            <a:off x="587575" y="4283964"/>
            <a:ext cx="3577369" cy="365760"/>
          </a:xfrm>
          <a:prstGeom prst="rect">
            <a:avLst/>
          </a:prstGeom>
          <a:noFill/>
          <a:ln/>
        </p:spPr>
        <p:txBody>
          <a:bodyPr wrap="square" rtlCol="0" anchor="ctr"/>
          <a:lstStyle/>
          <a:p>
            <a:r>
              <a:rPr lang="en-US" sz="1300" dirty="0" err="1">
                <a:solidFill>
                  <a:srgbClr val="A0C8E8"/>
                </a:solidFill>
                <a:latin typeface="Garamond" pitchFamily="34" charset="0"/>
              </a:rPr>
              <a:t>Github</a:t>
            </a:r>
            <a:r>
              <a:rPr lang="en-US" sz="1400" dirty="0">
                <a:solidFill>
                  <a:srgbClr val="7EB8D8"/>
                </a:solidFill>
                <a:latin typeface="Garamond" pitchFamily="34" charset="0"/>
              </a:rPr>
              <a:t>: </a:t>
            </a:r>
            <a:r>
              <a:rPr lang="en-US" sz="1300" dirty="0">
                <a:solidFill>
                  <a:schemeClr val="accent1"/>
                </a:solidFill>
                <a:latin typeface="Garamond" pitchFamily="34" charset="0"/>
                <a:hlinkClick r:id="rId4">
                  <a:extLst>
                    <a:ext uri="{A12FA001-AC4F-418D-AE19-62706E023703}">
                      <ahyp:hlinkClr xmlns:ahyp="http://schemas.microsoft.com/office/drawing/2018/hyperlinkcolor" val="tx"/>
                    </a:ext>
                  </a:extLst>
                </a:hlinkClick>
              </a:rPr>
              <a:t>https://github.com/orestisuchiha/telemetry-ad</a:t>
            </a:r>
            <a:endParaRPr lang="en-CY" sz="1300" dirty="0">
              <a:solidFill>
                <a:schemeClr val="accent1"/>
              </a:solidFill>
              <a:latin typeface="Garamond"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28600"/>
            <a:ext cx="64008" cy="530352"/>
          </a:xfrm>
          <a:prstGeom prst="rect">
            <a:avLst/>
          </a:prstGeom>
          <a:solidFill>
            <a:srgbClr val="29ABE2"/>
          </a:solidFill>
          <a:ln w="12700">
            <a:solidFill>
              <a:srgbClr val="29ABE2"/>
            </a:solidFill>
            <a:prstDash val="solid"/>
          </a:ln>
        </p:spPr>
        <p:txBody>
          <a:bodyPr/>
          <a:lstStyle/>
          <a:p>
            <a:endParaRPr lang="LID4096"/>
          </a:p>
        </p:txBody>
      </p:sp>
      <p:sp>
        <p:nvSpPr>
          <p:cNvPr id="3" name="Text 1"/>
          <p:cNvSpPr/>
          <p:nvPr/>
        </p:nvSpPr>
        <p:spPr>
          <a:xfrm>
            <a:off x="566928" y="173736"/>
            <a:ext cx="8321040" cy="548640"/>
          </a:xfrm>
          <a:prstGeom prst="rect">
            <a:avLst/>
          </a:prstGeom>
          <a:noFill/>
          <a:ln/>
        </p:spPr>
        <p:txBody>
          <a:bodyPr wrap="square" lIns="0" tIns="0" rIns="0" bIns="0" rtlCol="0" anchor="ctr"/>
          <a:lstStyle/>
          <a:p>
            <a:pPr marL="0" indent="0">
              <a:buNone/>
            </a:pPr>
            <a:r>
              <a:rPr lang="en-US" sz="2600" b="1" dirty="0">
                <a:solidFill>
                  <a:srgbClr val="0A2342"/>
                </a:solidFill>
                <a:latin typeface="Palatino Linotype" pitchFamily="34" charset="0"/>
                <a:ea typeface="Palatino Linotype" pitchFamily="34" charset="-122"/>
                <a:cs typeface="Palatino Linotype" pitchFamily="34" charset="-120"/>
              </a:rPr>
              <a:t>Agenda</a:t>
            </a:r>
            <a:endParaRPr lang="en-US" sz="2600" dirty="0"/>
          </a:p>
        </p:txBody>
      </p:sp>
      <p:sp>
        <p:nvSpPr>
          <p:cNvPr id="4" name="Text 2"/>
          <p:cNvSpPr/>
          <p:nvPr/>
        </p:nvSpPr>
        <p:spPr>
          <a:xfrm>
            <a:off x="566928" y="731520"/>
            <a:ext cx="8046720" cy="274320"/>
          </a:xfrm>
          <a:prstGeom prst="rect">
            <a:avLst/>
          </a:prstGeom>
          <a:noFill/>
          <a:ln/>
        </p:spPr>
        <p:txBody>
          <a:bodyPr wrap="square" lIns="0" tIns="0" rIns="0" bIns="0" rtlCol="0" anchor="ctr"/>
          <a:lstStyle/>
          <a:p>
            <a:pPr marL="0" indent="0">
              <a:buNone/>
            </a:pPr>
            <a:endParaRPr lang="en-US" sz="1250" dirty="0"/>
          </a:p>
        </p:txBody>
      </p:sp>
      <p:sp>
        <p:nvSpPr>
          <p:cNvPr id="5" name="Shape 3"/>
          <p:cNvSpPr/>
          <p:nvPr/>
        </p:nvSpPr>
        <p:spPr>
          <a:xfrm>
            <a:off x="411480" y="1188720"/>
            <a:ext cx="4023360" cy="1097280"/>
          </a:xfrm>
          <a:prstGeom prst="rect">
            <a:avLst/>
          </a:prstGeom>
          <a:solidFill>
            <a:srgbClr val="EEF4FB"/>
          </a:solidFill>
          <a:ln w="12700">
            <a:solidFill>
              <a:srgbClr val="DCE8F5"/>
            </a:solidFill>
            <a:prstDash val="solid"/>
          </a:ln>
          <a:effectLst>
            <a:outerShdw blurRad="101600" dist="25400" dir="8100000" algn="bl" rotWithShape="0">
              <a:srgbClr val="000000">
                <a:alpha val="9000"/>
              </a:srgbClr>
            </a:outerShdw>
          </a:effectLst>
        </p:spPr>
        <p:txBody>
          <a:bodyPr/>
          <a:lstStyle/>
          <a:p>
            <a:endParaRPr lang="LID4096"/>
          </a:p>
        </p:txBody>
      </p:sp>
      <p:sp>
        <p:nvSpPr>
          <p:cNvPr id="6" name="Shape 4"/>
          <p:cNvSpPr/>
          <p:nvPr/>
        </p:nvSpPr>
        <p:spPr>
          <a:xfrm>
            <a:off x="411480" y="1188720"/>
            <a:ext cx="502920" cy="1097280"/>
          </a:xfrm>
          <a:prstGeom prst="rect">
            <a:avLst/>
          </a:prstGeom>
          <a:solidFill>
            <a:srgbClr val="1A6FC4"/>
          </a:solidFill>
          <a:ln w="12700">
            <a:solidFill>
              <a:srgbClr val="1A6FC4"/>
            </a:solidFill>
            <a:prstDash val="solid"/>
          </a:ln>
        </p:spPr>
        <p:txBody>
          <a:bodyPr/>
          <a:lstStyle/>
          <a:p>
            <a:endParaRPr lang="LID4096"/>
          </a:p>
        </p:txBody>
      </p:sp>
      <p:sp>
        <p:nvSpPr>
          <p:cNvPr id="7" name="Text 5"/>
          <p:cNvSpPr/>
          <p:nvPr/>
        </p:nvSpPr>
        <p:spPr>
          <a:xfrm>
            <a:off x="420624" y="1508760"/>
            <a:ext cx="484632"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Palatino Linotype" pitchFamily="34" charset="0"/>
                <a:ea typeface="Palatino Linotype" pitchFamily="34" charset="-122"/>
                <a:cs typeface="Palatino Linotype" pitchFamily="34" charset="-120"/>
              </a:rPr>
              <a:t>01</a:t>
            </a:r>
            <a:endParaRPr lang="en-US" sz="1800" dirty="0"/>
          </a:p>
        </p:txBody>
      </p:sp>
      <p:sp>
        <p:nvSpPr>
          <p:cNvPr id="8" name="Text 6"/>
          <p:cNvSpPr/>
          <p:nvPr/>
        </p:nvSpPr>
        <p:spPr>
          <a:xfrm>
            <a:off x="1005840" y="1280160"/>
            <a:ext cx="3337560" cy="347472"/>
          </a:xfrm>
          <a:prstGeom prst="rect">
            <a:avLst/>
          </a:prstGeom>
          <a:noFill/>
          <a:ln/>
        </p:spPr>
        <p:txBody>
          <a:bodyPr wrap="square" lIns="0" tIns="0" rIns="0" bIns="0" rtlCol="0" anchor="ctr"/>
          <a:lstStyle/>
          <a:p>
            <a:pPr marL="0" indent="0">
              <a:buNone/>
            </a:pPr>
            <a:r>
              <a:rPr lang="en-US" sz="1400" b="1" dirty="0">
                <a:solidFill>
                  <a:srgbClr val="0A2342"/>
                </a:solidFill>
                <a:latin typeface="Palatino Linotype" pitchFamily="34" charset="0"/>
                <a:ea typeface="Palatino Linotype" pitchFamily="34" charset="-122"/>
                <a:cs typeface="Palatino Linotype" pitchFamily="34" charset="-120"/>
              </a:rPr>
              <a:t>Problem &amp; Datasets</a:t>
            </a:r>
            <a:endParaRPr lang="en-US" sz="1400" dirty="0"/>
          </a:p>
        </p:txBody>
      </p:sp>
      <p:sp>
        <p:nvSpPr>
          <p:cNvPr id="9" name="Text 7"/>
          <p:cNvSpPr/>
          <p:nvPr/>
        </p:nvSpPr>
        <p:spPr>
          <a:xfrm>
            <a:off x="1005840" y="1645920"/>
            <a:ext cx="3337560" cy="548640"/>
          </a:xfrm>
          <a:prstGeom prst="rect">
            <a:avLst/>
          </a:prstGeom>
          <a:noFill/>
          <a:ln/>
        </p:spPr>
        <p:txBody>
          <a:bodyPr wrap="square" lIns="0" tIns="0" rIns="0" bIns="0" rtlCol="0" anchor="ctr"/>
          <a:lstStyle/>
          <a:p>
            <a:pPr marL="0" indent="0">
              <a:buNone/>
            </a:pPr>
            <a:r>
              <a:rPr lang="en-US" sz="1400" dirty="0">
                <a:solidFill>
                  <a:srgbClr val="64748B"/>
                </a:solidFill>
                <a:latin typeface="Garamond" pitchFamily="34" charset="0"/>
                <a:ea typeface="Garamond" pitchFamily="34" charset="-122"/>
                <a:cs typeface="Garamond" pitchFamily="34" charset="-120"/>
              </a:rPr>
              <a:t>Telemetry anomaly detection challenge, SKAB &amp; NAB benchmarks</a:t>
            </a:r>
            <a:endParaRPr lang="en-US" sz="1400" dirty="0"/>
          </a:p>
        </p:txBody>
      </p:sp>
      <p:sp>
        <p:nvSpPr>
          <p:cNvPr id="10" name="Shape 8"/>
          <p:cNvSpPr/>
          <p:nvPr/>
        </p:nvSpPr>
        <p:spPr>
          <a:xfrm>
            <a:off x="4709160" y="1188720"/>
            <a:ext cx="4023360" cy="1097280"/>
          </a:xfrm>
          <a:prstGeom prst="rect">
            <a:avLst/>
          </a:prstGeom>
          <a:solidFill>
            <a:srgbClr val="EEF4FB"/>
          </a:solidFill>
          <a:ln w="12700">
            <a:solidFill>
              <a:srgbClr val="DCE8F5"/>
            </a:solidFill>
            <a:prstDash val="solid"/>
          </a:ln>
          <a:effectLst>
            <a:outerShdw blurRad="101600" dist="25400" dir="8100000" algn="bl" rotWithShape="0">
              <a:srgbClr val="000000">
                <a:alpha val="9000"/>
              </a:srgbClr>
            </a:outerShdw>
          </a:effectLst>
        </p:spPr>
        <p:txBody>
          <a:bodyPr/>
          <a:lstStyle/>
          <a:p>
            <a:endParaRPr lang="LID4096"/>
          </a:p>
        </p:txBody>
      </p:sp>
      <p:sp>
        <p:nvSpPr>
          <p:cNvPr id="11" name="Shape 9"/>
          <p:cNvSpPr/>
          <p:nvPr/>
        </p:nvSpPr>
        <p:spPr>
          <a:xfrm>
            <a:off x="4709160" y="1188720"/>
            <a:ext cx="502920" cy="1097280"/>
          </a:xfrm>
          <a:prstGeom prst="rect">
            <a:avLst/>
          </a:prstGeom>
          <a:solidFill>
            <a:srgbClr val="1A6FC4"/>
          </a:solidFill>
          <a:ln w="12700">
            <a:solidFill>
              <a:srgbClr val="1A6FC4"/>
            </a:solidFill>
            <a:prstDash val="solid"/>
          </a:ln>
        </p:spPr>
        <p:txBody>
          <a:bodyPr/>
          <a:lstStyle/>
          <a:p>
            <a:endParaRPr lang="LID4096"/>
          </a:p>
        </p:txBody>
      </p:sp>
      <p:sp>
        <p:nvSpPr>
          <p:cNvPr id="12" name="Text 10"/>
          <p:cNvSpPr/>
          <p:nvPr/>
        </p:nvSpPr>
        <p:spPr>
          <a:xfrm>
            <a:off x="4718304" y="1508760"/>
            <a:ext cx="484632"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Palatino Linotype" pitchFamily="34" charset="0"/>
                <a:ea typeface="Palatino Linotype" pitchFamily="34" charset="-122"/>
                <a:cs typeface="Palatino Linotype" pitchFamily="34" charset="-120"/>
              </a:rPr>
              <a:t>02</a:t>
            </a:r>
            <a:endParaRPr lang="en-US" sz="1800" dirty="0"/>
          </a:p>
        </p:txBody>
      </p:sp>
      <p:sp>
        <p:nvSpPr>
          <p:cNvPr id="13" name="Text 11"/>
          <p:cNvSpPr/>
          <p:nvPr/>
        </p:nvSpPr>
        <p:spPr>
          <a:xfrm>
            <a:off x="5303520" y="1280160"/>
            <a:ext cx="3337560" cy="347472"/>
          </a:xfrm>
          <a:prstGeom prst="rect">
            <a:avLst/>
          </a:prstGeom>
          <a:noFill/>
          <a:ln/>
        </p:spPr>
        <p:txBody>
          <a:bodyPr wrap="square" lIns="0" tIns="0" rIns="0" bIns="0" rtlCol="0" anchor="ctr"/>
          <a:lstStyle/>
          <a:p>
            <a:pPr marL="0" indent="0">
              <a:buNone/>
            </a:pPr>
            <a:r>
              <a:rPr lang="en-US" sz="1400" b="1" dirty="0">
                <a:solidFill>
                  <a:srgbClr val="0A2342"/>
                </a:solidFill>
                <a:latin typeface="Palatino Linotype" pitchFamily="34" charset="0"/>
                <a:ea typeface="Palatino Linotype" pitchFamily="34" charset="-122"/>
                <a:cs typeface="Palatino Linotype" pitchFamily="34" charset="-120"/>
              </a:rPr>
              <a:t>System Architecture</a:t>
            </a:r>
            <a:endParaRPr lang="en-US" sz="1400" dirty="0"/>
          </a:p>
        </p:txBody>
      </p:sp>
      <p:sp>
        <p:nvSpPr>
          <p:cNvPr id="14" name="Text 12"/>
          <p:cNvSpPr/>
          <p:nvPr/>
        </p:nvSpPr>
        <p:spPr>
          <a:xfrm>
            <a:off x="5303520" y="1645920"/>
            <a:ext cx="3337560" cy="548640"/>
          </a:xfrm>
          <a:prstGeom prst="rect">
            <a:avLst/>
          </a:prstGeom>
          <a:noFill/>
          <a:ln/>
        </p:spPr>
        <p:txBody>
          <a:bodyPr wrap="square" lIns="0" tIns="0" rIns="0" bIns="0" rtlCol="0" anchor="ctr"/>
          <a:lstStyle/>
          <a:p>
            <a:pPr marL="0" indent="0">
              <a:buNone/>
            </a:pPr>
            <a:r>
              <a:rPr lang="en-US" sz="1400" dirty="0">
                <a:solidFill>
                  <a:srgbClr val="64748B"/>
                </a:solidFill>
                <a:latin typeface="Garamond" pitchFamily="34" charset="0"/>
                <a:ea typeface="Garamond" pitchFamily="34" charset="-122"/>
                <a:cs typeface="Garamond" pitchFamily="34" charset="-120"/>
              </a:rPr>
              <a:t>Two-stage offline/online pipeline and modular library design</a:t>
            </a:r>
            <a:endParaRPr lang="en-US" sz="1400" dirty="0"/>
          </a:p>
        </p:txBody>
      </p:sp>
      <p:sp>
        <p:nvSpPr>
          <p:cNvPr id="15" name="Shape 13"/>
          <p:cNvSpPr/>
          <p:nvPr/>
        </p:nvSpPr>
        <p:spPr>
          <a:xfrm>
            <a:off x="411480" y="2423160"/>
            <a:ext cx="4023360" cy="1097280"/>
          </a:xfrm>
          <a:prstGeom prst="rect">
            <a:avLst/>
          </a:prstGeom>
          <a:solidFill>
            <a:srgbClr val="EEF4FB"/>
          </a:solidFill>
          <a:ln w="12700">
            <a:solidFill>
              <a:srgbClr val="DCE8F5"/>
            </a:solidFill>
            <a:prstDash val="solid"/>
          </a:ln>
          <a:effectLst>
            <a:outerShdw blurRad="101600" dist="25400" dir="8100000" algn="bl" rotWithShape="0">
              <a:srgbClr val="000000">
                <a:alpha val="9000"/>
              </a:srgbClr>
            </a:outerShdw>
          </a:effectLst>
        </p:spPr>
        <p:txBody>
          <a:bodyPr/>
          <a:lstStyle/>
          <a:p>
            <a:endParaRPr lang="LID4096"/>
          </a:p>
        </p:txBody>
      </p:sp>
      <p:sp>
        <p:nvSpPr>
          <p:cNvPr id="16" name="Shape 14"/>
          <p:cNvSpPr/>
          <p:nvPr/>
        </p:nvSpPr>
        <p:spPr>
          <a:xfrm>
            <a:off x="411480" y="2423160"/>
            <a:ext cx="502920" cy="1097280"/>
          </a:xfrm>
          <a:prstGeom prst="rect">
            <a:avLst/>
          </a:prstGeom>
          <a:solidFill>
            <a:srgbClr val="1A6FC4"/>
          </a:solidFill>
          <a:ln w="12700">
            <a:solidFill>
              <a:srgbClr val="1A6FC4"/>
            </a:solidFill>
            <a:prstDash val="solid"/>
          </a:ln>
        </p:spPr>
        <p:txBody>
          <a:bodyPr/>
          <a:lstStyle/>
          <a:p>
            <a:endParaRPr lang="LID4096"/>
          </a:p>
        </p:txBody>
      </p:sp>
      <p:sp>
        <p:nvSpPr>
          <p:cNvPr id="17" name="Text 15"/>
          <p:cNvSpPr/>
          <p:nvPr/>
        </p:nvSpPr>
        <p:spPr>
          <a:xfrm>
            <a:off x="420624" y="2743200"/>
            <a:ext cx="484632"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Palatino Linotype" pitchFamily="34" charset="0"/>
                <a:ea typeface="Palatino Linotype" pitchFamily="34" charset="-122"/>
                <a:cs typeface="Palatino Linotype" pitchFamily="34" charset="-120"/>
              </a:rPr>
              <a:t>03</a:t>
            </a:r>
            <a:endParaRPr lang="en-US" sz="1800" dirty="0"/>
          </a:p>
        </p:txBody>
      </p:sp>
      <p:sp>
        <p:nvSpPr>
          <p:cNvPr id="18" name="Text 16"/>
          <p:cNvSpPr/>
          <p:nvPr/>
        </p:nvSpPr>
        <p:spPr>
          <a:xfrm>
            <a:off x="1005840" y="2514600"/>
            <a:ext cx="3337560" cy="347472"/>
          </a:xfrm>
          <a:prstGeom prst="rect">
            <a:avLst/>
          </a:prstGeom>
          <a:noFill/>
          <a:ln/>
        </p:spPr>
        <p:txBody>
          <a:bodyPr wrap="square" lIns="0" tIns="0" rIns="0" bIns="0" rtlCol="0" anchor="ctr"/>
          <a:lstStyle/>
          <a:p>
            <a:pPr marL="0" indent="0">
              <a:buNone/>
            </a:pPr>
            <a:r>
              <a:rPr lang="en-US" sz="1400" b="1" dirty="0">
                <a:solidFill>
                  <a:srgbClr val="0A2342"/>
                </a:solidFill>
                <a:latin typeface="Palatino Linotype" pitchFamily="34" charset="0"/>
                <a:ea typeface="Palatino Linotype" pitchFamily="34" charset="-122"/>
                <a:cs typeface="Palatino Linotype" pitchFamily="34" charset="-120"/>
              </a:rPr>
              <a:t>Anomaly Detectors</a:t>
            </a:r>
            <a:endParaRPr lang="en-US" sz="1400" dirty="0"/>
          </a:p>
        </p:txBody>
      </p:sp>
      <p:sp>
        <p:nvSpPr>
          <p:cNvPr id="19" name="Text 17"/>
          <p:cNvSpPr/>
          <p:nvPr/>
        </p:nvSpPr>
        <p:spPr>
          <a:xfrm>
            <a:off x="1005840" y="2880360"/>
            <a:ext cx="3337560" cy="548640"/>
          </a:xfrm>
          <a:prstGeom prst="rect">
            <a:avLst/>
          </a:prstGeom>
          <a:noFill/>
          <a:ln/>
        </p:spPr>
        <p:txBody>
          <a:bodyPr wrap="square" lIns="0" tIns="0" rIns="0" bIns="0" rtlCol="0" anchor="ctr"/>
          <a:lstStyle/>
          <a:p>
            <a:pPr marL="0" indent="0">
              <a:buNone/>
            </a:pPr>
            <a:r>
              <a:rPr lang="en-US" sz="1400" dirty="0">
                <a:solidFill>
                  <a:srgbClr val="64748B"/>
                </a:solidFill>
                <a:latin typeface="Garamond" pitchFamily="34" charset="0"/>
                <a:ea typeface="Garamond" pitchFamily="34" charset="-122"/>
                <a:cs typeface="Garamond" pitchFamily="34" charset="-120"/>
              </a:rPr>
              <a:t>Z-score, Isolation Forest, LSTM-AE, CNN-AE</a:t>
            </a:r>
            <a:endParaRPr lang="en-US" sz="1400" dirty="0"/>
          </a:p>
        </p:txBody>
      </p:sp>
      <p:sp>
        <p:nvSpPr>
          <p:cNvPr id="20" name="Shape 18"/>
          <p:cNvSpPr/>
          <p:nvPr/>
        </p:nvSpPr>
        <p:spPr>
          <a:xfrm>
            <a:off x="4709160" y="2423160"/>
            <a:ext cx="4023360" cy="1097280"/>
          </a:xfrm>
          <a:prstGeom prst="rect">
            <a:avLst/>
          </a:prstGeom>
          <a:solidFill>
            <a:srgbClr val="EEF4FB"/>
          </a:solidFill>
          <a:ln w="12700">
            <a:solidFill>
              <a:srgbClr val="DCE8F5"/>
            </a:solidFill>
            <a:prstDash val="solid"/>
          </a:ln>
          <a:effectLst>
            <a:outerShdw blurRad="101600" dist="25400" dir="8100000" algn="bl" rotWithShape="0">
              <a:srgbClr val="000000">
                <a:alpha val="9000"/>
              </a:srgbClr>
            </a:outerShdw>
          </a:effectLst>
        </p:spPr>
        <p:txBody>
          <a:bodyPr/>
          <a:lstStyle/>
          <a:p>
            <a:endParaRPr lang="LID4096"/>
          </a:p>
        </p:txBody>
      </p:sp>
      <p:sp>
        <p:nvSpPr>
          <p:cNvPr id="21" name="Shape 19"/>
          <p:cNvSpPr/>
          <p:nvPr/>
        </p:nvSpPr>
        <p:spPr>
          <a:xfrm>
            <a:off x="4709160" y="2423160"/>
            <a:ext cx="502920" cy="1097280"/>
          </a:xfrm>
          <a:prstGeom prst="rect">
            <a:avLst/>
          </a:prstGeom>
          <a:solidFill>
            <a:srgbClr val="1A6FC4"/>
          </a:solidFill>
          <a:ln w="12700">
            <a:solidFill>
              <a:srgbClr val="1A6FC4"/>
            </a:solidFill>
            <a:prstDash val="solid"/>
          </a:ln>
        </p:spPr>
        <p:txBody>
          <a:bodyPr/>
          <a:lstStyle/>
          <a:p>
            <a:endParaRPr lang="LID4096"/>
          </a:p>
        </p:txBody>
      </p:sp>
      <p:sp>
        <p:nvSpPr>
          <p:cNvPr id="22" name="Text 20"/>
          <p:cNvSpPr/>
          <p:nvPr/>
        </p:nvSpPr>
        <p:spPr>
          <a:xfrm>
            <a:off x="4718304" y="2743200"/>
            <a:ext cx="484632"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Palatino Linotype" pitchFamily="34" charset="0"/>
                <a:ea typeface="Palatino Linotype" pitchFamily="34" charset="-122"/>
                <a:cs typeface="Palatino Linotype" pitchFamily="34" charset="-120"/>
              </a:rPr>
              <a:t>04</a:t>
            </a:r>
            <a:endParaRPr lang="en-US" sz="1800" dirty="0"/>
          </a:p>
        </p:txBody>
      </p:sp>
      <p:sp>
        <p:nvSpPr>
          <p:cNvPr id="23" name="Text 21"/>
          <p:cNvSpPr/>
          <p:nvPr/>
        </p:nvSpPr>
        <p:spPr>
          <a:xfrm>
            <a:off x="5303520" y="2514600"/>
            <a:ext cx="3337560" cy="347472"/>
          </a:xfrm>
          <a:prstGeom prst="rect">
            <a:avLst/>
          </a:prstGeom>
          <a:noFill/>
          <a:ln/>
        </p:spPr>
        <p:txBody>
          <a:bodyPr wrap="square" lIns="0" tIns="0" rIns="0" bIns="0" rtlCol="0" anchor="ctr"/>
          <a:lstStyle/>
          <a:p>
            <a:pPr marL="0" indent="0">
              <a:buNone/>
            </a:pPr>
            <a:r>
              <a:rPr lang="en-US" sz="1400" b="1" dirty="0">
                <a:solidFill>
                  <a:srgbClr val="0A2342"/>
                </a:solidFill>
                <a:latin typeface="Palatino Linotype" pitchFamily="34" charset="0"/>
                <a:ea typeface="Palatino Linotype" pitchFamily="34" charset="-122"/>
                <a:cs typeface="Palatino Linotype" pitchFamily="34" charset="-120"/>
              </a:rPr>
              <a:t>PC-to-Pi Deployment</a:t>
            </a:r>
            <a:endParaRPr lang="en-US" sz="1400" dirty="0"/>
          </a:p>
        </p:txBody>
      </p:sp>
      <p:sp>
        <p:nvSpPr>
          <p:cNvPr id="24" name="Text 22"/>
          <p:cNvSpPr/>
          <p:nvPr/>
        </p:nvSpPr>
        <p:spPr>
          <a:xfrm>
            <a:off x="5303520" y="2880360"/>
            <a:ext cx="3337560" cy="548640"/>
          </a:xfrm>
          <a:prstGeom prst="rect">
            <a:avLst/>
          </a:prstGeom>
          <a:noFill/>
          <a:ln/>
        </p:spPr>
        <p:txBody>
          <a:bodyPr wrap="square" lIns="0" tIns="0" rIns="0" bIns="0" rtlCol="0" anchor="ctr"/>
          <a:lstStyle/>
          <a:p>
            <a:pPr marL="0" indent="0">
              <a:buNone/>
            </a:pPr>
            <a:r>
              <a:rPr lang="en-US" sz="1400" dirty="0">
                <a:solidFill>
                  <a:srgbClr val="64748B"/>
                </a:solidFill>
                <a:latin typeface="Garamond" pitchFamily="34" charset="0"/>
                <a:ea typeface="Garamond" pitchFamily="34" charset="-122"/>
                <a:cs typeface="Garamond" pitchFamily="34" charset="-120"/>
              </a:rPr>
              <a:t>FastAPI stream server, Tailscale, streaming inference loop</a:t>
            </a:r>
            <a:endParaRPr lang="en-US" sz="1400" dirty="0"/>
          </a:p>
        </p:txBody>
      </p:sp>
      <p:sp>
        <p:nvSpPr>
          <p:cNvPr id="25" name="Shape 23"/>
          <p:cNvSpPr/>
          <p:nvPr/>
        </p:nvSpPr>
        <p:spPr>
          <a:xfrm>
            <a:off x="411480" y="3657600"/>
            <a:ext cx="4023360" cy="1097280"/>
          </a:xfrm>
          <a:prstGeom prst="rect">
            <a:avLst/>
          </a:prstGeom>
          <a:solidFill>
            <a:srgbClr val="EEF4FB"/>
          </a:solidFill>
          <a:ln w="12700">
            <a:solidFill>
              <a:srgbClr val="DCE8F5"/>
            </a:solidFill>
            <a:prstDash val="solid"/>
          </a:ln>
          <a:effectLst>
            <a:outerShdw blurRad="101600" dist="25400" dir="8100000" algn="bl" rotWithShape="0">
              <a:srgbClr val="000000">
                <a:alpha val="9000"/>
              </a:srgbClr>
            </a:outerShdw>
          </a:effectLst>
        </p:spPr>
        <p:txBody>
          <a:bodyPr/>
          <a:lstStyle/>
          <a:p>
            <a:endParaRPr lang="LID4096"/>
          </a:p>
        </p:txBody>
      </p:sp>
      <p:sp>
        <p:nvSpPr>
          <p:cNvPr id="26" name="Shape 24"/>
          <p:cNvSpPr/>
          <p:nvPr/>
        </p:nvSpPr>
        <p:spPr>
          <a:xfrm>
            <a:off x="411480" y="3657600"/>
            <a:ext cx="502920" cy="1097280"/>
          </a:xfrm>
          <a:prstGeom prst="rect">
            <a:avLst/>
          </a:prstGeom>
          <a:solidFill>
            <a:srgbClr val="1A6FC4"/>
          </a:solidFill>
          <a:ln w="12700">
            <a:solidFill>
              <a:srgbClr val="1A6FC4"/>
            </a:solidFill>
            <a:prstDash val="solid"/>
          </a:ln>
        </p:spPr>
        <p:txBody>
          <a:bodyPr/>
          <a:lstStyle/>
          <a:p>
            <a:endParaRPr lang="LID4096"/>
          </a:p>
        </p:txBody>
      </p:sp>
      <p:sp>
        <p:nvSpPr>
          <p:cNvPr id="27" name="Text 25"/>
          <p:cNvSpPr/>
          <p:nvPr/>
        </p:nvSpPr>
        <p:spPr>
          <a:xfrm>
            <a:off x="420624" y="3977640"/>
            <a:ext cx="484632"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Palatino Linotype" pitchFamily="34" charset="0"/>
                <a:ea typeface="Palatino Linotype" pitchFamily="34" charset="-122"/>
                <a:cs typeface="Palatino Linotype" pitchFamily="34" charset="-120"/>
              </a:rPr>
              <a:t>05</a:t>
            </a:r>
            <a:endParaRPr lang="en-US" sz="1800" dirty="0"/>
          </a:p>
        </p:txBody>
      </p:sp>
      <p:sp>
        <p:nvSpPr>
          <p:cNvPr id="28" name="Text 26"/>
          <p:cNvSpPr/>
          <p:nvPr/>
        </p:nvSpPr>
        <p:spPr>
          <a:xfrm>
            <a:off x="1005840" y="3749040"/>
            <a:ext cx="3337560" cy="347472"/>
          </a:xfrm>
          <a:prstGeom prst="rect">
            <a:avLst/>
          </a:prstGeom>
          <a:noFill/>
          <a:ln/>
        </p:spPr>
        <p:txBody>
          <a:bodyPr wrap="square" lIns="0" tIns="0" rIns="0" bIns="0" rtlCol="0" anchor="ctr"/>
          <a:lstStyle/>
          <a:p>
            <a:pPr marL="0" indent="0">
              <a:buNone/>
            </a:pPr>
            <a:r>
              <a:rPr lang="en-US" sz="1400" b="1" dirty="0">
                <a:solidFill>
                  <a:srgbClr val="0A2342"/>
                </a:solidFill>
                <a:latin typeface="Palatino Linotype" pitchFamily="34" charset="0"/>
                <a:ea typeface="Palatino Linotype" pitchFamily="34" charset="-122"/>
                <a:cs typeface="Palatino Linotype" pitchFamily="34" charset="-120"/>
              </a:rPr>
              <a:t>Experimental Results</a:t>
            </a:r>
            <a:endParaRPr lang="en-US" sz="1400" dirty="0"/>
          </a:p>
        </p:txBody>
      </p:sp>
      <p:sp>
        <p:nvSpPr>
          <p:cNvPr id="29" name="Text 27"/>
          <p:cNvSpPr/>
          <p:nvPr/>
        </p:nvSpPr>
        <p:spPr>
          <a:xfrm>
            <a:off x="1005840" y="4114800"/>
            <a:ext cx="3337560" cy="548640"/>
          </a:xfrm>
          <a:prstGeom prst="rect">
            <a:avLst/>
          </a:prstGeom>
          <a:noFill/>
          <a:ln/>
        </p:spPr>
        <p:txBody>
          <a:bodyPr wrap="square" lIns="0" tIns="0" rIns="0" bIns="0" rtlCol="0" anchor="ctr"/>
          <a:lstStyle/>
          <a:p>
            <a:pPr marL="0" indent="0">
              <a:buNone/>
            </a:pPr>
            <a:r>
              <a:rPr lang="en-US" sz="1400" dirty="0">
                <a:solidFill>
                  <a:srgbClr val="64748B"/>
                </a:solidFill>
                <a:latin typeface="Garamond" pitchFamily="34" charset="0"/>
                <a:ea typeface="Garamond" pitchFamily="34" charset="-122"/>
                <a:cs typeface="Garamond" pitchFamily="34" charset="-120"/>
              </a:rPr>
              <a:t>Point F1, Event F1, PR-AUC across all dataset splits</a:t>
            </a:r>
            <a:endParaRPr lang="en-US" sz="1400" dirty="0"/>
          </a:p>
        </p:txBody>
      </p:sp>
      <p:sp>
        <p:nvSpPr>
          <p:cNvPr id="30" name="Shape 28"/>
          <p:cNvSpPr/>
          <p:nvPr/>
        </p:nvSpPr>
        <p:spPr>
          <a:xfrm>
            <a:off x="4709160" y="3657600"/>
            <a:ext cx="4023360" cy="1097280"/>
          </a:xfrm>
          <a:prstGeom prst="rect">
            <a:avLst/>
          </a:prstGeom>
          <a:solidFill>
            <a:srgbClr val="EEF4FB"/>
          </a:solidFill>
          <a:ln w="12700">
            <a:solidFill>
              <a:srgbClr val="DCE8F5"/>
            </a:solidFill>
            <a:prstDash val="solid"/>
          </a:ln>
          <a:effectLst>
            <a:outerShdw blurRad="101600" dist="25400" dir="8100000" algn="bl" rotWithShape="0">
              <a:srgbClr val="000000">
                <a:alpha val="9000"/>
              </a:srgbClr>
            </a:outerShdw>
          </a:effectLst>
        </p:spPr>
        <p:txBody>
          <a:bodyPr/>
          <a:lstStyle/>
          <a:p>
            <a:endParaRPr lang="LID4096"/>
          </a:p>
        </p:txBody>
      </p:sp>
      <p:sp>
        <p:nvSpPr>
          <p:cNvPr id="31" name="Shape 29"/>
          <p:cNvSpPr/>
          <p:nvPr/>
        </p:nvSpPr>
        <p:spPr>
          <a:xfrm>
            <a:off x="4709160" y="3657600"/>
            <a:ext cx="502920" cy="1097280"/>
          </a:xfrm>
          <a:prstGeom prst="rect">
            <a:avLst/>
          </a:prstGeom>
          <a:solidFill>
            <a:srgbClr val="1A6FC4"/>
          </a:solidFill>
          <a:ln w="12700">
            <a:solidFill>
              <a:srgbClr val="1A6FC4"/>
            </a:solidFill>
            <a:prstDash val="solid"/>
          </a:ln>
        </p:spPr>
        <p:txBody>
          <a:bodyPr/>
          <a:lstStyle/>
          <a:p>
            <a:endParaRPr lang="LID4096"/>
          </a:p>
        </p:txBody>
      </p:sp>
      <p:sp>
        <p:nvSpPr>
          <p:cNvPr id="32" name="Text 30"/>
          <p:cNvSpPr/>
          <p:nvPr/>
        </p:nvSpPr>
        <p:spPr>
          <a:xfrm>
            <a:off x="4718304" y="3977640"/>
            <a:ext cx="484632"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Palatino Linotype" pitchFamily="34" charset="0"/>
                <a:ea typeface="Palatino Linotype" pitchFamily="34" charset="-122"/>
                <a:cs typeface="Palatino Linotype" pitchFamily="34" charset="-120"/>
              </a:rPr>
              <a:t>06</a:t>
            </a:r>
            <a:endParaRPr lang="en-US" sz="1800" dirty="0"/>
          </a:p>
        </p:txBody>
      </p:sp>
      <p:sp>
        <p:nvSpPr>
          <p:cNvPr id="33" name="Text 31"/>
          <p:cNvSpPr/>
          <p:nvPr/>
        </p:nvSpPr>
        <p:spPr>
          <a:xfrm>
            <a:off x="5303520" y="3749040"/>
            <a:ext cx="3337560" cy="347472"/>
          </a:xfrm>
          <a:prstGeom prst="rect">
            <a:avLst/>
          </a:prstGeom>
          <a:noFill/>
          <a:ln/>
        </p:spPr>
        <p:txBody>
          <a:bodyPr wrap="square" lIns="0" tIns="0" rIns="0" bIns="0" rtlCol="0" anchor="ctr"/>
          <a:lstStyle/>
          <a:p>
            <a:pPr marL="0" indent="0">
              <a:buNone/>
            </a:pPr>
            <a:r>
              <a:rPr lang="en-US" sz="1400" b="1" dirty="0">
                <a:solidFill>
                  <a:srgbClr val="0A2342"/>
                </a:solidFill>
                <a:latin typeface="Palatino Linotype" pitchFamily="34" charset="0"/>
                <a:ea typeface="Palatino Linotype" pitchFamily="34" charset="-122"/>
                <a:cs typeface="Palatino Linotype" pitchFamily="34" charset="-120"/>
              </a:rPr>
              <a:t>Discussion &amp; Conclusion</a:t>
            </a:r>
            <a:endParaRPr lang="en-US" sz="1400" dirty="0"/>
          </a:p>
        </p:txBody>
      </p:sp>
      <p:sp>
        <p:nvSpPr>
          <p:cNvPr id="34" name="Text 32"/>
          <p:cNvSpPr/>
          <p:nvPr/>
        </p:nvSpPr>
        <p:spPr>
          <a:xfrm>
            <a:off x="5303520" y="4114800"/>
            <a:ext cx="3337560" cy="548640"/>
          </a:xfrm>
          <a:prstGeom prst="rect">
            <a:avLst/>
          </a:prstGeom>
          <a:noFill/>
          <a:ln/>
        </p:spPr>
        <p:txBody>
          <a:bodyPr wrap="square" lIns="0" tIns="0" rIns="0" bIns="0" rtlCol="0" anchor="ctr"/>
          <a:lstStyle/>
          <a:p>
            <a:pPr marL="0" indent="0">
              <a:buNone/>
            </a:pPr>
            <a:r>
              <a:rPr lang="en-US" sz="1400" dirty="0">
                <a:solidFill>
                  <a:srgbClr val="64748B"/>
                </a:solidFill>
                <a:latin typeface="Garamond" pitchFamily="34" charset="0"/>
                <a:ea typeface="Garamond" pitchFamily="34" charset="-122"/>
                <a:cs typeface="Garamond" pitchFamily="34" charset="-120"/>
              </a:rPr>
              <a:t>Key findings, limitations, and future directions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28600"/>
            <a:ext cx="64008" cy="530352"/>
          </a:xfrm>
          <a:prstGeom prst="rect">
            <a:avLst/>
          </a:prstGeom>
          <a:solidFill>
            <a:srgbClr val="29ABE2"/>
          </a:solidFill>
          <a:ln w="12700">
            <a:solidFill>
              <a:srgbClr val="29ABE2"/>
            </a:solidFill>
            <a:prstDash val="solid"/>
          </a:ln>
        </p:spPr>
        <p:txBody>
          <a:bodyPr/>
          <a:lstStyle/>
          <a:p>
            <a:endParaRPr lang="LID4096"/>
          </a:p>
        </p:txBody>
      </p:sp>
      <p:sp>
        <p:nvSpPr>
          <p:cNvPr id="3" name="Text 1"/>
          <p:cNvSpPr/>
          <p:nvPr/>
        </p:nvSpPr>
        <p:spPr>
          <a:xfrm>
            <a:off x="566928" y="173736"/>
            <a:ext cx="8321040" cy="548640"/>
          </a:xfrm>
          <a:prstGeom prst="rect">
            <a:avLst/>
          </a:prstGeom>
          <a:noFill/>
          <a:ln/>
        </p:spPr>
        <p:txBody>
          <a:bodyPr wrap="square" lIns="0" tIns="0" rIns="0" bIns="0" rtlCol="0" anchor="ctr"/>
          <a:lstStyle/>
          <a:p>
            <a:pPr marL="0" indent="0">
              <a:buNone/>
            </a:pPr>
            <a:r>
              <a:rPr lang="en-US" sz="2600" b="1" dirty="0">
                <a:solidFill>
                  <a:srgbClr val="0A2342"/>
                </a:solidFill>
                <a:latin typeface="Palatino Linotype" pitchFamily="34" charset="0"/>
                <a:ea typeface="Palatino Linotype" pitchFamily="34" charset="-122"/>
                <a:cs typeface="Palatino Linotype" pitchFamily="34" charset="-120"/>
              </a:rPr>
              <a:t>Problem Statement</a:t>
            </a:r>
            <a:endParaRPr lang="en-US" sz="2600" dirty="0"/>
          </a:p>
        </p:txBody>
      </p:sp>
      <p:sp>
        <p:nvSpPr>
          <p:cNvPr id="4" name="Text 2"/>
          <p:cNvSpPr/>
          <p:nvPr/>
        </p:nvSpPr>
        <p:spPr>
          <a:xfrm>
            <a:off x="566928" y="731520"/>
            <a:ext cx="8046720" cy="274320"/>
          </a:xfrm>
          <a:prstGeom prst="rect">
            <a:avLst/>
          </a:prstGeom>
          <a:noFill/>
          <a:ln/>
        </p:spPr>
        <p:txBody>
          <a:bodyPr wrap="square" lIns="0" tIns="0" rIns="0" bIns="0" rtlCol="0" anchor="ctr"/>
          <a:lstStyle/>
          <a:p>
            <a:pPr marL="0" indent="0">
              <a:buNone/>
            </a:pPr>
            <a:r>
              <a:rPr lang="en-US" sz="1250" dirty="0">
                <a:solidFill>
                  <a:srgbClr val="64748B"/>
                </a:solidFill>
                <a:latin typeface="Garamond" pitchFamily="34" charset="0"/>
                <a:ea typeface="Garamond" pitchFamily="34" charset="-122"/>
                <a:cs typeface="Garamond" pitchFamily="34" charset="-120"/>
              </a:rPr>
              <a:t>Detecting anomalies under realistic operational constraints</a:t>
            </a:r>
            <a:endParaRPr lang="en-US" sz="1250" dirty="0"/>
          </a:p>
        </p:txBody>
      </p:sp>
      <p:sp>
        <p:nvSpPr>
          <p:cNvPr id="5" name="Shape 3"/>
          <p:cNvSpPr/>
          <p:nvPr/>
        </p:nvSpPr>
        <p:spPr>
          <a:xfrm>
            <a:off x="411480" y="1143000"/>
            <a:ext cx="8321040" cy="868680"/>
          </a:xfrm>
          <a:prstGeom prst="rect">
            <a:avLst/>
          </a:prstGeom>
          <a:solidFill>
            <a:srgbClr val="FFF3E0"/>
          </a:solidFill>
          <a:ln w="12700">
            <a:solidFill>
              <a:srgbClr val="F4844C"/>
            </a:solidFill>
            <a:prstDash val="solid"/>
          </a:ln>
          <a:effectLst>
            <a:outerShdw blurRad="101600" dist="25400" dir="8100000" algn="bl" rotWithShape="0">
              <a:srgbClr val="000000">
                <a:alpha val="9000"/>
              </a:srgbClr>
            </a:outerShdw>
          </a:effectLst>
        </p:spPr>
        <p:txBody>
          <a:bodyPr/>
          <a:lstStyle/>
          <a:p>
            <a:endParaRPr lang="LID4096"/>
          </a:p>
        </p:txBody>
      </p:sp>
      <p:sp>
        <p:nvSpPr>
          <p:cNvPr id="6" name="Shape 4"/>
          <p:cNvSpPr/>
          <p:nvPr/>
        </p:nvSpPr>
        <p:spPr>
          <a:xfrm>
            <a:off x="411480" y="1143000"/>
            <a:ext cx="73152" cy="868680"/>
          </a:xfrm>
          <a:prstGeom prst="rect">
            <a:avLst/>
          </a:prstGeom>
          <a:solidFill>
            <a:srgbClr val="F4844C"/>
          </a:solidFill>
          <a:ln w="12700">
            <a:solidFill>
              <a:srgbClr val="F4844C"/>
            </a:solidFill>
            <a:prstDash val="solid"/>
          </a:ln>
        </p:spPr>
        <p:txBody>
          <a:bodyPr/>
          <a:lstStyle/>
          <a:p>
            <a:endParaRPr lang="LID4096"/>
          </a:p>
        </p:txBody>
      </p:sp>
      <p:sp>
        <p:nvSpPr>
          <p:cNvPr id="7" name="Text 5"/>
          <p:cNvSpPr/>
          <p:nvPr/>
        </p:nvSpPr>
        <p:spPr>
          <a:xfrm>
            <a:off x="594360" y="1188720"/>
            <a:ext cx="2743200" cy="274320"/>
          </a:xfrm>
          <a:prstGeom prst="rect">
            <a:avLst/>
          </a:prstGeom>
          <a:noFill/>
          <a:ln/>
        </p:spPr>
        <p:txBody>
          <a:bodyPr wrap="square" lIns="0" tIns="0" rIns="0" bIns="0" rtlCol="0" anchor="ctr"/>
          <a:lstStyle/>
          <a:p>
            <a:pPr marL="0" indent="0">
              <a:buNone/>
            </a:pPr>
            <a:r>
              <a:rPr lang="en-US" sz="1100" b="1" dirty="0">
                <a:solidFill>
                  <a:srgbClr val="F4844C"/>
                </a:solidFill>
                <a:latin typeface="Palatino Linotype" pitchFamily="34" charset="0"/>
                <a:ea typeface="Palatino Linotype" pitchFamily="34" charset="-122"/>
                <a:cs typeface="Palatino Linotype" pitchFamily="34" charset="-120"/>
              </a:rPr>
              <a:t>Core Challenge</a:t>
            </a:r>
            <a:endParaRPr lang="en-US" sz="1100" dirty="0"/>
          </a:p>
        </p:txBody>
      </p:sp>
      <p:sp>
        <p:nvSpPr>
          <p:cNvPr id="8" name="Text 6"/>
          <p:cNvSpPr/>
          <p:nvPr/>
        </p:nvSpPr>
        <p:spPr>
          <a:xfrm>
            <a:off x="594360" y="1463040"/>
            <a:ext cx="7955280" cy="502920"/>
          </a:xfrm>
          <a:prstGeom prst="rect">
            <a:avLst/>
          </a:prstGeom>
          <a:noFill/>
          <a:ln/>
        </p:spPr>
        <p:txBody>
          <a:bodyPr wrap="square" lIns="0" tIns="0" rIns="0" bIns="0" rtlCol="0" anchor="ctr"/>
          <a:lstStyle/>
          <a:p>
            <a:pPr marL="0" indent="0">
              <a:buNone/>
            </a:pPr>
            <a:r>
              <a:rPr lang="en-US" sz="1400" dirty="0">
                <a:solidFill>
                  <a:srgbClr val="1A202C"/>
                </a:solidFill>
                <a:latin typeface="Garamond" pitchFamily="34" charset="0"/>
                <a:ea typeface="Garamond" pitchFamily="34" charset="-122"/>
                <a:cs typeface="Garamond" pitchFamily="34" charset="-120"/>
              </a:rPr>
              <a:t>Telemetry streams are noisy, non-stationary, and sparsely labeled — detectors must cope with temporal structure, concept drift, and severe class imbalance while producing coherent operational alerts.</a:t>
            </a:r>
            <a:endParaRPr lang="en-US" sz="1400" dirty="0"/>
          </a:p>
        </p:txBody>
      </p:sp>
      <p:sp>
        <p:nvSpPr>
          <p:cNvPr id="9" name="Shape 7"/>
          <p:cNvSpPr/>
          <p:nvPr/>
        </p:nvSpPr>
        <p:spPr>
          <a:xfrm>
            <a:off x="411480" y="2240280"/>
            <a:ext cx="1965960" cy="2514600"/>
          </a:xfrm>
          <a:prstGeom prst="rect">
            <a:avLst/>
          </a:prstGeom>
          <a:solidFill>
            <a:srgbClr val="EEF4FB"/>
          </a:solidFill>
          <a:ln w="12700">
            <a:solidFill>
              <a:srgbClr val="1A6FC4"/>
            </a:solidFill>
            <a:prstDash val="solid"/>
          </a:ln>
          <a:effectLst>
            <a:outerShdw blurRad="101600" dist="25400" dir="8100000" algn="bl" rotWithShape="0">
              <a:srgbClr val="000000">
                <a:alpha val="9000"/>
              </a:srgbClr>
            </a:outerShdw>
          </a:effectLst>
        </p:spPr>
        <p:txBody>
          <a:bodyPr/>
          <a:lstStyle/>
          <a:p>
            <a:endParaRPr lang="LID4096"/>
          </a:p>
        </p:txBody>
      </p:sp>
      <p:sp>
        <p:nvSpPr>
          <p:cNvPr id="10" name="Shape 8"/>
          <p:cNvSpPr/>
          <p:nvPr/>
        </p:nvSpPr>
        <p:spPr>
          <a:xfrm>
            <a:off x="411480" y="2240280"/>
            <a:ext cx="1965960" cy="73152"/>
          </a:xfrm>
          <a:prstGeom prst="rect">
            <a:avLst/>
          </a:prstGeom>
          <a:solidFill>
            <a:srgbClr val="1A6FC4"/>
          </a:solidFill>
          <a:ln w="12700">
            <a:solidFill>
              <a:srgbClr val="1A6FC4"/>
            </a:solidFill>
            <a:prstDash val="solid"/>
          </a:ln>
        </p:spPr>
        <p:txBody>
          <a:bodyPr/>
          <a:lstStyle/>
          <a:p>
            <a:endParaRPr lang="LID4096"/>
          </a:p>
        </p:txBody>
      </p:sp>
      <p:sp>
        <p:nvSpPr>
          <p:cNvPr id="11" name="Text 9"/>
          <p:cNvSpPr/>
          <p:nvPr/>
        </p:nvSpPr>
        <p:spPr>
          <a:xfrm>
            <a:off x="548640" y="2395728"/>
            <a:ext cx="1691640" cy="640080"/>
          </a:xfrm>
          <a:prstGeom prst="rect">
            <a:avLst/>
          </a:prstGeom>
          <a:noFill/>
          <a:ln/>
        </p:spPr>
        <p:txBody>
          <a:bodyPr wrap="square" rtlCol="0" anchor="ctr"/>
          <a:lstStyle/>
          <a:p>
            <a:pPr marL="0" indent="0" algn="ctr">
              <a:lnSpc>
                <a:spcPct val="110000"/>
              </a:lnSpc>
              <a:buNone/>
            </a:pPr>
            <a:r>
              <a:rPr lang="en-US" sz="1400" b="1" dirty="0">
                <a:solidFill>
                  <a:srgbClr val="1A6FC4"/>
                </a:solidFill>
                <a:latin typeface="Palatino Linotype" pitchFamily="34" charset="0"/>
                <a:ea typeface="Palatino Linotype" pitchFamily="34" charset="-122"/>
                <a:cs typeface="Palatino Linotype" pitchFamily="34" charset="-120"/>
              </a:rPr>
              <a:t>Multi-source</a:t>
            </a:r>
            <a:endParaRPr lang="en-US" sz="1400" dirty="0"/>
          </a:p>
          <a:p>
            <a:pPr marL="0" indent="0" algn="ctr">
              <a:lnSpc>
                <a:spcPct val="110000"/>
              </a:lnSpc>
              <a:buNone/>
            </a:pPr>
            <a:r>
              <a:rPr lang="en-US" sz="1400" b="1" dirty="0">
                <a:solidFill>
                  <a:srgbClr val="1A6FC4"/>
                </a:solidFill>
                <a:latin typeface="Palatino Linotype" pitchFamily="34" charset="0"/>
                <a:ea typeface="Palatino Linotype" pitchFamily="34" charset="-122"/>
                <a:cs typeface="Palatino Linotype" pitchFamily="34" charset="-120"/>
              </a:rPr>
              <a:t>Support</a:t>
            </a:r>
            <a:endParaRPr lang="en-US" sz="1400" dirty="0"/>
          </a:p>
        </p:txBody>
      </p:sp>
      <p:sp>
        <p:nvSpPr>
          <p:cNvPr id="12" name="Text 10"/>
          <p:cNvSpPr/>
          <p:nvPr/>
        </p:nvSpPr>
        <p:spPr>
          <a:xfrm>
            <a:off x="521208" y="3090672"/>
            <a:ext cx="1737360" cy="1417320"/>
          </a:xfrm>
          <a:prstGeom prst="rect">
            <a:avLst/>
          </a:prstGeom>
          <a:noFill/>
          <a:ln/>
        </p:spPr>
        <p:txBody>
          <a:bodyPr wrap="square" rtlCol="0" anchor="ctr"/>
          <a:lstStyle/>
          <a:p>
            <a:pPr marL="0" indent="0" algn="ctr">
              <a:lnSpc>
                <a:spcPct val="130000"/>
              </a:lnSpc>
              <a:buNone/>
            </a:pPr>
            <a:r>
              <a:rPr lang="en-US" sz="1400" dirty="0">
                <a:solidFill>
                  <a:srgbClr val="1A202C"/>
                </a:solidFill>
                <a:latin typeface="Garamond" pitchFamily="34" charset="0"/>
                <a:ea typeface="Garamond" pitchFamily="34" charset="-122"/>
                <a:cs typeface="Garamond" pitchFamily="34" charset="-120"/>
              </a:rPr>
              <a:t>Common configurable pipeline across SKAB &amp; NAB telemetry sources</a:t>
            </a:r>
            <a:endParaRPr lang="en-US" sz="1400" dirty="0"/>
          </a:p>
        </p:txBody>
      </p:sp>
      <p:sp>
        <p:nvSpPr>
          <p:cNvPr id="13" name="Shape 11"/>
          <p:cNvSpPr/>
          <p:nvPr/>
        </p:nvSpPr>
        <p:spPr>
          <a:xfrm>
            <a:off x="2514600" y="2240280"/>
            <a:ext cx="1965960" cy="2514600"/>
          </a:xfrm>
          <a:prstGeom prst="rect">
            <a:avLst/>
          </a:prstGeom>
          <a:solidFill>
            <a:srgbClr val="EEF4FB"/>
          </a:solidFill>
          <a:ln w="12700">
            <a:solidFill>
              <a:srgbClr val="00B4A6"/>
            </a:solidFill>
            <a:prstDash val="solid"/>
          </a:ln>
          <a:effectLst>
            <a:outerShdw blurRad="101600" dist="25400" dir="8100000" algn="bl" rotWithShape="0">
              <a:srgbClr val="000000">
                <a:alpha val="9000"/>
              </a:srgbClr>
            </a:outerShdw>
          </a:effectLst>
        </p:spPr>
        <p:txBody>
          <a:bodyPr/>
          <a:lstStyle/>
          <a:p>
            <a:endParaRPr lang="LID4096"/>
          </a:p>
        </p:txBody>
      </p:sp>
      <p:sp>
        <p:nvSpPr>
          <p:cNvPr id="14" name="Shape 12"/>
          <p:cNvSpPr/>
          <p:nvPr/>
        </p:nvSpPr>
        <p:spPr>
          <a:xfrm>
            <a:off x="2514600" y="2240280"/>
            <a:ext cx="1965960" cy="73152"/>
          </a:xfrm>
          <a:prstGeom prst="rect">
            <a:avLst/>
          </a:prstGeom>
          <a:solidFill>
            <a:srgbClr val="00B4A6"/>
          </a:solidFill>
          <a:ln w="12700">
            <a:solidFill>
              <a:srgbClr val="00B4A6"/>
            </a:solidFill>
            <a:prstDash val="solid"/>
          </a:ln>
        </p:spPr>
        <p:txBody>
          <a:bodyPr/>
          <a:lstStyle/>
          <a:p>
            <a:endParaRPr lang="LID4096"/>
          </a:p>
        </p:txBody>
      </p:sp>
      <p:sp>
        <p:nvSpPr>
          <p:cNvPr id="15" name="Text 13"/>
          <p:cNvSpPr/>
          <p:nvPr/>
        </p:nvSpPr>
        <p:spPr>
          <a:xfrm>
            <a:off x="2651760" y="2395728"/>
            <a:ext cx="1691640" cy="640080"/>
          </a:xfrm>
          <a:prstGeom prst="rect">
            <a:avLst/>
          </a:prstGeom>
          <a:noFill/>
          <a:ln/>
        </p:spPr>
        <p:txBody>
          <a:bodyPr wrap="square" rtlCol="0" anchor="ctr"/>
          <a:lstStyle/>
          <a:p>
            <a:pPr marL="0" indent="0" algn="ctr">
              <a:lnSpc>
                <a:spcPct val="110000"/>
              </a:lnSpc>
              <a:buNone/>
            </a:pPr>
            <a:r>
              <a:rPr lang="en-US" sz="1400" b="1" dirty="0">
                <a:solidFill>
                  <a:srgbClr val="00B4A6"/>
                </a:solidFill>
                <a:latin typeface="Palatino Linotype" pitchFamily="34" charset="0"/>
                <a:ea typeface="Palatino Linotype" pitchFamily="34" charset="-122"/>
                <a:cs typeface="Palatino Linotype" pitchFamily="34" charset="-120"/>
              </a:rPr>
              <a:t>Multi-metric</a:t>
            </a:r>
            <a:endParaRPr lang="en-US" sz="1400" dirty="0"/>
          </a:p>
          <a:p>
            <a:pPr marL="0" indent="0" algn="ctr">
              <a:lnSpc>
                <a:spcPct val="110000"/>
              </a:lnSpc>
              <a:buNone/>
            </a:pPr>
            <a:r>
              <a:rPr lang="en-US" sz="1400" b="1" dirty="0">
                <a:solidFill>
                  <a:srgbClr val="00B4A6"/>
                </a:solidFill>
                <a:latin typeface="Palatino Linotype" pitchFamily="34" charset="0"/>
                <a:ea typeface="Palatino Linotype" pitchFamily="34" charset="-122"/>
                <a:cs typeface="Palatino Linotype" pitchFamily="34" charset="-120"/>
              </a:rPr>
              <a:t>Evaluation</a:t>
            </a:r>
            <a:endParaRPr lang="en-US" sz="1400" dirty="0"/>
          </a:p>
        </p:txBody>
      </p:sp>
      <p:sp>
        <p:nvSpPr>
          <p:cNvPr id="16" name="Text 14"/>
          <p:cNvSpPr/>
          <p:nvPr/>
        </p:nvSpPr>
        <p:spPr>
          <a:xfrm>
            <a:off x="2624328" y="3090672"/>
            <a:ext cx="1737360" cy="1417320"/>
          </a:xfrm>
          <a:prstGeom prst="rect">
            <a:avLst/>
          </a:prstGeom>
          <a:noFill/>
          <a:ln/>
        </p:spPr>
        <p:txBody>
          <a:bodyPr wrap="square" rtlCol="0" anchor="ctr"/>
          <a:lstStyle/>
          <a:p>
            <a:pPr marL="0" indent="0" algn="ctr">
              <a:lnSpc>
                <a:spcPct val="130000"/>
              </a:lnSpc>
              <a:buNone/>
            </a:pPr>
            <a:r>
              <a:rPr lang="en-US" sz="1400" dirty="0">
                <a:solidFill>
                  <a:srgbClr val="1A202C"/>
                </a:solidFill>
                <a:latin typeface="Garamond" pitchFamily="34" charset="0"/>
                <a:ea typeface="Garamond" pitchFamily="34" charset="-122"/>
                <a:cs typeface="Garamond" pitchFamily="34" charset="-120"/>
              </a:rPr>
              <a:t>Point F1 + Event F1 + PR-AUC — single metrics mislead</a:t>
            </a:r>
            <a:endParaRPr lang="en-US" sz="1400" dirty="0"/>
          </a:p>
        </p:txBody>
      </p:sp>
      <p:sp>
        <p:nvSpPr>
          <p:cNvPr id="17" name="Shape 15"/>
          <p:cNvSpPr/>
          <p:nvPr/>
        </p:nvSpPr>
        <p:spPr>
          <a:xfrm>
            <a:off x="4617720" y="2240280"/>
            <a:ext cx="1965960" cy="2514600"/>
          </a:xfrm>
          <a:prstGeom prst="rect">
            <a:avLst/>
          </a:prstGeom>
          <a:solidFill>
            <a:srgbClr val="EEF4FB"/>
          </a:solidFill>
          <a:ln w="12700">
            <a:solidFill>
              <a:srgbClr val="2DC653"/>
            </a:solidFill>
            <a:prstDash val="solid"/>
          </a:ln>
          <a:effectLst>
            <a:outerShdw blurRad="101600" dist="25400" dir="8100000" algn="bl" rotWithShape="0">
              <a:srgbClr val="000000">
                <a:alpha val="9000"/>
              </a:srgbClr>
            </a:outerShdw>
          </a:effectLst>
        </p:spPr>
        <p:txBody>
          <a:bodyPr/>
          <a:lstStyle/>
          <a:p>
            <a:endParaRPr lang="LID4096"/>
          </a:p>
        </p:txBody>
      </p:sp>
      <p:sp>
        <p:nvSpPr>
          <p:cNvPr id="18" name="Shape 16"/>
          <p:cNvSpPr/>
          <p:nvPr/>
        </p:nvSpPr>
        <p:spPr>
          <a:xfrm>
            <a:off x="4617720" y="2240280"/>
            <a:ext cx="1965960" cy="73152"/>
          </a:xfrm>
          <a:prstGeom prst="rect">
            <a:avLst/>
          </a:prstGeom>
          <a:solidFill>
            <a:srgbClr val="2DC653"/>
          </a:solidFill>
          <a:ln w="12700">
            <a:solidFill>
              <a:srgbClr val="2DC653"/>
            </a:solidFill>
            <a:prstDash val="solid"/>
          </a:ln>
        </p:spPr>
        <p:txBody>
          <a:bodyPr/>
          <a:lstStyle/>
          <a:p>
            <a:endParaRPr lang="LID4096"/>
          </a:p>
        </p:txBody>
      </p:sp>
      <p:sp>
        <p:nvSpPr>
          <p:cNvPr id="19" name="Text 17"/>
          <p:cNvSpPr/>
          <p:nvPr/>
        </p:nvSpPr>
        <p:spPr>
          <a:xfrm>
            <a:off x="4754880" y="2395728"/>
            <a:ext cx="1691640" cy="640080"/>
          </a:xfrm>
          <a:prstGeom prst="rect">
            <a:avLst/>
          </a:prstGeom>
          <a:noFill/>
          <a:ln/>
        </p:spPr>
        <p:txBody>
          <a:bodyPr wrap="square" rtlCol="0" anchor="ctr"/>
          <a:lstStyle/>
          <a:p>
            <a:pPr marL="0" indent="0" algn="ctr">
              <a:lnSpc>
                <a:spcPct val="110000"/>
              </a:lnSpc>
              <a:buNone/>
            </a:pPr>
            <a:r>
              <a:rPr lang="en-US" sz="1400" b="1" dirty="0">
                <a:solidFill>
                  <a:srgbClr val="2DC653"/>
                </a:solidFill>
                <a:latin typeface="Palatino Linotype" pitchFamily="34" charset="0"/>
                <a:ea typeface="Palatino Linotype" pitchFamily="34" charset="-122"/>
                <a:cs typeface="Palatino Linotype" pitchFamily="34" charset="-120"/>
              </a:rPr>
              <a:t>Alert</a:t>
            </a:r>
            <a:endParaRPr lang="en-US" sz="1400" dirty="0"/>
          </a:p>
          <a:p>
            <a:pPr marL="0" indent="0" algn="ctr">
              <a:lnSpc>
                <a:spcPct val="110000"/>
              </a:lnSpc>
              <a:buNone/>
            </a:pPr>
            <a:r>
              <a:rPr lang="en-US" sz="1400" b="1" dirty="0">
                <a:solidFill>
                  <a:srgbClr val="2DC653"/>
                </a:solidFill>
                <a:latin typeface="Palatino Linotype" pitchFamily="34" charset="0"/>
                <a:ea typeface="Palatino Linotype" pitchFamily="34" charset="-122"/>
                <a:cs typeface="Palatino Linotype" pitchFamily="34" charset="-120"/>
              </a:rPr>
              <a:t>Coherence</a:t>
            </a:r>
            <a:endParaRPr lang="en-US" sz="1400" dirty="0"/>
          </a:p>
        </p:txBody>
      </p:sp>
      <p:sp>
        <p:nvSpPr>
          <p:cNvPr id="20" name="Text 18"/>
          <p:cNvSpPr/>
          <p:nvPr/>
        </p:nvSpPr>
        <p:spPr>
          <a:xfrm>
            <a:off x="4727448" y="3090672"/>
            <a:ext cx="1737360" cy="1417320"/>
          </a:xfrm>
          <a:prstGeom prst="rect">
            <a:avLst/>
          </a:prstGeom>
          <a:noFill/>
          <a:ln/>
        </p:spPr>
        <p:txBody>
          <a:bodyPr wrap="square" rtlCol="0" anchor="ctr"/>
          <a:lstStyle/>
          <a:p>
            <a:pPr marL="0" indent="0" algn="ctr">
              <a:lnSpc>
                <a:spcPct val="130000"/>
              </a:lnSpc>
              <a:buNone/>
            </a:pPr>
            <a:r>
              <a:rPr lang="en-US" sz="1400" dirty="0">
                <a:solidFill>
                  <a:srgbClr val="1A202C"/>
                </a:solidFill>
                <a:latin typeface="Garamond" pitchFamily="34" charset="0"/>
                <a:ea typeface="Garamond" pitchFamily="34" charset="-122"/>
                <a:cs typeface="Garamond" pitchFamily="34" charset="-120"/>
              </a:rPr>
              <a:t>Event-level scoring penalises fragmented bursts of false alerts</a:t>
            </a:r>
            <a:endParaRPr lang="en-US" sz="1400" dirty="0"/>
          </a:p>
        </p:txBody>
      </p:sp>
      <p:sp>
        <p:nvSpPr>
          <p:cNvPr id="21" name="Shape 19"/>
          <p:cNvSpPr/>
          <p:nvPr/>
        </p:nvSpPr>
        <p:spPr>
          <a:xfrm>
            <a:off x="6720840" y="2240280"/>
            <a:ext cx="1965960" cy="2514600"/>
          </a:xfrm>
          <a:prstGeom prst="rect">
            <a:avLst/>
          </a:prstGeom>
          <a:solidFill>
            <a:srgbClr val="EEF4FB"/>
          </a:solidFill>
          <a:ln w="12700">
            <a:solidFill>
              <a:srgbClr val="F4844C"/>
            </a:solidFill>
            <a:prstDash val="solid"/>
          </a:ln>
          <a:effectLst>
            <a:outerShdw blurRad="101600" dist="25400" dir="8100000" algn="bl" rotWithShape="0">
              <a:srgbClr val="000000">
                <a:alpha val="9000"/>
              </a:srgbClr>
            </a:outerShdw>
          </a:effectLst>
        </p:spPr>
        <p:txBody>
          <a:bodyPr/>
          <a:lstStyle/>
          <a:p>
            <a:endParaRPr lang="LID4096"/>
          </a:p>
        </p:txBody>
      </p:sp>
      <p:sp>
        <p:nvSpPr>
          <p:cNvPr id="22" name="Shape 20"/>
          <p:cNvSpPr/>
          <p:nvPr/>
        </p:nvSpPr>
        <p:spPr>
          <a:xfrm>
            <a:off x="6720840" y="2240280"/>
            <a:ext cx="1965960" cy="73152"/>
          </a:xfrm>
          <a:prstGeom prst="rect">
            <a:avLst/>
          </a:prstGeom>
          <a:solidFill>
            <a:srgbClr val="F4844C"/>
          </a:solidFill>
          <a:ln w="12700">
            <a:solidFill>
              <a:srgbClr val="F4844C"/>
            </a:solidFill>
            <a:prstDash val="solid"/>
          </a:ln>
        </p:spPr>
        <p:txBody>
          <a:bodyPr/>
          <a:lstStyle/>
          <a:p>
            <a:endParaRPr lang="LID4096"/>
          </a:p>
        </p:txBody>
      </p:sp>
      <p:sp>
        <p:nvSpPr>
          <p:cNvPr id="23" name="Text 21"/>
          <p:cNvSpPr/>
          <p:nvPr/>
        </p:nvSpPr>
        <p:spPr>
          <a:xfrm>
            <a:off x="6858000" y="2395728"/>
            <a:ext cx="1691640" cy="640080"/>
          </a:xfrm>
          <a:prstGeom prst="rect">
            <a:avLst/>
          </a:prstGeom>
          <a:noFill/>
          <a:ln/>
        </p:spPr>
        <p:txBody>
          <a:bodyPr wrap="square" rtlCol="0" anchor="ctr"/>
          <a:lstStyle/>
          <a:p>
            <a:pPr marL="0" indent="0" algn="ctr">
              <a:lnSpc>
                <a:spcPct val="110000"/>
              </a:lnSpc>
              <a:buNone/>
            </a:pPr>
            <a:r>
              <a:rPr lang="en-US" sz="1400" b="1" dirty="0">
                <a:solidFill>
                  <a:srgbClr val="F4844C"/>
                </a:solidFill>
                <a:latin typeface="Palatino Linotype" pitchFamily="34" charset="0"/>
                <a:ea typeface="Palatino Linotype" pitchFamily="34" charset="-122"/>
                <a:cs typeface="Palatino Linotype" pitchFamily="34" charset="-120"/>
              </a:rPr>
              <a:t>Edge</a:t>
            </a:r>
            <a:endParaRPr lang="en-US" sz="1400" dirty="0"/>
          </a:p>
          <a:p>
            <a:pPr marL="0" indent="0" algn="ctr">
              <a:lnSpc>
                <a:spcPct val="110000"/>
              </a:lnSpc>
              <a:buNone/>
            </a:pPr>
            <a:r>
              <a:rPr lang="en-US" sz="1400" b="1" dirty="0">
                <a:solidFill>
                  <a:srgbClr val="F4844C"/>
                </a:solidFill>
                <a:latin typeface="Palatino Linotype" pitchFamily="34" charset="0"/>
                <a:ea typeface="Palatino Linotype" pitchFamily="34" charset="-122"/>
                <a:cs typeface="Palatino Linotype" pitchFamily="34" charset="-120"/>
              </a:rPr>
              <a:t>Deployment</a:t>
            </a:r>
            <a:endParaRPr lang="en-US" sz="1400" dirty="0"/>
          </a:p>
        </p:txBody>
      </p:sp>
      <p:sp>
        <p:nvSpPr>
          <p:cNvPr id="24" name="Text 22"/>
          <p:cNvSpPr/>
          <p:nvPr/>
        </p:nvSpPr>
        <p:spPr>
          <a:xfrm>
            <a:off x="6830568" y="3090672"/>
            <a:ext cx="1737360" cy="1417320"/>
          </a:xfrm>
          <a:prstGeom prst="rect">
            <a:avLst/>
          </a:prstGeom>
          <a:noFill/>
          <a:ln/>
        </p:spPr>
        <p:txBody>
          <a:bodyPr wrap="square" rtlCol="0" anchor="ctr"/>
          <a:lstStyle/>
          <a:p>
            <a:pPr marL="0" indent="0" algn="ctr">
              <a:lnSpc>
                <a:spcPct val="130000"/>
              </a:lnSpc>
              <a:buNone/>
            </a:pPr>
            <a:r>
              <a:rPr lang="en-US" sz="1400" dirty="0">
                <a:solidFill>
                  <a:srgbClr val="1A202C"/>
                </a:solidFill>
                <a:latin typeface="Garamond" pitchFamily="34" charset="0"/>
                <a:ea typeface="Garamond" pitchFamily="34" charset="-122"/>
                <a:cs typeface="Garamond" pitchFamily="34" charset="-120"/>
              </a:rPr>
              <a:t>Offline training on PC → lightweight streaming inference on Pi</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28600"/>
            <a:ext cx="64008" cy="530352"/>
          </a:xfrm>
          <a:prstGeom prst="rect">
            <a:avLst/>
          </a:prstGeom>
          <a:solidFill>
            <a:srgbClr val="29ABE2"/>
          </a:solidFill>
          <a:ln w="12700">
            <a:solidFill>
              <a:srgbClr val="29ABE2"/>
            </a:solidFill>
            <a:prstDash val="solid"/>
          </a:ln>
        </p:spPr>
        <p:txBody>
          <a:bodyPr/>
          <a:lstStyle/>
          <a:p>
            <a:endParaRPr lang="LID4096"/>
          </a:p>
        </p:txBody>
      </p:sp>
      <p:sp>
        <p:nvSpPr>
          <p:cNvPr id="3" name="Text 1"/>
          <p:cNvSpPr/>
          <p:nvPr/>
        </p:nvSpPr>
        <p:spPr>
          <a:xfrm>
            <a:off x="566928" y="173736"/>
            <a:ext cx="8321040" cy="548640"/>
          </a:xfrm>
          <a:prstGeom prst="rect">
            <a:avLst/>
          </a:prstGeom>
          <a:noFill/>
          <a:ln/>
        </p:spPr>
        <p:txBody>
          <a:bodyPr wrap="square" lIns="0" tIns="0" rIns="0" bIns="0" rtlCol="0" anchor="ctr"/>
          <a:lstStyle/>
          <a:p>
            <a:pPr marL="0" indent="0">
              <a:buNone/>
            </a:pPr>
            <a:r>
              <a:rPr lang="en-US" sz="2600" b="1" dirty="0">
                <a:solidFill>
                  <a:srgbClr val="0A2342"/>
                </a:solidFill>
                <a:latin typeface="Palatino Linotype" pitchFamily="34" charset="0"/>
                <a:ea typeface="Palatino Linotype" pitchFamily="34" charset="-122"/>
                <a:cs typeface="Palatino Linotype" pitchFamily="34" charset="-120"/>
              </a:rPr>
              <a:t>Benchmark Datasets</a:t>
            </a:r>
            <a:endParaRPr lang="en-US" sz="2600" dirty="0"/>
          </a:p>
        </p:txBody>
      </p:sp>
      <p:sp>
        <p:nvSpPr>
          <p:cNvPr id="4" name="Text 2"/>
          <p:cNvSpPr/>
          <p:nvPr/>
        </p:nvSpPr>
        <p:spPr>
          <a:xfrm>
            <a:off x="566928" y="731520"/>
            <a:ext cx="8046720" cy="274320"/>
          </a:xfrm>
          <a:prstGeom prst="rect">
            <a:avLst/>
          </a:prstGeom>
          <a:noFill/>
          <a:ln/>
        </p:spPr>
        <p:txBody>
          <a:bodyPr wrap="square" lIns="0" tIns="0" rIns="0" bIns="0" rtlCol="0" anchor="ctr"/>
          <a:lstStyle/>
          <a:p>
            <a:pPr marL="0" indent="0">
              <a:buNone/>
            </a:pPr>
            <a:r>
              <a:rPr lang="en-US" sz="1250" dirty="0">
                <a:solidFill>
                  <a:srgbClr val="64748B"/>
                </a:solidFill>
                <a:latin typeface="Garamond" pitchFamily="34" charset="0"/>
                <a:ea typeface="Garamond" pitchFamily="34" charset="-122"/>
                <a:cs typeface="Garamond" pitchFamily="34" charset="-120"/>
              </a:rPr>
              <a:t>Two complementary benchmarks stress the system differently</a:t>
            </a:r>
            <a:endParaRPr lang="en-US" sz="1250" dirty="0"/>
          </a:p>
        </p:txBody>
      </p:sp>
      <p:sp>
        <p:nvSpPr>
          <p:cNvPr id="5" name="Shape 3"/>
          <p:cNvSpPr/>
          <p:nvPr/>
        </p:nvSpPr>
        <p:spPr>
          <a:xfrm>
            <a:off x="365760" y="1143000"/>
            <a:ext cx="3931920" cy="3657600"/>
          </a:xfrm>
          <a:prstGeom prst="rect">
            <a:avLst/>
          </a:prstGeom>
          <a:solidFill>
            <a:srgbClr val="EEF4FB"/>
          </a:solidFill>
          <a:ln w="12700">
            <a:solidFill>
              <a:srgbClr val="1A6FC4"/>
            </a:solidFill>
            <a:prstDash val="solid"/>
          </a:ln>
          <a:effectLst>
            <a:outerShdw blurRad="101600" dist="25400" dir="8100000" algn="bl" rotWithShape="0">
              <a:srgbClr val="000000">
                <a:alpha val="9000"/>
              </a:srgbClr>
            </a:outerShdw>
          </a:effectLst>
        </p:spPr>
        <p:txBody>
          <a:bodyPr/>
          <a:lstStyle/>
          <a:p>
            <a:endParaRPr lang="LID4096" sz="2000"/>
          </a:p>
        </p:txBody>
      </p:sp>
      <p:sp>
        <p:nvSpPr>
          <p:cNvPr id="6" name="Shape 4"/>
          <p:cNvSpPr/>
          <p:nvPr/>
        </p:nvSpPr>
        <p:spPr>
          <a:xfrm>
            <a:off x="365760" y="1143000"/>
            <a:ext cx="3931920" cy="411480"/>
          </a:xfrm>
          <a:prstGeom prst="rect">
            <a:avLst/>
          </a:prstGeom>
          <a:solidFill>
            <a:srgbClr val="1A6FC4"/>
          </a:solidFill>
          <a:ln w="12700">
            <a:solidFill>
              <a:srgbClr val="1A6FC4"/>
            </a:solidFill>
            <a:prstDash val="solid"/>
          </a:ln>
        </p:spPr>
        <p:txBody>
          <a:bodyPr/>
          <a:lstStyle/>
          <a:p>
            <a:endParaRPr lang="LID4096"/>
          </a:p>
        </p:txBody>
      </p:sp>
      <p:sp>
        <p:nvSpPr>
          <p:cNvPr id="7" name="Shape 5"/>
          <p:cNvSpPr/>
          <p:nvPr/>
        </p:nvSpPr>
        <p:spPr>
          <a:xfrm>
            <a:off x="365760" y="1444752"/>
            <a:ext cx="3931920" cy="109728"/>
          </a:xfrm>
          <a:prstGeom prst="rect">
            <a:avLst/>
          </a:prstGeom>
          <a:solidFill>
            <a:srgbClr val="1A6FC4"/>
          </a:solidFill>
          <a:ln w="12700">
            <a:solidFill>
              <a:srgbClr val="1A6FC4"/>
            </a:solidFill>
            <a:prstDash val="solid"/>
          </a:ln>
        </p:spPr>
        <p:txBody>
          <a:bodyPr/>
          <a:lstStyle/>
          <a:p>
            <a:endParaRPr lang="LID4096"/>
          </a:p>
        </p:txBody>
      </p:sp>
      <p:sp>
        <p:nvSpPr>
          <p:cNvPr id="8" name="Text 6"/>
          <p:cNvSpPr/>
          <p:nvPr/>
        </p:nvSpPr>
        <p:spPr>
          <a:xfrm>
            <a:off x="457200" y="1161288"/>
            <a:ext cx="374904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Palatino Linotype" pitchFamily="34" charset="0"/>
                <a:ea typeface="Palatino Linotype" pitchFamily="34" charset="-122"/>
                <a:cs typeface="Palatino Linotype" pitchFamily="34" charset="-120"/>
              </a:rPr>
              <a:t>SKAB — Skoltech Anomaly Benchmark</a:t>
            </a:r>
            <a:endParaRPr lang="en-US" sz="1500" dirty="0"/>
          </a:p>
        </p:txBody>
      </p:sp>
      <p:sp>
        <p:nvSpPr>
          <p:cNvPr id="9" name="Text 7"/>
          <p:cNvSpPr/>
          <p:nvPr/>
        </p:nvSpPr>
        <p:spPr>
          <a:xfrm>
            <a:off x="502920" y="1737360"/>
            <a:ext cx="1097280" cy="411480"/>
          </a:xfrm>
          <a:prstGeom prst="rect">
            <a:avLst/>
          </a:prstGeom>
          <a:noFill/>
          <a:ln/>
        </p:spPr>
        <p:txBody>
          <a:bodyPr wrap="square" lIns="0" tIns="0" rIns="0" bIns="0" rtlCol="0" anchor="ctr"/>
          <a:lstStyle/>
          <a:p>
            <a:pPr marL="0" indent="0">
              <a:buNone/>
            </a:pPr>
            <a:r>
              <a:rPr lang="en-US" sz="1600" b="1" dirty="0">
                <a:solidFill>
                  <a:srgbClr val="1A6FC4"/>
                </a:solidFill>
                <a:latin typeface="Palatino Linotype" pitchFamily="34" charset="0"/>
                <a:ea typeface="Palatino Linotype" pitchFamily="34" charset="-122"/>
                <a:cs typeface="Palatino Linotype" pitchFamily="34" charset="-120"/>
              </a:rPr>
              <a:t>Source:</a:t>
            </a:r>
            <a:endParaRPr lang="en-US" sz="1600" dirty="0"/>
          </a:p>
        </p:txBody>
      </p:sp>
      <p:sp>
        <p:nvSpPr>
          <p:cNvPr id="10" name="Text 8"/>
          <p:cNvSpPr/>
          <p:nvPr/>
        </p:nvSpPr>
        <p:spPr>
          <a:xfrm>
            <a:off x="1600200" y="1737360"/>
            <a:ext cx="2560320" cy="411480"/>
          </a:xfrm>
          <a:prstGeom prst="rect">
            <a:avLst/>
          </a:prstGeom>
          <a:noFill/>
          <a:ln/>
        </p:spPr>
        <p:txBody>
          <a:bodyPr wrap="square" lIns="0" tIns="0" rIns="0" bIns="0" rtlCol="0" anchor="ctr"/>
          <a:lstStyle/>
          <a:p>
            <a:pPr marL="0" indent="0">
              <a:buNone/>
            </a:pPr>
            <a:r>
              <a:rPr lang="en-US" sz="1600" dirty="0">
                <a:solidFill>
                  <a:srgbClr val="1A202C"/>
                </a:solidFill>
                <a:latin typeface="Garamond" pitchFamily="34" charset="0"/>
                <a:ea typeface="Garamond" pitchFamily="34" charset="-122"/>
                <a:cs typeface="Garamond" pitchFamily="34" charset="-120"/>
              </a:rPr>
              <a:t>Industrial sensor testbed (multivariate)</a:t>
            </a:r>
            <a:endParaRPr lang="en-US" sz="1600" dirty="0"/>
          </a:p>
        </p:txBody>
      </p:sp>
      <p:sp>
        <p:nvSpPr>
          <p:cNvPr id="11" name="Text 9"/>
          <p:cNvSpPr/>
          <p:nvPr/>
        </p:nvSpPr>
        <p:spPr>
          <a:xfrm>
            <a:off x="502920" y="2258568"/>
            <a:ext cx="1097280" cy="411480"/>
          </a:xfrm>
          <a:prstGeom prst="rect">
            <a:avLst/>
          </a:prstGeom>
          <a:noFill/>
          <a:ln/>
        </p:spPr>
        <p:txBody>
          <a:bodyPr wrap="square" lIns="0" tIns="0" rIns="0" bIns="0" rtlCol="0" anchor="ctr"/>
          <a:lstStyle/>
          <a:p>
            <a:pPr marL="0" indent="0">
              <a:buNone/>
            </a:pPr>
            <a:r>
              <a:rPr lang="en-US" sz="1600" b="1" dirty="0">
                <a:solidFill>
                  <a:srgbClr val="1A6FC4"/>
                </a:solidFill>
                <a:latin typeface="Palatino Linotype" pitchFamily="34" charset="0"/>
                <a:ea typeface="Palatino Linotype" pitchFamily="34" charset="-122"/>
                <a:cs typeface="Palatino Linotype" pitchFamily="34" charset="-120"/>
              </a:rPr>
              <a:t>Train:</a:t>
            </a:r>
            <a:endParaRPr lang="en-US" sz="1600" dirty="0"/>
          </a:p>
        </p:txBody>
      </p:sp>
      <p:sp>
        <p:nvSpPr>
          <p:cNvPr id="12" name="Text 10"/>
          <p:cNvSpPr/>
          <p:nvPr/>
        </p:nvSpPr>
        <p:spPr>
          <a:xfrm>
            <a:off x="1600200" y="2258568"/>
            <a:ext cx="2560320" cy="411480"/>
          </a:xfrm>
          <a:prstGeom prst="rect">
            <a:avLst/>
          </a:prstGeom>
          <a:noFill/>
          <a:ln/>
        </p:spPr>
        <p:txBody>
          <a:bodyPr wrap="square" lIns="0" tIns="0" rIns="0" bIns="0" rtlCol="0" anchor="ctr"/>
          <a:lstStyle/>
          <a:p>
            <a:pPr marL="0" indent="0">
              <a:buNone/>
            </a:pPr>
            <a:r>
              <a:rPr lang="en-US" sz="1600" dirty="0">
                <a:solidFill>
                  <a:srgbClr val="1A202C"/>
                </a:solidFill>
                <a:latin typeface="Garamond" pitchFamily="34" charset="0"/>
                <a:ea typeface="Garamond" pitchFamily="34" charset="-122"/>
                <a:cs typeface="Garamond" pitchFamily="34" charset="-120"/>
              </a:rPr>
              <a:t>Anomaly-free recording</a:t>
            </a:r>
            <a:endParaRPr lang="en-US" sz="1600" dirty="0"/>
          </a:p>
        </p:txBody>
      </p:sp>
      <p:sp>
        <p:nvSpPr>
          <p:cNvPr id="13" name="Text 11"/>
          <p:cNvSpPr/>
          <p:nvPr/>
        </p:nvSpPr>
        <p:spPr>
          <a:xfrm>
            <a:off x="502920" y="2779776"/>
            <a:ext cx="1097280" cy="411480"/>
          </a:xfrm>
          <a:prstGeom prst="rect">
            <a:avLst/>
          </a:prstGeom>
          <a:noFill/>
          <a:ln/>
        </p:spPr>
        <p:txBody>
          <a:bodyPr wrap="square" lIns="0" tIns="0" rIns="0" bIns="0" rtlCol="0" anchor="ctr"/>
          <a:lstStyle/>
          <a:p>
            <a:pPr marL="0" indent="0">
              <a:buNone/>
            </a:pPr>
            <a:r>
              <a:rPr lang="en-US" sz="1600" b="1" dirty="0">
                <a:solidFill>
                  <a:srgbClr val="1A6FC4"/>
                </a:solidFill>
                <a:latin typeface="Palatino Linotype" pitchFamily="34" charset="0"/>
                <a:ea typeface="Palatino Linotype" pitchFamily="34" charset="-122"/>
                <a:cs typeface="Palatino Linotype" pitchFamily="34" charset="-120"/>
              </a:rPr>
              <a:t>Test:</a:t>
            </a:r>
            <a:endParaRPr lang="en-US" sz="1600" dirty="0"/>
          </a:p>
        </p:txBody>
      </p:sp>
      <p:sp>
        <p:nvSpPr>
          <p:cNvPr id="14" name="Text 12"/>
          <p:cNvSpPr/>
          <p:nvPr/>
        </p:nvSpPr>
        <p:spPr>
          <a:xfrm>
            <a:off x="1600200" y="2779776"/>
            <a:ext cx="2560320" cy="411480"/>
          </a:xfrm>
          <a:prstGeom prst="rect">
            <a:avLst/>
          </a:prstGeom>
          <a:noFill/>
          <a:ln/>
        </p:spPr>
        <p:txBody>
          <a:bodyPr wrap="square" lIns="0" tIns="0" rIns="0" bIns="0" rtlCol="0" anchor="ctr"/>
          <a:lstStyle/>
          <a:p>
            <a:pPr marL="0" indent="0">
              <a:buNone/>
            </a:pPr>
            <a:r>
              <a:rPr lang="en-US" sz="1600" dirty="0">
                <a:solidFill>
                  <a:srgbClr val="1A202C"/>
                </a:solidFill>
                <a:latin typeface="Garamond" pitchFamily="34" charset="0"/>
                <a:ea typeface="Garamond" pitchFamily="34" charset="-122"/>
                <a:cs typeface="Garamond" pitchFamily="34" charset="-120"/>
              </a:rPr>
              <a:t>valve1/1 — labeled fault scenario</a:t>
            </a:r>
            <a:endParaRPr lang="en-US" sz="1600" dirty="0"/>
          </a:p>
        </p:txBody>
      </p:sp>
      <p:sp>
        <p:nvSpPr>
          <p:cNvPr id="15" name="Text 13"/>
          <p:cNvSpPr/>
          <p:nvPr/>
        </p:nvSpPr>
        <p:spPr>
          <a:xfrm>
            <a:off x="502920" y="3300984"/>
            <a:ext cx="1097280" cy="411480"/>
          </a:xfrm>
          <a:prstGeom prst="rect">
            <a:avLst/>
          </a:prstGeom>
          <a:noFill/>
          <a:ln/>
        </p:spPr>
        <p:txBody>
          <a:bodyPr wrap="square" lIns="0" tIns="0" rIns="0" bIns="0" rtlCol="0" anchor="ctr"/>
          <a:lstStyle/>
          <a:p>
            <a:pPr marL="0" indent="0">
              <a:buNone/>
            </a:pPr>
            <a:r>
              <a:rPr lang="en-US" sz="1600" b="1" dirty="0">
                <a:solidFill>
                  <a:srgbClr val="1A6FC4"/>
                </a:solidFill>
                <a:latin typeface="Palatino Linotype" pitchFamily="34" charset="0"/>
                <a:ea typeface="Palatino Linotype" pitchFamily="34" charset="-122"/>
                <a:cs typeface="Palatino Linotype" pitchFamily="34" charset="-120"/>
              </a:rPr>
              <a:t>Anomaly:</a:t>
            </a:r>
            <a:endParaRPr lang="en-US" sz="1600" dirty="0"/>
          </a:p>
        </p:txBody>
      </p:sp>
      <p:sp>
        <p:nvSpPr>
          <p:cNvPr id="16" name="Text 14"/>
          <p:cNvSpPr/>
          <p:nvPr/>
        </p:nvSpPr>
        <p:spPr>
          <a:xfrm>
            <a:off x="1600200" y="3300984"/>
            <a:ext cx="2560320" cy="411480"/>
          </a:xfrm>
          <a:prstGeom prst="rect">
            <a:avLst/>
          </a:prstGeom>
          <a:noFill/>
          <a:ln/>
        </p:spPr>
        <p:txBody>
          <a:bodyPr wrap="square" lIns="0" tIns="0" rIns="0" bIns="0" rtlCol="0" anchor="ctr"/>
          <a:lstStyle/>
          <a:p>
            <a:pPr marL="0" indent="0">
              <a:buNone/>
            </a:pPr>
            <a:r>
              <a:rPr lang="en-US" sz="1600" dirty="0">
                <a:solidFill>
                  <a:srgbClr val="1A202C"/>
                </a:solidFill>
                <a:latin typeface="Garamond" pitchFamily="34" charset="0"/>
                <a:ea typeface="Garamond" pitchFamily="34" charset="-122"/>
                <a:cs typeface="Garamond" pitchFamily="34" charset="-120"/>
              </a:rPr>
              <a:t>Single collective fault event</a:t>
            </a:r>
            <a:endParaRPr lang="en-US" sz="1600" dirty="0"/>
          </a:p>
        </p:txBody>
      </p:sp>
      <p:sp>
        <p:nvSpPr>
          <p:cNvPr id="17" name="Text 15"/>
          <p:cNvSpPr/>
          <p:nvPr/>
        </p:nvSpPr>
        <p:spPr>
          <a:xfrm>
            <a:off x="502920" y="3822192"/>
            <a:ext cx="1097280" cy="411480"/>
          </a:xfrm>
          <a:prstGeom prst="rect">
            <a:avLst/>
          </a:prstGeom>
          <a:noFill/>
          <a:ln/>
        </p:spPr>
        <p:txBody>
          <a:bodyPr wrap="square" lIns="0" tIns="0" rIns="0" bIns="0" rtlCol="0" anchor="ctr"/>
          <a:lstStyle/>
          <a:p>
            <a:pPr marL="0" indent="0">
              <a:buNone/>
            </a:pPr>
            <a:r>
              <a:rPr lang="en-US" sz="1600" b="1" dirty="0">
                <a:solidFill>
                  <a:srgbClr val="1A6FC4"/>
                </a:solidFill>
                <a:latin typeface="Palatino Linotype" pitchFamily="34" charset="0"/>
                <a:ea typeface="Palatino Linotype" pitchFamily="34" charset="-122"/>
                <a:cs typeface="Palatino Linotype" pitchFamily="34" charset="-120"/>
              </a:rPr>
              <a:t>Challenge:</a:t>
            </a:r>
            <a:endParaRPr lang="en-US" sz="1600" dirty="0"/>
          </a:p>
        </p:txBody>
      </p:sp>
      <p:sp>
        <p:nvSpPr>
          <p:cNvPr id="18" name="Text 16"/>
          <p:cNvSpPr/>
          <p:nvPr/>
        </p:nvSpPr>
        <p:spPr>
          <a:xfrm>
            <a:off x="1600200" y="3822192"/>
            <a:ext cx="2560320" cy="411480"/>
          </a:xfrm>
          <a:prstGeom prst="rect">
            <a:avLst/>
          </a:prstGeom>
          <a:noFill/>
          <a:ln/>
        </p:spPr>
        <p:txBody>
          <a:bodyPr wrap="square" lIns="0" tIns="0" rIns="0" bIns="0" rtlCol="0" anchor="ctr"/>
          <a:lstStyle/>
          <a:p>
            <a:pPr marL="0" indent="0">
              <a:buNone/>
            </a:pPr>
            <a:r>
              <a:rPr lang="en-US" sz="1600" dirty="0">
                <a:solidFill>
                  <a:srgbClr val="1A202C"/>
                </a:solidFill>
                <a:latin typeface="Garamond" pitchFamily="34" charset="0"/>
                <a:ea typeface="Garamond" pitchFamily="34" charset="-122"/>
                <a:cs typeface="Garamond" pitchFamily="34" charset="-120"/>
              </a:rPr>
              <a:t>Clean normal→fault; warmup calibration</a:t>
            </a:r>
            <a:endParaRPr lang="en-US" sz="1600" dirty="0"/>
          </a:p>
        </p:txBody>
      </p:sp>
      <p:sp>
        <p:nvSpPr>
          <p:cNvPr id="19" name="Shape 17"/>
          <p:cNvSpPr/>
          <p:nvPr/>
        </p:nvSpPr>
        <p:spPr>
          <a:xfrm>
            <a:off x="4663440" y="1143000"/>
            <a:ext cx="4114800" cy="3657600"/>
          </a:xfrm>
          <a:prstGeom prst="rect">
            <a:avLst/>
          </a:prstGeom>
          <a:solidFill>
            <a:srgbClr val="E8F8F5"/>
          </a:solidFill>
          <a:ln w="12700">
            <a:solidFill>
              <a:srgbClr val="00B4A6"/>
            </a:solidFill>
            <a:prstDash val="solid"/>
          </a:ln>
          <a:effectLst>
            <a:outerShdw blurRad="101600" dist="25400" dir="8100000" algn="bl" rotWithShape="0">
              <a:srgbClr val="000000">
                <a:alpha val="9000"/>
              </a:srgbClr>
            </a:outerShdw>
          </a:effectLst>
        </p:spPr>
        <p:txBody>
          <a:bodyPr/>
          <a:lstStyle/>
          <a:p>
            <a:endParaRPr lang="LID4096"/>
          </a:p>
        </p:txBody>
      </p:sp>
      <p:sp>
        <p:nvSpPr>
          <p:cNvPr id="20" name="Shape 18"/>
          <p:cNvSpPr/>
          <p:nvPr/>
        </p:nvSpPr>
        <p:spPr>
          <a:xfrm>
            <a:off x="4663440" y="1143000"/>
            <a:ext cx="4114800" cy="411480"/>
          </a:xfrm>
          <a:prstGeom prst="rect">
            <a:avLst/>
          </a:prstGeom>
          <a:solidFill>
            <a:srgbClr val="00B4A6"/>
          </a:solidFill>
          <a:ln w="12700">
            <a:solidFill>
              <a:srgbClr val="00B4A6"/>
            </a:solidFill>
            <a:prstDash val="solid"/>
          </a:ln>
        </p:spPr>
        <p:txBody>
          <a:bodyPr/>
          <a:lstStyle/>
          <a:p>
            <a:endParaRPr lang="LID4096"/>
          </a:p>
        </p:txBody>
      </p:sp>
      <p:sp>
        <p:nvSpPr>
          <p:cNvPr id="21" name="Shape 19"/>
          <p:cNvSpPr/>
          <p:nvPr/>
        </p:nvSpPr>
        <p:spPr>
          <a:xfrm>
            <a:off x="4663440" y="1444752"/>
            <a:ext cx="4114800" cy="109728"/>
          </a:xfrm>
          <a:prstGeom prst="rect">
            <a:avLst/>
          </a:prstGeom>
          <a:solidFill>
            <a:srgbClr val="00B4A6"/>
          </a:solidFill>
          <a:ln w="12700">
            <a:solidFill>
              <a:srgbClr val="00B4A6"/>
            </a:solidFill>
            <a:prstDash val="solid"/>
          </a:ln>
        </p:spPr>
        <p:txBody>
          <a:bodyPr/>
          <a:lstStyle/>
          <a:p>
            <a:endParaRPr lang="LID4096"/>
          </a:p>
        </p:txBody>
      </p:sp>
      <p:sp>
        <p:nvSpPr>
          <p:cNvPr id="22" name="Text 20"/>
          <p:cNvSpPr/>
          <p:nvPr/>
        </p:nvSpPr>
        <p:spPr>
          <a:xfrm>
            <a:off x="4754880" y="1161288"/>
            <a:ext cx="393192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Palatino Linotype" pitchFamily="34" charset="0"/>
                <a:ea typeface="Palatino Linotype" pitchFamily="34" charset="-122"/>
                <a:cs typeface="Palatino Linotype" pitchFamily="34" charset="-120"/>
              </a:rPr>
              <a:t>NAB — 3 AWS CloudWatch Series</a:t>
            </a:r>
            <a:endParaRPr lang="en-US" sz="1500" dirty="0"/>
          </a:p>
        </p:txBody>
      </p:sp>
      <p:sp>
        <p:nvSpPr>
          <p:cNvPr id="23" name="Text 21"/>
          <p:cNvSpPr/>
          <p:nvPr/>
        </p:nvSpPr>
        <p:spPr>
          <a:xfrm>
            <a:off x="4800600" y="1737360"/>
            <a:ext cx="1188720" cy="411480"/>
          </a:xfrm>
          <a:prstGeom prst="rect">
            <a:avLst/>
          </a:prstGeom>
          <a:noFill/>
          <a:ln/>
        </p:spPr>
        <p:txBody>
          <a:bodyPr wrap="square" lIns="0" tIns="0" rIns="0" bIns="0" rtlCol="0" anchor="ctr"/>
          <a:lstStyle/>
          <a:p>
            <a:pPr marL="0" indent="0">
              <a:buNone/>
            </a:pPr>
            <a:r>
              <a:rPr lang="en-US" sz="1600" b="1" dirty="0">
                <a:solidFill>
                  <a:srgbClr val="00B4A6"/>
                </a:solidFill>
                <a:latin typeface="Palatino Linotype" pitchFamily="34" charset="0"/>
                <a:ea typeface="Palatino Linotype" pitchFamily="34" charset="-122"/>
                <a:cs typeface="Palatino Linotype" pitchFamily="34" charset="-120"/>
              </a:rPr>
              <a:t>Series:</a:t>
            </a:r>
            <a:endParaRPr lang="en-US" sz="1600" dirty="0"/>
          </a:p>
        </p:txBody>
      </p:sp>
      <p:sp>
        <p:nvSpPr>
          <p:cNvPr id="24" name="Text 22"/>
          <p:cNvSpPr/>
          <p:nvPr/>
        </p:nvSpPr>
        <p:spPr>
          <a:xfrm>
            <a:off x="5989320" y="1737360"/>
            <a:ext cx="2651760" cy="411480"/>
          </a:xfrm>
          <a:prstGeom prst="rect">
            <a:avLst/>
          </a:prstGeom>
          <a:noFill/>
          <a:ln/>
        </p:spPr>
        <p:txBody>
          <a:bodyPr wrap="square" lIns="0" tIns="0" rIns="0" bIns="0" rtlCol="0" anchor="ctr"/>
          <a:lstStyle/>
          <a:p>
            <a:pPr marL="0" indent="0">
              <a:buNone/>
            </a:pPr>
            <a:r>
              <a:rPr lang="en-US" sz="1600" dirty="0" err="1">
                <a:solidFill>
                  <a:srgbClr val="1A202C"/>
                </a:solidFill>
                <a:latin typeface="Garamond" pitchFamily="34" charset="0"/>
                <a:ea typeface="Garamond" pitchFamily="34" charset="-122"/>
                <a:cs typeface="Garamond" pitchFamily="34" charset="-120"/>
              </a:rPr>
              <a:t>rds_cpu</a:t>
            </a:r>
            <a:r>
              <a:rPr lang="en-US" sz="1600" dirty="0">
                <a:solidFill>
                  <a:srgbClr val="1A202C"/>
                </a:solidFill>
                <a:latin typeface="Garamond" pitchFamily="34" charset="0"/>
                <a:ea typeface="Garamond" pitchFamily="34" charset="-122"/>
                <a:cs typeface="Garamond" pitchFamily="34" charset="-120"/>
              </a:rPr>
              <a:t>  ·  ec2_cpu  ·  ec2_network</a:t>
            </a:r>
            <a:endParaRPr lang="en-US" sz="1600" dirty="0"/>
          </a:p>
        </p:txBody>
      </p:sp>
      <p:sp>
        <p:nvSpPr>
          <p:cNvPr id="25" name="Text 23"/>
          <p:cNvSpPr/>
          <p:nvPr/>
        </p:nvSpPr>
        <p:spPr>
          <a:xfrm>
            <a:off x="4800600" y="2258568"/>
            <a:ext cx="1188720" cy="411480"/>
          </a:xfrm>
          <a:prstGeom prst="rect">
            <a:avLst/>
          </a:prstGeom>
          <a:noFill/>
          <a:ln/>
        </p:spPr>
        <p:txBody>
          <a:bodyPr wrap="square" lIns="0" tIns="0" rIns="0" bIns="0" rtlCol="0" anchor="ctr"/>
          <a:lstStyle/>
          <a:p>
            <a:pPr marL="0" indent="0">
              <a:buNone/>
            </a:pPr>
            <a:r>
              <a:rPr lang="en-US" sz="1600" b="1" dirty="0">
                <a:solidFill>
                  <a:srgbClr val="00B4A6"/>
                </a:solidFill>
                <a:latin typeface="Palatino Linotype" pitchFamily="34" charset="0"/>
                <a:ea typeface="Palatino Linotype" pitchFamily="34" charset="-122"/>
                <a:cs typeface="Palatino Linotype" pitchFamily="34" charset="-120"/>
              </a:rPr>
              <a:t>Split:</a:t>
            </a:r>
            <a:endParaRPr lang="en-US" sz="1600" dirty="0"/>
          </a:p>
        </p:txBody>
      </p:sp>
      <p:sp>
        <p:nvSpPr>
          <p:cNvPr id="26" name="Text 24"/>
          <p:cNvSpPr/>
          <p:nvPr/>
        </p:nvSpPr>
        <p:spPr>
          <a:xfrm>
            <a:off x="5961888" y="2275924"/>
            <a:ext cx="2651760" cy="411480"/>
          </a:xfrm>
          <a:prstGeom prst="rect">
            <a:avLst/>
          </a:prstGeom>
          <a:noFill/>
          <a:ln/>
        </p:spPr>
        <p:txBody>
          <a:bodyPr wrap="square" lIns="0" tIns="0" rIns="0" bIns="0" rtlCol="0" anchor="ctr"/>
          <a:lstStyle/>
          <a:p>
            <a:pPr marL="0" indent="0">
              <a:buNone/>
            </a:pPr>
            <a:r>
              <a:rPr lang="en-US" sz="1600" dirty="0">
                <a:solidFill>
                  <a:srgbClr val="1A202C"/>
                </a:solidFill>
                <a:latin typeface="Garamond" pitchFamily="34" charset="0"/>
                <a:ea typeface="Garamond" pitchFamily="34" charset="-122"/>
                <a:cs typeface="Garamond" pitchFamily="34" charset="-120"/>
              </a:rPr>
              <a:t>70% train / 30% test (anomaly-aware)</a:t>
            </a:r>
            <a:endParaRPr lang="en-US" sz="1600" dirty="0"/>
          </a:p>
        </p:txBody>
      </p:sp>
      <p:sp>
        <p:nvSpPr>
          <p:cNvPr id="27" name="Text 25"/>
          <p:cNvSpPr/>
          <p:nvPr/>
        </p:nvSpPr>
        <p:spPr>
          <a:xfrm>
            <a:off x="4800600" y="2779776"/>
            <a:ext cx="1188720" cy="411480"/>
          </a:xfrm>
          <a:prstGeom prst="rect">
            <a:avLst/>
          </a:prstGeom>
          <a:noFill/>
          <a:ln/>
        </p:spPr>
        <p:txBody>
          <a:bodyPr wrap="square" lIns="0" tIns="0" rIns="0" bIns="0" rtlCol="0" anchor="ctr"/>
          <a:lstStyle/>
          <a:p>
            <a:pPr marL="0" indent="0">
              <a:buNone/>
            </a:pPr>
            <a:r>
              <a:rPr lang="en-US" sz="1600" b="1" dirty="0">
                <a:solidFill>
                  <a:srgbClr val="00B4A6"/>
                </a:solidFill>
                <a:latin typeface="Palatino Linotype" pitchFamily="34" charset="0"/>
                <a:ea typeface="Palatino Linotype" pitchFamily="34" charset="-122"/>
                <a:cs typeface="Palatino Linotype" pitchFamily="34" charset="-120"/>
              </a:rPr>
              <a:t>Exclusion:</a:t>
            </a:r>
            <a:endParaRPr lang="en-US" sz="1600" dirty="0"/>
          </a:p>
        </p:txBody>
      </p:sp>
      <p:sp>
        <p:nvSpPr>
          <p:cNvPr id="28" name="Text 26"/>
          <p:cNvSpPr/>
          <p:nvPr/>
        </p:nvSpPr>
        <p:spPr>
          <a:xfrm>
            <a:off x="5989320" y="2814489"/>
            <a:ext cx="2651760" cy="411480"/>
          </a:xfrm>
          <a:prstGeom prst="rect">
            <a:avLst/>
          </a:prstGeom>
          <a:noFill/>
          <a:ln/>
        </p:spPr>
        <p:txBody>
          <a:bodyPr wrap="square" lIns="0" tIns="0" rIns="0" bIns="0" rtlCol="0" anchor="ctr"/>
          <a:lstStyle/>
          <a:p>
            <a:pPr marL="0" indent="0">
              <a:buNone/>
            </a:pPr>
            <a:r>
              <a:rPr lang="en-US" sz="1600" dirty="0">
                <a:solidFill>
                  <a:srgbClr val="1A202C"/>
                </a:solidFill>
                <a:latin typeface="Garamond" pitchFamily="34" charset="0"/>
                <a:ea typeface="Garamond" pitchFamily="34" charset="-122"/>
                <a:cs typeface="Garamond" pitchFamily="34" charset="-120"/>
              </a:rPr>
              <a:t>Labeled anomaly windows excluded from train</a:t>
            </a:r>
            <a:endParaRPr lang="en-US" sz="1600" dirty="0"/>
          </a:p>
        </p:txBody>
      </p:sp>
      <p:sp>
        <p:nvSpPr>
          <p:cNvPr id="29" name="Text 27"/>
          <p:cNvSpPr/>
          <p:nvPr/>
        </p:nvSpPr>
        <p:spPr>
          <a:xfrm>
            <a:off x="4800600" y="3300984"/>
            <a:ext cx="1188720" cy="411480"/>
          </a:xfrm>
          <a:prstGeom prst="rect">
            <a:avLst/>
          </a:prstGeom>
          <a:noFill/>
          <a:ln/>
        </p:spPr>
        <p:txBody>
          <a:bodyPr wrap="square" lIns="0" tIns="0" rIns="0" bIns="0" rtlCol="0" anchor="ctr"/>
          <a:lstStyle/>
          <a:p>
            <a:pPr marL="0" indent="0">
              <a:buNone/>
            </a:pPr>
            <a:r>
              <a:rPr lang="en-US" sz="1600" b="1" dirty="0">
                <a:solidFill>
                  <a:srgbClr val="00B4A6"/>
                </a:solidFill>
                <a:latin typeface="Palatino Linotype" pitchFamily="34" charset="0"/>
                <a:ea typeface="Palatino Linotype" pitchFamily="34" charset="-122"/>
                <a:cs typeface="Palatino Linotype" pitchFamily="34" charset="-120"/>
              </a:rPr>
              <a:t>Anomaly:</a:t>
            </a:r>
            <a:endParaRPr lang="en-US" sz="1600" dirty="0"/>
          </a:p>
        </p:txBody>
      </p:sp>
      <p:sp>
        <p:nvSpPr>
          <p:cNvPr id="30" name="Text 28"/>
          <p:cNvSpPr/>
          <p:nvPr/>
        </p:nvSpPr>
        <p:spPr>
          <a:xfrm>
            <a:off x="5989320" y="3378708"/>
            <a:ext cx="2651760" cy="411480"/>
          </a:xfrm>
          <a:prstGeom prst="rect">
            <a:avLst/>
          </a:prstGeom>
          <a:noFill/>
          <a:ln/>
        </p:spPr>
        <p:txBody>
          <a:bodyPr wrap="square" lIns="0" tIns="0" rIns="0" bIns="0" rtlCol="0" anchor="ctr"/>
          <a:lstStyle/>
          <a:p>
            <a:pPr marL="0" indent="0">
              <a:buNone/>
            </a:pPr>
            <a:r>
              <a:rPr lang="en-US" sz="1600" dirty="0">
                <a:solidFill>
                  <a:srgbClr val="1A202C"/>
                </a:solidFill>
                <a:latin typeface="Garamond" pitchFamily="34" charset="0"/>
                <a:ea typeface="Garamond" pitchFamily="34" charset="-122"/>
                <a:cs typeface="Garamond" pitchFamily="34" charset="-120"/>
              </a:rPr>
              <a:t>Cloud-style drifts &amp; spikes (univariate)</a:t>
            </a:r>
            <a:endParaRPr lang="en-US" sz="1600" dirty="0"/>
          </a:p>
        </p:txBody>
      </p:sp>
      <p:sp>
        <p:nvSpPr>
          <p:cNvPr id="31" name="Text 29"/>
          <p:cNvSpPr/>
          <p:nvPr/>
        </p:nvSpPr>
        <p:spPr>
          <a:xfrm>
            <a:off x="4800600" y="3822192"/>
            <a:ext cx="1188720" cy="411480"/>
          </a:xfrm>
          <a:prstGeom prst="rect">
            <a:avLst/>
          </a:prstGeom>
          <a:noFill/>
          <a:ln/>
        </p:spPr>
        <p:txBody>
          <a:bodyPr wrap="square" lIns="0" tIns="0" rIns="0" bIns="0" rtlCol="0" anchor="ctr"/>
          <a:lstStyle/>
          <a:p>
            <a:pPr marL="0" indent="0">
              <a:buNone/>
            </a:pPr>
            <a:r>
              <a:rPr lang="en-US" sz="1600" b="1" dirty="0">
                <a:solidFill>
                  <a:srgbClr val="00B4A6"/>
                </a:solidFill>
                <a:latin typeface="Palatino Linotype" pitchFamily="34" charset="0"/>
                <a:ea typeface="Palatino Linotype" pitchFamily="34" charset="-122"/>
                <a:cs typeface="Palatino Linotype" pitchFamily="34" charset="-120"/>
              </a:rPr>
              <a:t>Challenge:</a:t>
            </a:r>
            <a:endParaRPr lang="en-US" sz="1600" dirty="0"/>
          </a:p>
        </p:txBody>
      </p:sp>
      <p:sp>
        <p:nvSpPr>
          <p:cNvPr id="32" name="Text 30"/>
          <p:cNvSpPr/>
          <p:nvPr/>
        </p:nvSpPr>
        <p:spPr>
          <a:xfrm>
            <a:off x="5989320" y="3931920"/>
            <a:ext cx="2651760" cy="411480"/>
          </a:xfrm>
          <a:prstGeom prst="rect">
            <a:avLst/>
          </a:prstGeom>
          <a:noFill/>
          <a:ln/>
        </p:spPr>
        <p:txBody>
          <a:bodyPr wrap="square" lIns="0" tIns="0" rIns="0" bIns="0" rtlCol="0" anchor="ctr"/>
          <a:lstStyle/>
          <a:p>
            <a:pPr marL="0" indent="0">
              <a:buNone/>
            </a:pPr>
            <a:r>
              <a:rPr lang="en-US" sz="1600" dirty="0">
                <a:solidFill>
                  <a:srgbClr val="1A202C"/>
                </a:solidFill>
                <a:latin typeface="Garamond" pitchFamily="34" charset="0"/>
                <a:ea typeface="Garamond" pitchFamily="34" charset="-122"/>
                <a:cs typeface="Garamond" pitchFamily="34" charset="-120"/>
              </a:rPr>
              <a:t>Noise, non-stationarity, concept drift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a:effectLst/>
      </p:bgPr>
    </p:bg>
    <p:spTree>
      <p:nvGrpSpPr>
        <p:cNvPr id="1" name=""/>
        <p:cNvGrpSpPr/>
        <p:nvPr/>
      </p:nvGrpSpPr>
      <p:grpSpPr>
        <a:xfrm>
          <a:off x="0" y="0"/>
          <a:ext cx="0" cy="0"/>
          <a:chOff x="0" y="0"/>
          <a:chExt cx="0" cy="0"/>
        </a:xfrm>
      </p:grpSpPr>
      <p:sp>
        <p:nvSpPr>
          <p:cNvPr id="3" name="Text 1"/>
          <p:cNvSpPr/>
          <p:nvPr/>
        </p:nvSpPr>
        <p:spPr>
          <a:xfrm>
            <a:off x="566928" y="173736"/>
            <a:ext cx="8321040" cy="540000"/>
          </a:xfrm>
          <a:prstGeom prst="rect">
            <a:avLst/>
          </a:prstGeom>
          <a:noFill/>
          <a:ln/>
        </p:spPr>
        <p:txBody>
          <a:bodyPr wrap="square" lIns="0" tIns="0" rIns="0" bIns="0" rtlCol="0" anchor="ctr"/>
          <a:lstStyle/>
          <a:p>
            <a:pPr marL="0" indent="0" algn="ctr">
              <a:buNone/>
            </a:pPr>
            <a:r>
              <a:rPr lang="en-US" sz="2600" b="1" dirty="0">
                <a:solidFill>
                  <a:srgbClr val="0A2342"/>
                </a:solidFill>
                <a:latin typeface="Palatino Linotype" pitchFamily="34" charset="0"/>
                <a:ea typeface="Palatino Linotype" pitchFamily="34" charset="-122"/>
                <a:cs typeface="Palatino Linotype" pitchFamily="34" charset="-120"/>
              </a:rPr>
              <a:t>Software Architecture</a:t>
            </a:r>
            <a:endParaRPr lang="en-US" sz="2600" dirty="0"/>
          </a:p>
        </p:txBody>
      </p:sp>
      <p:pic>
        <p:nvPicPr>
          <p:cNvPr id="5" name="Image 0" descr="/home/claude/architecture_svg.png"/>
          <p:cNvPicPr>
            <a:picLocks noChangeAspect="1"/>
          </p:cNvPicPr>
          <p:nvPr/>
        </p:nvPicPr>
        <p:blipFill>
          <a:blip r:embed="rId3"/>
          <a:stretch>
            <a:fillRect/>
          </a:stretch>
        </p:blipFill>
        <p:spPr>
          <a:xfrm>
            <a:off x="0" y="722376"/>
            <a:ext cx="9144000" cy="4421124"/>
          </a:xfrm>
          <a:prstGeom prst="rect">
            <a:avLst/>
          </a:prstGeom>
        </p:spPr>
      </p:pic>
      <p:sp>
        <p:nvSpPr>
          <p:cNvPr id="7" name="Shape 0">
            <a:extLst>
              <a:ext uri="{FF2B5EF4-FFF2-40B4-BE49-F238E27FC236}">
                <a16:creationId xmlns:a16="http://schemas.microsoft.com/office/drawing/2014/main" id="{F9B6F9C0-8E8A-E15A-A73C-8E7234DEDBF4}"/>
              </a:ext>
            </a:extLst>
          </p:cNvPr>
          <p:cNvSpPr/>
          <p:nvPr/>
        </p:nvSpPr>
        <p:spPr>
          <a:xfrm rot="5400000">
            <a:off x="4536000" y="-366264"/>
            <a:ext cx="72000" cy="2160000"/>
          </a:xfrm>
          <a:prstGeom prst="rect">
            <a:avLst/>
          </a:prstGeom>
          <a:solidFill>
            <a:srgbClr val="29ABE2"/>
          </a:solidFill>
          <a:ln w="12700">
            <a:solidFill>
              <a:srgbClr val="29ABE2"/>
            </a:solidFill>
            <a:prstDash val="solid"/>
          </a:ln>
        </p:spPr>
        <p:txBody>
          <a:bodyPr/>
          <a:lstStyle/>
          <a:p>
            <a:endParaRPr lang="LID4096"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28600"/>
            <a:ext cx="64008" cy="530352"/>
          </a:xfrm>
          <a:prstGeom prst="rect">
            <a:avLst/>
          </a:prstGeom>
          <a:solidFill>
            <a:srgbClr val="29ABE2"/>
          </a:solidFill>
          <a:ln w="12700">
            <a:solidFill>
              <a:srgbClr val="29ABE2"/>
            </a:solidFill>
            <a:prstDash val="solid"/>
          </a:ln>
        </p:spPr>
        <p:txBody>
          <a:bodyPr/>
          <a:lstStyle/>
          <a:p>
            <a:endParaRPr lang="LID4096"/>
          </a:p>
        </p:txBody>
      </p:sp>
      <p:sp>
        <p:nvSpPr>
          <p:cNvPr id="3" name="Text 1"/>
          <p:cNvSpPr/>
          <p:nvPr/>
        </p:nvSpPr>
        <p:spPr>
          <a:xfrm>
            <a:off x="566928" y="173736"/>
            <a:ext cx="8321040" cy="548640"/>
          </a:xfrm>
          <a:prstGeom prst="rect">
            <a:avLst/>
          </a:prstGeom>
          <a:noFill/>
          <a:ln/>
        </p:spPr>
        <p:txBody>
          <a:bodyPr wrap="square" lIns="0" tIns="0" rIns="0" bIns="0" rtlCol="0" anchor="ctr"/>
          <a:lstStyle/>
          <a:p>
            <a:pPr marL="0" indent="0">
              <a:buNone/>
            </a:pPr>
            <a:r>
              <a:rPr lang="en-US" sz="2600" b="1" dirty="0">
                <a:solidFill>
                  <a:srgbClr val="0A2342"/>
                </a:solidFill>
                <a:latin typeface="Palatino Linotype" pitchFamily="34" charset="0"/>
                <a:ea typeface="Palatino Linotype" pitchFamily="34" charset="-122"/>
                <a:cs typeface="Palatino Linotype" pitchFamily="34" charset="-120"/>
              </a:rPr>
              <a:t>Preprocessing Pipeline</a:t>
            </a:r>
            <a:endParaRPr lang="en-US" sz="2600" dirty="0"/>
          </a:p>
        </p:txBody>
      </p:sp>
      <p:sp>
        <p:nvSpPr>
          <p:cNvPr id="4" name="Text 2"/>
          <p:cNvSpPr/>
          <p:nvPr/>
        </p:nvSpPr>
        <p:spPr>
          <a:xfrm>
            <a:off x="566928" y="731520"/>
            <a:ext cx="8046720" cy="274320"/>
          </a:xfrm>
          <a:prstGeom prst="rect">
            <a:avLst/>
          </a:prstGeom>
          <a:noFill/>
          <a:ln/>
        </p:spPr>
        <p:txBody>
          <a:bodyPr wrap="square" lIns="0" tIns="0" rIns="0" bIns="0" rtlCol="0" anchor="ctr"/>
          <a:lstStyle/>
          <a:p>
            <a:pPr marL="0" indent="0">
              <a:buNone/>
            </a:pPr>
            <a:r>
              <a:rPr lang="en-US" sz="1400" dirty="0">
                <a:solidFill>
                  <a:srgbClr val="64748B"/>
                </a:solidFill>
                <a:latin typeface="Garamond" pitchFamily="34" charset="0"/>
                <a:ea typeface="Garamond" pitchFamily="34" charset="-122"/>
                <a:cs typeface="Garamond" pitchFamily="34" charset="-120"/>
              </a:rPr>
              <a:t>All steps configurable via YAML.</a:t>
            </a:r>
            <a:endParaRPr lang="en-US" sz="1400" dirty="0"/>
          </a:p>
        </p:txBody>
      </p:sp>
      <p:sp>
        <p:nvSpPr>
          <p:cNvPr id="5" name="Shape 3"/>
          <p:cNvSpPr/>
          <p:nvPr/>
        </p:nvSpPr>
        <p:spPr>
          <a:xfrm>
            <a:off x="411480" y="1188720"/>
            <a:ext cx="1554480" cy="2514600"/>
          </a:xfrm>
          <a:prstGeom prst="rect">
            <a:avLst/>
          </a:prstGeom>
          <a:solidFill>
            <a:srgbClr val="EEF4FB"/>
          </a:solidFill>
          <a:ln w="19050">
            <a:solidFill>
              <a:srgbClr val="0A2342"/>
            </a:solidFill>
            <a:prstDash val="solid"/>
          </a:ln>
          <a:effectLst>
            <a:outerShdw blurRad="101600" dist="25400" dir="8100000" algn="bl" rotWithShape="0">
              <a:srgbClr val="000000">
                <a:alpha val="9000"/>
              </a:srgbClr>
            </a:outerShdw>
          </a:effectLst>
        </p:spPr>
        <p:txBody>
          <a:bodyPr/>
          <a:lstStyle/>
          <a:p>
            <a:endParaRPr lang="LID4096"/>
          </a:p>
        </p:txBody>
      </p:sp>
      <p:sp>
        <p:nvSpPr>
          <p:cNvPr id="6" name="Shape 4"/>
          <p:cNvSpPr/>
          <p:nvPr/>
        </p:nvSpPr>
        <p:spPr>
          <a:xfrm>
            <a:off x="411480" y="1188720"/>
            <a:ext cx="1554480" cy="73152"/>
          </a:xfrm>
          <a:prstGeom prst="rect">
            <a:avLst/>
          </a:prstGeom>
          <a:solidFill>
            <a:srgbClr val="0A2342"/>
          </a:solidFill>
          <a:ln w="12700">
            <a:solidFill>
              <a:srgbClr val="0A2342"/>
            </a:solidFill>
            <a:prstDash val="solid"/>
          </a:ln>
        </p:spPr>
        <p:txBody>
          <a:bodyPr/>
          <a:lstStyle/>
          <a:p>
            <a:endParaRPr lang="LID4096"/>
          </a:p>
        </p:txBody>
      </p:sp>
      <p:sp>
        <p:nvSpPr>
          <p:cNvPr id="7" name="Text 5"/>
          <p:cNvSpPr/>
          <p:nvPr/>
        </p:nvSpPr>
        <p:spPr>
          <a:xfrm>
            <a:off x="411480" y="1261872"/>
            <a:ext cx="1554480" cy="457200"/>
          </a:xfrm>
          <a:prstGeom prst="rect">
            <a:avLst/>
          </a:prstGeom>
          <a:noFill/>
          <a:ln/>
        </p:spPr>
        <p:txBody>
          <a:bodyPr wrap="square" lIns="0" tIns="0" rIns="0" bIns="0" rtlCol="0" anchor="ctr"/>
          <a:lstStyle/>
          <a:p>
            <a:pPr marL="0" indent="0" algn="ctr">
              <a:buNone/>
            </a:pPr>
            <a:r>
              <a:rPr lang="en-US" sz="2200" b="1" dirty="0">
                <a:solidFill>
                  <a:srgbClr val="0A2342"/>
                </a:solidFill>
                <a:latin typeface="Palatino Linotype" pitchFamily="34" charset="0"/>
                <a:ea typeface="Palatino Linotype" pitchFamily="34" charset="-122"/>
                <a:cs typeface="Palatino Linotype" pitchFamily="34" charset="-120"/>
              </a:rPr>
              <a:t>①</a:t>
            </a:r>
            <a:endParaRPr lang="en-US" sz="2200" dirty="0"/>
          </a:p>
        </p:txBody>
      </p:sp>
      <p:sp>
        <p:nvSpPr>
          <p:cNvPr id="8" name="Text 6"/>
          <p:cNvSpPr/>
          <p:nvPr/>
        </p:nvSpPr>
        <p:spPr>
          <a:xfrm>
            <a:off x="484632" y="1737360"/>
            <a:ext cx="1408176" cy="594360"/>
          </a:xfrm>
          <a:prstGeom prst="rect">
            <a:avLst/>
          </a:prstGeom>
          <a:noFill/>
          <a:ln/>
        </p:spPr>
        <p:txBody>
          <a:bodyPr wrap="square" lIns="0" tIns="0" rIns="0" bIns="0" rtlCol="0" anchor="ctr"/>
          <a:lstStyle/>
          <a:p>
            <a:pPr marL="0" indent="0" algn="ctr">
              <a:lnSpc>
                <a:spcPct val="115000"/>
              </a:lnSpc>
              <a:buNone/>
            </a:pPr>
            <a:r>
              <a:rPr lang="en-US" sz="1300" b="1" dirty="0">
                <a:solidFill>
                  <a:srgbClr val="0A2342"/>
                </a:solidFill>
                <a:latin typeface="Palatino Linotype" pitchFamily="34" charset="0"/>
                <a:ea typeface="Palatino Linotype" pitchFamily="34" charset="-122"/>
                <a:cs typeface="Palatino Linotype" pitchFamily="34" charset="-120"/>
              </a:rPr>
              <a:t>Timestamp</a:t>
            </a:r>
            <a:endParaRPr lang="en-US" sz="1300" dirty="0"/>
          </a:p>
          <a:p>
            <a:pPr marL="0" indent="0" algn="ctr">
              <a:lnSpc>
                <a:spcPct val="115000"/>
              </a:lnSpc>
              <a:buNone/>
            </a:pPr>
            <a:r>
              <a:rPr lang="en-US" sz="1300" b="1" dirty="0">
                <a:solidFill>
                  <a:srgbClr val="0A2342"/>
                </a:solidFill>
                <a:latin typeface="Palatino Linotype" pitchFamily="34" charset="0"/>
                <a:ea typeface="Palatino Linotype" pitchFamily="34" charset="-122"/>
                <a:cs typeface="Palatino Linotype" pitchFamily="34" charset="-120"/>
              </a:rPr>
              <a:t>Sort</a:t>
            </a:r>
            <a:endParaRPr lang="en-US" sz="1300" dirty="0"/>
          </a:p>
        </p:txBody>
      </p:sp>
      <p:sp>
        <p:nvSpPr>
          <p:cNvPr id="9" name="Text 7"/>
          <p:cNvSpPr/>
          <p:nvPr/>
        </p:nvSpPr>
        <p:spPr>
          <a:xfrm>
            <a:off x="502920" y="2395728"/>
            <a:ext cx="1371600" cy="1188720"/>
          </a:xfrm>
          <a:prstGeom prst="rect">
            <a:avLst/>
          </a:prstGeom>
          <a:noFill/>
          <a:ln/>
        </p:spPr>
        <p:txBody>
          <a:bodyPr wrap="square" lIns="0" tIns="0" rIns="0" bIns="0" rtlCol="0" anchor="ctr"/>
          <a:lstStyle/>
          <a:p>
            <a:pPr marL="0" indent="0" algn="ctr">
              <a:lnSpc>
                <a:spcPct val="130000"/>
              </a:lnSpc>
              <a:buNone/>
            </a:pPr>
            <a:r>
              <a:rPr lang="en-US" sz="1400" dirty="0">
                <a:solidFill>
                  <a:srgbClr val="1A202C"/>
                </a:solidFill>
                <a:latin typeface="Garamond" pitchFamily="34" charset="0"/>
                <a:ea typeface="Garamond" pitchFamily="34" charset="-122"/>
                <a:cs typeface="Garamond" pitchFamily="34" charset="-120"/>
              </a:rPr>
              <a:t>Ensure chronological order</a:t>
            </a:r>
            <a:endParaRPr lang="en-US" sz="1400" dirty="0"/>
          </a:p>
        </p:txBody>
      </p:sp>
      <p:sp>
        <p:nvSpPr>
          <p:cNvPr id="10" name="Text 8"/>
          <p:cNvSpPr/>
          <p:nvPr/>
        </p:nvSpPr>
        <p:spPr>
          <a:xfrm>
            <a:off x="1920240" y="2066544"/>
            <a:ext cx="219456" cy="201168"/>
          </a:xfrm>
          <a:prstGeom prst="rect">
            <a:avLst/>
          </a:prstGeom>
          <a:noFill/>
          <a:ln/>
        </p:spPr>
        <p:txBody>
          <a:bodyPr wrap="square" rtlCol="0" anchor="ctr"/>
          <a:lstStyle/>
          <a:p>
            <a:pPr marL="0" indent="0" algn="ctr">
              <a:buNone/>
            </a:pPr>
            <a:r>
              <a:rPr lang="en-US" sz="1500" dirty="0">
                <a:solidFill>
                  <a:srgbClr val="64748B"/>
                </a:solidFill>
              </a:rPr>
              <a:t>›</a:t>
            </a:r>
            <a:endParaRPr lang="en-US" sz="1500" dirty="0"/>
          </a:p>
        </p:txBody>
      </p:sp>
      <p:sp>
        <p:nvSpPr>
          <p:cNvPr id="11" name="Shape 9"/>
          <p:cNvSpPr/>
          <p:nvPr/>
        </p:nvSpPr>
        <p:spPr>
          <a:xfrm>
            <a:off x="2093976" y="1188720"/>
            <a:ext cx="1554480" cy="2514600"/>
          </a:xfrm>
          <a:prstGeom prst="rect">
            <a:avLst/>
          </a:prstGeom>
          <a:solidFill>
            <a:srgbClr val="EEF4FB"/>
          </a:solidFill>
          <a:ln w="19050">
            <a:solidFill>
              <a:srgbClr val="1A6FC4"/>
            </a:solidFill>
            <a:prstDash val="solid"/>
          </a:ln>
          <a:effectLst>
            <a:outerShdw blurRad="101600" dist="25400" dir="8100000" algn="bl" rotWithShape="0">
              <a:srgbClr val="000000">
                <a:alpha val="9000"/>
              </a:srgbClr>
            </a:outerShdw>
          </a:effectLst>
        </p:spPr>
        <p:txBody>
          <a:bodyPr/>
          <a:lstStyle/>
          <a:p>
            <a:endParaRPr lang="LID4096"/>
          </a:p>
        </p:txBody>
      </p:sp>
      <p:sp>
        <p:nvSpPr>
          <p:cNvPr id="12" name="Shape 10"/>
          <p:cNvSpPr/>
          <p:nvPr/>
        </p:nvSpPr>
        <p:spPr>
          <a:xfrm>
            <a:off x="2093976" y="1188720"/>
            <a:ext cx="1554480" cy="73152"/>
          </a:xfrm>
          <a:prstGeom prst="rect">
            <a:avLst/>
          </a:prstGeom>
          <a:solidFill>
            <a:srgbClr val="1A6FC4"/>
          </a:solidFill>
          <a:ln w="12700">
            <a:solidFill>
              <a:srgbClr val="1A6FC4"/>
            </a:solidFill>
            <a:prstDash val="solid"/>
          </a:ln>
        </p:spPr>
        <p:txBody>
          <a:bodyPr/>
          <a:lstStyle/>
          <a:p>
            <a:endParaRPr lang="LID4096"/>
          </a:p>
        </p:txBody>
      </p:sp>
      <p:sp>
        <p:nvSpPr>
          <p:cNvPr id="13" name="Text 11"/>
          <p:cNvSpPr/>
          <p:nvPr/>
        </p:nvSpPr>
        <p:spPr>
          <a:xfrm>
            <a:off x="2093976" y="1261872"/>
            <a:ext cx="1554480" cy="457200"/>
          </a:xfrm>
          <a:prstGeom prst="rect">
            <a:avLst/>
          </a:prstGeom>
          <a:noFill/>
          <a:ln/>
        </p:spPr>
        <p:txBody>
          <a:bodyPr wrap="square" lIns="0" tIns="0" rIns="0" bIns="0" rtlCol="0" anchor="ctr"/>
          <a:lstStyle/>
          <a:p>
            <a:pPr marL="0" indent="0" algn="ctr">
              <a:buNone/>
            </a:pPr>
            <a:r>
              <a:rPr lang="en-US" sz="2200" b="1" dirty="0">
                <a:solidFill>
                  <a:srgbClr val="1A6FC4"/>
                </a:solidFill>
                <a:latin typeface="Palatino Linotype" pitchFamily="34" charset="0"/>
                <a:ea typeface="Palatino Linotype" pitchFamily="34" charset="-122"/>
                <a:cs typeface="Palatino Linotype" pitchFamily="34" charset="-120"/>
              </a:rPr>
              <a:t>②</a:t>
            </a:r>
            <a:endParaRPr lang="en-US" sz="2200" dirty="0"/>
          </a:p>
        </p:txBody>
      </p:sp>
      <p:sp>
        <p:nvSpPr>
          <p:cNvPr id="14" name="Text 12"/>
          <p:cNvSpPr/>
          <p:nvPr/>
        </p:nvSpPr>
        <p:spPr>
          <a:xfrm>
            <a:off x="2167128" y="1737360"/>
            <a:ext cx="1408176" cy="594360"/>
          </a:xfrm>
          <a:prstGeom prst="rect">
            <a:avLst/>
          </a:prstGeom>
          <a:noFill/>
          <a:ln/>
        </p:spPr>
        <p:txBody>
          <a:bodyPr wrap="square" lIns="0" tIns="0" rIns="0" bIns="0" rtlCol="0" anchor="ctr"/>
          <a:lstStyle/>
          <a:p>
            <a:pPr marL="0" indent="0" algn="ctr">
              <a:lnSpc>
                <a:spcPct val="115000"/>
              </a:lnSpc>
              <a:buNone/>
            </a:pPr>
            <a:r>
              <a:rPr lang="en-US" sz="1300" b="1" dirty="0">
                <a:solidFill>
                  <a:srgbClr val="0A2342"/>
                </a:solidFill>
                <a:latin typeface="Palatino Linotype" pitchFamily="34" charset="0"/>
                <a:ea typeface="Palatino Linotype" pitchFamily="34" charset="-122"/>
                <a:cs typeface="Palatino Linotype" pitchFamily="34" charset="-120"/>
              </a:rPr>
              <a:t>Resample</a:t>
            </a:r>
            <a:endParaRPr lang="en-US" sz="1300" dirty="0"/>
          </a:p>
          <a:p>
            <a:pPr marL="0" indent="0" algn="ctr">
              <a:lnSpc>
                <a:spcPct val="115000"/>
              </a:lnSpc>
              <a:buNone/>
            </a:pPr>
            <a:r>
              <a:rPr lang="en-US" sz="1300" b="1" dirty="0">
                <a:solidFill>
                  <a:srgbClr val="0A2342"/>
                </a:solidFill>
                <a:latin typeface="Palatino Linotype" pitchFamily="34" charset="0"/>
                <a:ea typeface="Palatino Linotype" pitchFamily="34" charset="-122"/>
                <a:cs typeface="Palatino Linotype" pitchFamily="34" charset="-120"/>
              </a:rPr>
              <a:t>&amp; Fill</a:t>
            </a:r>
            <a:endParaRPr lang="en-US" sz="1300" dirty="0"/>
          </a:p>
        </p:txBody>
      </p:sp>
      <p:sp>
        <p:nvSpPr>
          <p:cNvPr id="15" name="Text 13"/>
          <p:cNvSpPr/>
          <p:nvPr/>
        </p:nvSpPr>
        <p:spPr>
          <a:xfrm>
            <a:off x="2185416" y="2395728"/>
            <a:ext cx="1371600" cy="1188720"/>
          </a:xfrm>
          <a:prstGeom prst="rect">
            <a:avLst/>
          </a:prstGeom>
          <a:noFill/>
          <a:ln/>
        </p:spPr>
        <p:txBody>
          <a:bodyPr wrap="square" lIns="0" tIns="0" rIns="0" bIns="0" rtlCol="0" anchor="ctr"/>
          <a:lstStyle/>
          <a:p>
            <a:pPr marL="0" indent="0" algn="ctr">
              <a:lnSpc>
                <a:spcPct val="130000"/>
              </a:lnSpc>
              <a:buNone/>
            </a:pPr>
            <a:r>
              <a:rPr lang="en-US" sz="1400" dirty="0">
                <a:solidFill>
                  <a:srgbClr val="1A202C"/>
                </a:solidFill>
                <a:latin typeface="Garamond" pitchFamily="34" charset="0"/>
                <a:ea typeface="Garamond" pitchFamily="34" charset="-122"/>
                <a:cs typeface="Garamond" pitchFamily="34" charset="-120"/>
              </a:rPr>
              <a:t>Linear interpolate + forward fill residual NaN</a:t>
            </a:r>
            <a:endParaRPr lang="en-US" sz="1400" dirty="0"/>
          </a:p>
        </p:txBody>
      </p:sp>
      <p:sp>
        <p:nvSpPr>
          <p:cNvPr id="16" name="Text 14"/>
          <p:cNvSpPr/>
          <p:nvPr/>
        </p:nvSpPr>
        <p:spPr>
          <a:xfrm>
            <a:off x="3602736" y="2066544"/>
            <a:ext cx="219456" cy="201168"/>
          </a:xfrm>
          <a:prstGeom prst="rect">
            <a:avLst/>
          </a:prstGeom>
          <a:noFill/>
          <a:ln/>
        </p:spPr>
        <p:txBody>
          <a:bodyPr wrap="square" rtlCol="0" anchor="ctr"/>
          <a:lstStyle/>
          <a:p>
            <a:pPr marL="0" indent="0" algn="ctr">
              <a:buNone/>
            </a:pPr>
            <a:r>
              <a:rPr lang="en-US" sz="1500" dirty="0">
                <a:solidFill>
                  <a:srgbClr val="64748B"/>
                </a:solidFill>
              </a:rPr>
              <a:t>›</a:t>
            </a:r>
            <a:endParaRPr lang="en-US" sz="1500" dirty="0"/>
          </a:p>
        </p:txBody>
      </p:sp>
      <p:sp>
        <p:nvSpPr>
          <p:cNvPr id="17" name="Shape 15"/>
          <p:cNvSpPr/>
          <p:nvPr/>
        </p:nvSpPr>
        <p:spPr>
          <a:xfrm>
            <a:off x="3776472" y="1188720"/>
            <a:ext cx="1554480" cy="2514600"/>
          </a:xfrm>
          <a:prstGeom prst="rect">
            <a:avLst/>
          </a:prstGeom>
          <a:solidFill>
            <a:srgbClr val="EEF4FB"/>
          </a:solidFill>
          <a:ln w="19050">
            <a:solidFill>
              <a:srgbClr val="00B4A6"/>
            </a:solidFill>
            <a:prstDash val="solid"/>
          </a:ln>
          <a:effectLst>
            <a:outerShdw blurRad="101600" dist="25400" dir="8100000" algn="bl" rotWithShape="0">
              <a:srgbClr val="000000">
                <a:alpha val="9000"/>
              </a:srgbClr>
            </a:outerShdw>
          </a:effectLst>
        </p:spPr>
        <p:txBody>
          <a:bodyPr/>
          <a:lstStyle/>
          <a:p>
            <a:endParaRPr lang="LID4096"/>
          </a:p>
        </p:txBody>
      </p:sp>
      <p:sp>
        <p:nvSpPr>
          <p:cNvPr id="18" name="Shape 16"/>
          <p:cNvSpPr/>
          <p:nvPr/>
        </p:nvSpPr>
        <p:spPr>
          <a:xfrm>
            <a:off x="3776472" y="1188720"/>
            <a:ext cx="1554480" cy="73152"/>
          </a:xfrm>
          <a:prstGeom prst="rect">
            <a:avLst/>
          </a:prstGeom>
          <a:solidFill>
            <a:srgbClr val="00B4A6"/>
          </a:solidFill>
          <a:ln w="12700">
            <a:solidFill>
              <a:srgbClr val="00B4A6"/>
            </a:solidFill>
            <a:prstDash val="solid"/>
          </a:ln>
        </p:spPr>
        <p:txBody>
          <a:bodyPr/>
          <a:lstStyle/>
          <a:p>
            <a:endParaRPr lang="LID4096"/>
          </a:p>
        </p:txBody>
      </p:sp>
      <p:sp>
        <p:nvSpPr>
          <p:cNvPr id="19" name="Text 17"/>
          <p:cNvSpPr/>
          <p:nvPr/>
        </p:nvSpPr>
        <p:spPr>
          <a:xfrm>
            <a:off x="3776472" y="1261872"/>
            <a:ext cx="1554480" cy="457200"/>
          </a:xfrm>
          <a:prstGeom prst="rect">
            <a:avLst/>
          </a:prstGeom>
          <a:noFill/>
          <a:ln/>
        </p:spPr>
        <p:txBody>
          <a:bodyPr wrap="square" lIns="0" tIns="0" rIns="0" bIns="0" rtlCol="0" anchor="ctr"/>
          <a:lstStyle/>
          <a:p>
            <a:pPr marL="0" indent="0" algn="ctr">
              <a:buNone/>
            </a:pPr>
            <a:r>
              <a:rPr lang="en-US" sz="2200" b="1" dirty="0">
                <a:solidFill>
                  <a:srgbClr val="00B4A6"/>
                </a:solidFill>
                <a:latin typeface="Palatino Linotype" pitchFamily="34" charset="0"/>
                <a:ea typeface="Palatino Linotype" pitchFamily="34" charset="-122"/>
                <a:cs typeface="Palatino Linotype" pitchFamily="34" charset="-120"/>
              </a:rPr>
              <a:t>③</a:t>
            </a:r>
            <a:endParaRPr lang="en-US" sz="2200" dirty="0"/>
          </a:p>
        </p:txBody>
      </p:sp>
      <p:sp>
        <p:nvSpPr>
          <p:cNvPr id="20" name="Text 18"/>
          <p:cNvSpPr/>
          <p:nvPr/>
        </p:nvSpPr>
        <p:spPr>
          <a:xfrm>
            <a:off x="3849624" y="1737360"/>
            <a:ext cx="1408176" cy="594360"/>
          </a:xfrm>
          <a:prstGeom prst="rect">
            <a:avLst/>
          </a:prstGeom>
          <a:noFill/>
          <a:ln/>
        </p:spPr>
        <p:txBody>
          <a:bodyPr wrap="square" lIns="0" tIns="0" rIns="0" bIns="0" rtlCol="0" anchor="ctr"/>
          <a:lstStyle/>
          <a:p>
            <a:pPr marL="0" indent="0" algn="ctr">
              <a:lnSpc>
                <a:spcPct val="115000"/>
              </a:lnSpc>
              <a:buNone/>
            </a:pPr>
            <a:r>
              <a:rPr lang="en-US" sz="1300" b="1" dirty="0">
                <a:solidFill>
                  <a:srgbClr val="0A2342"/>
                </a:solidFill>
                <a:latin typeface="Palatino Linotype" pitchFamily="34" charset="0"/>
                <a:ea typeface="Palatino Linotype" pitchFamily="34" charset="-122"/>
                <a:cs typeface="Palatino Linotype" pitchFamily="34" charset="-120"/>
              </a:rPr>
              <a:t>Rolling</a:t>
            </a:r>
            <a:endParaRPr lang="en-US" sz="1300" dirty="0"/>
          </a:p>
          <a:p>
            <a:pPr marL="0" indent="0" algn="ctr">
              <a:lnSpc>
                <a:spcPct val="115000"/>
              </a:lnSpc>
              <a:buNone/>
            </a:pPr>
            <a:r>
              <a:rPr lang="en-US" sz="1300" b="1" dirty="0">
                <a:solidFill>
                  <a:srgbClr val="0A2342"/>
                </a:solidFill>
                <a:latin typeface="Palatino Linotype" pitchFamily="34" charset="0"/>
                <a:ea typeface="Palatino Linotype" pitchFamily="34" charset="-122"/>
                <a:cs typeface="Palatino Linotype" pitchFamily="34" charset="-120"/>
              </a:rPr>
              <a:t>Detrend</a:t>
            </a:r>
            <a:endParaRPr lang="en-US" sz="1300" dirty="0"/>
          </a:p>
        </p:txBody>
      </p:sp>
      <p:sp>
        <p:nvSpPr>
          <p:cNvPr id="21" name="Text 19"/>
          <p:cNvSpPr/>
          <p:nvPr/>
        </p:nvSpPr>
        <p:spPr>
          <a:xfrm>
            <a:off x="3867912" y="2395728"/>
            <a:ext cx="1371600" cy="1188720"/>
          </a:xfrm>
          <a:prstGeom prst="rect">
            <a:avLst/>
          </a:prstGeom>
          <a:noFill/>
          <a:ln/>
        </p:spPr>
        <p:txBody>
          <a:bodyPr wrap="square" lIns="0" tIns="0" rIns="0" bIns="0" rtlCol="0" anchor="ctr"/>
          <a:lstStyle/>
          <a:p>
            <a:pPr marL="0" indent="0" algn="ctr">
              <a:lnSpc>
                <a:spcPct val="130000"/>
              </a:lnSpc>
              <a:buNone/>
            </a:pPr>
            <a:r>
              <a:rPr lang="en-US" sz="1400" dirty="0">
                <a:solidFill>
                  <a:srgbClr val="1A202C"/>
                </a:solidFill>
                <a:latin typeface="Garamond" pitchFamily="34" charset="0"/>
                <a:ea typeface="Garamond" pitchFamily="34" charset="-122"/>
                <a:cs typeface="Garamond" pitchFamily="34" charset="-120"/>
              </a:rPr>
              <a:t>NAB: subtract rolling mean (window=144) to remove drift</a:t>
            </a:r>
            <a:endParaRPr lang="en-US" sz="1400" dirty="0"/>
          </a:p>
        </p:txBody>
      </p:sp>
      <p:sp>
        <p:nvSpPr>
          <p:cNvPr id="22" name="Text 20"/>
          <p:cNvSpPr/>
          <p:nvPr/>
        </p:nvSpPr>
        <p:spPr>
          <a:xfrm>
            <a:off x="5285232" y="2066544"/>
            <a:ext cx="219456" cy="201168"/>
          </a:xfrm>
          <a:prstGeom prst="rect">
            <a:avLst/>
          </a:prstGeom>
          <a:noFill/>
          <a:ln/>
        </p:spPr>
        <p:txBody>
          <a:bodyPr wrap="square" rtlCol="0" anchor="ctr"/>
          <a:lstStyle/>
          <a:p>
            <a:pPr marL="0" indent="0" algn="ctr">
              <a:buNone/>
            </a:pPr>
            <a:r>
              <a:rPr lang="en-US" sz="1500" dirty="0">
                <a:solidFill>
                  <a:srgbClr val="64748B"/>
                </a:solidFill>
              </a:rPr>
              <a:t>›</a:t>
            </a:r>
            <a:endParaRPr lang="en-US" sz="1500" dirty="0"/>
          </a:p>
        </p:txBody>
      </p:sp>
      <p:sp>
        <p:nvSpPr>
          <p:cNvPr id="23" name="Shape 21"/>
          <p:cNvSpPr/>
          <p:nvPr/>
        </p:nvSpPr>
        <p:spPr>
          <a:xfrm>
            <a:off x="5458968" y="1188720"/>
            <a:ext cx="1554480" cy="2514600"/>
          </a:xfrm>
          <a:prstGeom prst="rect">
            <a:avLst/>
          </a:prstGeom>
          <a:solidFill>
            <a:srgbClr val="EEF4FB"/>
          </a:solidFill>
          <a:ln w="19050">
            <a:solidFill>
              <a:srgbClr val="2DC653"/>
            </a:solidFill>
            <a:prstDash val="solid"/>
          </a:ln>
          <a:effectLst>
            <a:outerShdw blurRad="101600" dist="25400" dir="8100000" algn="bl" rotWithShape="0">
              <a:srgbClr val="000000">
                <a:alpha val="9000"/>
              </a:srgbClr>
            </a:outerShdw>
          </a:effectLst>
        </p:spPr>
        <p:txBody>
          <a:bodyPr/>
          <a:lstStyle/>
          <a:p>
            <a:endParaRPr lang="LID4096"/>
          </a:p>
        </p:txBody>
      </p:sp>
      <p:sp>
        <p:nvSpPr>
          <p:cNvPr id="24" name="Shape 22"/>
          <p:cNvSpPr/>
          <p:nvPr/>
        </p:nvSpPr>
        <p:spPr>
          <a:xfrm>
            <a:off x="5458968" y="1188720"/>
            <a:ext cx="1554480" cy="73152"/>
          </a:xfrm>
          <a:prstGeom prst="rect">
            <a:avLst/>
          </a:prstGeom>
          <a:solidFill>
            <a:srgbClr val="2DC653"/>
          </a:solidFill>
          <a:ln w="12700">
            <a:solidFill>
              <a:srgbClr val="2DC653"/>
            </a:solidFill>
            <a:prstDash val="solid"/>
          </a:ln>
        </p:spPr>
        <p:txBody>
          <a:bodyPr/>
          <a:lstStyle/>
          <a:p>
            <a:endParaRPr lang="LID4096"/>
          </a:p>
        </p:txBody>
      </p:sp>
      <p:sp>
        <p:nvSpPr>
          <p:cNvPr id="25" name="Text 23"/>
          <p:cNvSpPr/>
          <p:nvPr/>
        </p:nvSpPr>
        <p:spPr>
          <a:xfrm>
            <a:off x="5458968" y="1261872"/>
            <a:ext cx="1554480" cy="457200"/>
          </a:xfrm>
          <a:prstGeom prst="rect">
            <a:avLst/>
          </a:prstGeom>
          <a:noFill/>
          <a:ln/>
        </p:spPr>
        <p:txBody>
          <a:bodyPr wrap="square" lIns="0" tIns="0" rIns="0" bIns="0" rtlCol="0" anchor="ctr"/>
          <a:lstStyle/>
          <a:p>
            <a:pPr marL="0" indent="0" algn="ctr">
              <a:buNone/>
            </a:pPr>
            <a:r>
              <a:rPr lang="en-US" sz="2200" b="1" dirty="0">
                <a:solidFill>
                  <a:srgbClr val="2DC653"/>
                </a:solidFill>
                <a:latin typeface="Palatino Linotype" pitchFamily="34" charset="0"/>
                <a:ea typeface="Palatino Linotype" pitchFamily="34" charset="-122"/>
                <a:cs typeface="Palatino Linotype" pitchFamily="34" charset="-120"/>
              </a:rPr>
              <a:t>④</a:t>
            </a:r>
            <a:endParaRPr lang="en-US" sz="2200" dirty="0"/>
          </a:p>
        </p:txBody>
      </p:sp>
      <p:sp>
        <p:nvSpPr>
          <p:cNvPr id="26" name="Text 24"/>
          <p:cNvSpPr/>
          <p:nvPr/>
        </p:nvSpPr>
        <p:spPr>
          <a:xfrm>
            <a:off x="5532120" y="1737360"/>
            <a:ext cx="1408176" cy="594360"/>
          </a:xfrm>
          <a:prstGeom prst="rect">
            <a:avLst/>
          </a:prstGeom>
          <a:noFill/>
          <a:ln/>
        </p:spPr>
        <p:txBody>
          <a:bodyPr wrap="square" lIns="0" tIns="0" rIns="0" bIns="0" rtlCol="0" anchor="ctr"/>
          <a:lstStyle/>
          <a:p>
            <a:pPr marL="0" indent="0" algn="ctr">
              <a:lnSpc>
                <a:spcPct val="115000"/>
              </a:lnSpc>
              <a:buNone/>
            </a:pPr>
            <a:r>
              <a:rPr lang="en-US" sz="1300" b="1" dirty="0">
                <a:solidFill>
                  <a:srgbClr val="0A2342"/>
                </a:solidFill>
                <a:latin typeface="Palatino Linotype" pitchFamily="34" charset="0"/>
                <a:ea typeface="Palatino Linotype" pitchFamily="34" charset="-122"/>
                <a:cs typeface="Palatino Linotype" pitchFamily="34" charset="-120"/>
              </a:rPr>
              <a:t>EWMA</a:t>
            </a:r>
            <a:endParaRPr lang="en-US" sz="1300" dirty="0"/>
          </a:p>
          <a:p>
            <a:pPr marL="0" indent="0" algn="ctr">
              <a:lnSpc>
                <a:spcPct val="115000"/>
              </a:lnSpc>
              <a:buNone/>
            </a:pPr>
            <a:r>
              <a:rPr lang="en-US" sz="1300" b="1" dirty="0">
                <a:solidFill>
                  <a:srgbClr val="0A2342"/>
                </a:solidFill>
                <a:latin typeface="Palatino Linotype" pitchFamily="34" charset="0"/>
                <a:ea typeface="Palatino Linotype" pitchFamily="34" charset="-122"/>
                <a:cs typeface="Palatino Linotype" pitchFamily="34" charset="-120"/>
              </a:rPr>
              <a:t>Smooth</a:t>
            </a:r>
            <a:endParaRPr lang="en-US" sz="1300" dirty="0"/>
          </a:p>
        </p:txBody>
      </p:sp>
      <p:sp>
        <p:nvSpPr>
          <p:cNvPr id="27" name="Text 25"/>
          <p:cNvSpPr/>
          <p:nvPr/>
        </p:nvSpPr>
        <p:spPr>
          <a:xfrm>
            <a:off x="5550408" y="2395728"/>
            <a:ext cx="1371600" cy="1188720"/>
          </a:xfrm>
          <a:prstGeom prst="rect">
            <a:avLst/>
          </a:prstGeom>
          <a:noFill/>
          <a:ln/>
        </p:spPr>
        <p:txBody>
          <a:bodyPr wrap="square" lIns="0" tIns="0" rIns="0" bIns="0" rtlCol="0" anchor="ctr"/>
          <a:lstStyle/>
          <a:p>
            <a:pPr marL="0" indent="0" algn="ctr">
              <a:lnSpc>
                <a:spcPct val="130000"/>
              </a:lnSpc>
              <a:buNone/>
            </a:pPr>
            <a:r>
              <a:rPr lang="en-US" sz="1400" dirty="0">
                <a:solidFill>
                  <a:srgbClr val="1A202C"/>
                </a:solidFill>
                <a:latin typeface="Garamond" pitchFamily="34" charset="0"/>
                <a:ea typeface="Garamond" pitchFamily="34" charset="-122"/>
                <a:cs typeface="Garamond" pitchFamily="34" charset="-120"/>
              </a:rPr>
              <a:t>Optional exponential smoothing (alpha configurable)</a:t>
            </a:r>
            <a:endParaRPr lang="en-US" sz="1400" dirty="0"/>
          </a:p>
        </p:txBody>
      </p:sp>
      <p:sp>
        <p:nvSpPr>
          <p:cNvPr id="28" name="Text 26"/>
          <p:cNvSpPr/>
          <p:nvPr/>
        </p:nvSpPr>
        <p:spPr>
          <a:xfrm>
            <a:off x="6967728" y="2066544"/>
            <a:ext cx="219456" cy="201168"/>
          </a:xfrm>
          <a:prstGeom prst="rect">
            <a:avLst/>
          </a:prstGeom>
          <a:noFill/>
          <a:ln/>
        </p:spPr>
        <p:txBody>
          <a:bodyPr wrap="square" rtlCol="0" anchor="ctr"/>
          <a:lstStyle/>
          <a:p>
            <a:pPr marL="0" indent="0" algn="ctr">
              <a:buNone/>
            </a:pPr>
            <a:r>
              <a:rPr lang="en-US" sz="1500" dirty="0">
                <a:solidFill>
                  <a:srgbClr val="64748B"/>
                </a:solidFill>
              </a:rPr>
              <a:t>›</a:t>
            </a:r>
            <a:endParaRPr lang="en-US" sz="1500" dirty="0"/>
          </a:p>
        </p:txBody>
      </p:sp>
      <p:sp>
        <p:nvSpPr>
          <p:cNvPr id="29" name="Shape 27"/>
          <p:cNvSpPr/>
          <p:nvPr/>
        </p:nvSpPr>
        <p:spPr>
          <a:xfrm>
            <a:off x="7141464" y="1188720"/>
            <a:ext cx="1554480" cy="2514600"/>
          </a:xfrm>
          <a:prstGeom prst="rect">
            <a:avLst/>
          </a:prstGeom>
          <a:solidFill>
            <a:srgbClr val="EEF4FB"/>
          </a:solidFill>
          <a:ln w="19050">
            <a:solidFill>
              <a:srgbClr val="8B5CF6"/>
            </a:solidFill>
            <a:prstDash val="solid"/>
          </a:ln>
          <a:effectLst>
            <a:outerShdw blurRad="101600" dist="25400" dir="8100000" algn="bl" rotWithShape="0">
              <a:srgbClr val="000000">
                <a:alpha val="9000"/>
              </a:srgbClr>
            </a:outerShdw>
          </a:effectLst>
        </p:spPr>
        <p:txBody>
          <a:bodyPr/>
          <a:lstStyle/>
          <a:p>
            <a:endParaRPr lang="LID4096"/>
          </a:p>
        </p:txBody>
      </p:sp>
      <p:sp>
        <p:nvSpPr>
          <p:cNvPr id="30" name="Shape 28"/>
          <p:cNvSpPr/>
          <p:nvPr/>
        </p:nvSpPr>
        <p:spPr>
          <a:xfrm>
            <a:off x="7141464" y="1188720"/>
            <a:ext cx="1554480" cy="73152"/>
          </a:xfrm>
          <a:prstGeom prst="rect">
            <a:avLst/>
          </a:prstGeom>
          <a:solidFill>
            <a:srgbClr val="8B5CF6"/>
          </a:solidFill>
          <a:ln w="12700">
            <a:solidFill>
              <a:srgbClr val="8B5CF6"/>
            </a:solidFill>
            <a:prstDash val="solid"/>
          </a:ln>
        </p:spPr>
        <p:txBody>
          <a:bodyPr/>
          <a:lstStyle/>
          <a:p>
            <a:endParaRPr lang="LID4096"/>
          </a:p>
        </p:txBody>
      </p:sp>
      <p:sp>
        <p:nvSpPr>
          <p:cNvPr id="31" name="Text 29"/>
          <p:cNvSpPr/>
          <p:nvPr/>
        </p:nvSpPr>
        <p:spPr>
          <a:xfrm>
            <a:off x="7141464" y="1261872"/>
            <a:ext cx="1554480" cy="457200"/>
          </a:xfrm>
          <a:prstGeom prst="rect">
            <a:avLst/>
          </a:prstGeom>
          <a:noFill/>
          <a:ln/>
        </p:spPr>
        <p:txBody>
          <a:bodyPr wrap="square" lIns="0" tIns="0" rIns="0" bIns="0" rtlCol="0" anchor="ctr"/>
          <a:lstStyle/>
          <a:p>
            <a:pPr marL="0" indent="0" algn="ctr">
              <a:buNone/>
            </a:pPr>
            <a:r>
              <a:rPr lang="en-US" sz="2200" b="1" dirty="0">
                <a:solidFill>
                  <a:srgbClr val="8B5CF6"/>
                </a:solidFill>
                <a:latin typeface="Palatino Linotype" pitchFamily="34" charset="0"/>
                <a:ea typeface="Palatino Linotype" pitchFamily="34" charset="-122"/>
                <a:cs typeface="Palatino Linotype" pitchFamily="34" charset="-120"/>
              </a:rPr>
              <a:t>⑤</a:t>
            </a:r>
            <a:endParaRPr lang="en-US" sz="2200" dirty="0"/>
          </a:p>
        </p:txBody>
      </p:sp>
      <p:sp>
        <p:nvSpPr>
          <p:cNvPr id="32" name="Text 30"/>
          <p:cNvSpPr/>
          <p:nvPr/>
        </p:nvSpPr>
        <p:spPr>
          <a:xfrm>
            <a:off x="7214616" y="1737360"/>
            <a:ext cx="1408176" cy="594360"/>
          </a:xfrm>
          <a:prstGeom prst="rect">
            <a:avLst/>
          </a:prstGeom>
          <a:noFill/>
          <a:ln/>
        </p:spPr>
        <p:txBody>
          <a:bodyPr wrap="square" lIns="0" tIns="0" rIns="0" bIns="0" rtlCol="0" anchor="ctr"/>
          <a:lstStyle/>
          <a:p>
            <a:pPr marL="0" indent="0" algn="ctr">
              <a:lnSpc>
                <a:spcPct val="115000"/>
              </a:lnSpc>
              <a:buNone/>
            </a:pPr>
            <a:r>
              <a:rPr lang="en-US" sz="1300" b="1" dirty="0">
                <a:solidFill>
                  <a:srgbClr val="0A2342"/>
                </a:solidFill>
                <a:latin typeface="Palatino Linotype" pitchFamily="34" charset="0"/>
                <a:ea typeface="Palatino Linotype" pitchFamily="34" charset="-122"/>
                <a:cs typeface="Palatino Linotype" pitchFamily="34" charset="-120"/>
              </a:rPr>
              <a:t>StandardScaler</a:t>
            </a:r>
            <a:endParaRPr lang="en-US" sz="1300" dirty="0"/>
          </a:p>
          <a:p>
            <a:pPr marL="0" indent="0" algn="ctr">
              <a:lnSpc>
                <a:spcPct val="115000"/>
              </a:lnSpc>
              <a:buNone/>
            </a:pPr>
            <a:r>
              <a:rPr lang="en-US" sz="1300" b="1" dirty="0">
                <a:solidFill>
                  <a:srgbClr val="0A2342"/>
                </a:solidFill>
                <a:latin typeface="Palatino Linotype" pitchFamily="34" charset="0"/>
                <a:ea typeface="Palatino Linotype" pitchFamily="34" charset="-122"/>
                <a:cs typeface="Palatino Linotype" pitchFamily="34" charset="-120"/>
              </a:rPr>
              <a:t>Fit</a:t>
            </a:r>
            <a:endParaRPr lang="en-US" sz="1300" dirty="0"/>
          </a:p>
        </p:txBody>
      </p:sp>
      <p:sp>
        <p:nvSpPr>
          <p:cNvPr id="33" name="Text 31"/>
          <p:cNvSpPr/>
          <p:nvPr/>
        </p:nvSpPr>
        <p:spPr>
          <a:xfrm>
            <a:off x="7232904" y="2395728"/>
            <a:ext cx="1371600" cy="1188720"/>
          </a:xfrm>
          <a:prstGeom prst="rect">
            <a:avLst/>
          </a:prstGeom>
          <a:noFill/>
          <a:ln/>
        </p:spPr>
        <p:txBody>
          <a:bodyPr wrap="square" lIns="0" tIns="0" rIns="0" bIns="0" rtlCol="0" anchor="ctr"/>
          <a:lstStyle/>
          <a:p>
            <a:pPr marL="0" indent="0" algn="ctr">
              <a:lnSpc>
                <a:spcPct val="130000"/>
              </a:lnSpc>
              <a:buNone/>
            </a:pPr>
            <a:r>
              <a:rPr lang="en-US" sz="1400" dirty="0">
                <a:solidFill>
                  <a:srgbClr val="1A202C"/>
                </a:solidFill>
                <a:latin typeface="Garamond" pitchFamily="34" charset="0"/>
                <a:ea typeface="Garamond" pitchFamily="34" charset="-122"/>
                <a:cs typeface="Garamond" pitchFamily="34" charset="-120"/>
              </a:rPr>
              <a:t>Fit on training windows, transform test consistently</a:t>
            </a:r>
            <a:endParaRPr lang="en-US" sz="1400" dirty="0"/>
          </a:p>
        </p:txBody>
      </p:sp>
      <p:sp>
        <p:nvSpPr>
          <p:cNvPr id="34" name="Shape 32"/>
          <p:cNvSpPr/>
          <p:nvPr/>
        </p:nvSpPr>
        <p:spPr>
          <a:xfrm>
            <a:off x="411480" y="3931920"/>
            <a:ext cx="8321040" cy="822960"/>
          </a:xfrm>
          <a:prstGeom prst="rect">
            <a:avLst/>
          </a:prstGeom>
          <a:solidFill>
            <a:srgbClr val="FFF8F0"/>
          </a:solidFill>
          <a:ln w="12700">
            <a:solidFill>
              <a:srgbClr val="F4844C"/>
            </a:solidFill>
            <a:prstDash val="solid"/>
          </a:ln>
          <a:effectLst>
            <a:outerShdw blurRad="101600" dist="25400" dir="8100000" algn="bl" rotWithShape="0">
              <a:srgbClr val="000000">
                <a:alpha val="9000"/>
              </a:srgbClr>
            </a:outerShdw>
          </a:effectLst>
        </p:spPr>
        <p:txBody>
          <a:bodyPr/>
          <a:lstStyle/>
          <a:p>
            <a:endParaRPr lang="LID4096"/>
          </a:p>
        </p:txBody>
      </p:sp>
      <p:sp>
        <p:nvSpPr>
          <p:cNvPr id="35" name="Text 33"/>
          <p:cNvSpPr/>
          <p:nvPr/>
        </p:nvSpPr>
        <p:spPr>
          <a:xfrm>
            <a:off x="594360" y="4005072"/>
            <a:ext cx="8001000" cy="667512"/>
          </a:xfrm>
          <a:prstGeom prst="rect">
            <a:avLst/>
          </a:prstGeom>
          <a:noFill/>
          <a:ln/>
        </p:spPr>
        <p:txBody>
          <a:bodyPr wrap="square" lIns="0" tIns="0" rIns="0" bIns="0" rtlCol="0" anchor="ctr"/>
          <a:lstStyle/>
          <a:p>
            <a:pPr marL="0" indent="0">
              <a:lnSpc>
                <a:spcPct val="140000"/>
              </a:lnSpc>
              <a:buNone/>
            </a:pPr>
            <a:r>
              <a:rPr lang="en-US" sz="1400" dirty="0">
                <a:solidFill>
                  <a:srgbClr val="1A202C"/>
                </a:solidFill>
                <a:latin typeface="Garamond" pitchFamily="34" charset="0"/>
                <a:ea typeface="Garamond" pitchFamily="34" charset="-122"/>
                <a:cs typeface="Garamond" pitchFamily="34" charset="-120"/>
              </a:rPr>
              <a:t>SKAB uses no detrending (stable baseline). NAB applies rolling_detrend_window=144 to reduce slow cloud-metric drift before scoring.</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28600"/>
            <a:ext cx="64008" cy="530352"/>
          </a:xfrm>
          <a:prstGeom prst="rect">
            <a:avLst/>
          </a:prstGeom>
          <a:solidFill>
            <a:srgbClr val="29ABE2"/>
          </a:solidFill>
          <a:ln w="12700">
            <a:solidFill>
              <a:srgbClr val="29ABE2"/>
            </a:solidFill>
            <a:prstDash val="solid"/>
          </a:ln>
        </p:spPr>
        <p:txBody>
          <a:bodyPr/>
          <a:lstStyle/>
          <a:p>
            <a:endParaRPr lang="LID4096"/>
          </a:p>
        </p:txBody>
      </p:sp>
      <p:sp>
        <p:nvSpPr>
          <p:cNvPr id="3" name="Text 1"/>
          <p:cNvSpPr/>
          <p:nvPr/>
        </p:nvSpPr>
        <p:spPr>
          <a:xfrm>
            <a:off x="566928" y="173736"/>
            <a:ext cx="8321040" cy="548640"/>
          </a:xfrm>
          <a:prstGeom prst="rect">
            <a:avLst/>
          </a:prstGeom>
          <a:noFill/>
          <a:ln/>
        </p:spPr>
        <p:txBody>
          <a:bodyPr wrap="square" lIns="0" tIns="0" rIns="0" bIns="0" rtlCol="0" anchor="ctr"/>
          <a:lstStyle/>
          <a:p>
            <a:pPr marL="0" indent="0">
              <a:buNone/>
            </a:pPr>
            <a:r>
              <a:rPr lang="en-US" sz="2600" b="1" dirty="0">
                <a:solidFill>
                  <a:srgbClr val="0A2342"/>
                </a:solidFill>
                <a:latin typeface="Palatino Linotype" pitchFamily="34" charset="0"/>
                <a:ea typeface="Palatino Linotype" pitchFamily="34" charset="-122"/>
                <a:cs typeface="Palatino Linotype" pitchFamily="34" charset="-120"/>
              </a:rPr>
              <a:t>Feature Engineering</a:t>
            </a:r>
            <a:endParaRPr lang="en-US" sz="2600" dirty="0"/>
          </a:p>
        </p:txBody>
      </p:sp>
      <p:sp>
        <p:nvSpPr>
          <p:cNvPr id="4" name="Text 2"/>
          <p:cNvSpPr/>
          <p:nvPr/>
        </p:nvSpPr>
        <p:spPr>
          <a:xfrm>
            <a:off x="566928" y="731520"/>
            <a:ext cx="8046720" cy="274320"/>
          </a:xfrm>
          <a:prstGeom prst="rect">
            <a:avLst/>
          </a:prstGeom>
          <a:noFill/>
          <a:ln/>
        </p:spPr>
        <p:txBody>
          <a:bodyPr wrap="square" lIns="0" tIns="0" rIns="0" bIns="0" rtlCol="0" anchor="ctr"/>
          <a:lstStyle/>
          <a:p>
            <a:pPr marL="0" indent="0">
              <a:buNone/>
            </a:pPr>
            <a:r>
              <a:rPr lang="en-US" sz="1400" dirty="0">
                <a:solidFill>
                  <a:srgbClr val="64748B"/>
                </a:solidFill>
                <a:latin typeface="Garamond" pitchFamily="34" charset="0"/>
                <a:ea typeface="Garamond" pitchFamily="34" charset="-122"/>
                <a:cs typeface="Garamond" pitchFamily="34" charset="-120"/>
              </a:rPr>
              <a:t>Shared pipeline for all 4 models · window size = 60 · stride = 1</a:t>
            </a:r>
            <a:endParaRPr lang="en-US" sz="1400" dirty="0"/>
          </a:p>
        </p:txBody>
      </p:sp>
      <p:sp>
        <p:nvSpPr>
          <p:cNvPr id="5" name="Shape 3"/>
          <p:cNvSpPr/>
          <p:nvPr/>
        </p:nvSpPr>
        <p:spPr>
          <a:xfrm>
            <a:off x="411480" y="1188720"/>
            <a:ext cx="4023360" cy="1645920"/>
          </a:xfrm>
          <a:prstGeom prst="rect">
            <a:avLst/>
          </a:prstGeom>
          <a:solidFill>
            <a:srgbClr val="EEF4FB"/>
          </a:solidFill>
          <a:ln w="12700">
            <a:solidFill>
              <a:srgbClr val="1A6FC4"/>
            </a:solidFill>
            <a:prstDash val="solid"/>
          </a:ln>
          <a:effectLst>
            <a:outerShdw blurRad="101600" dist="25400" dir="8100000" algn="bl" rotWithShape="0">
              <a:srgbClr val="000000">
                <a:alpha val="9000"/>
              </a:srgbClr>
            </a:outerShdw>
          </a:effectLst>
        </p:spPr>
        <p:txBody>
          <a:bodyPr/>
          <a:lstStyle/>
          <a:p>
            <a:endParaRPr lang="LID4096"/>
          </a:p>
        </p:txBody>
      </p:sp>
      <p:sp>
        <p:nvSpPr>
          <p:cNvPr id="6" name="Shape 4"/>
          <p:cNvSpPr/>
          <p:nvPr/>
        </p:nvSpPr>
        <p:spPr>
          <a:xfrm>
            <a:off x="411480" y="1188720"/>
            <a:ext cx="73152" cy="1645920"/>
          </a:xfrm>
          <a:prstGeom prst="rect">
            <a:avLst/>
          </a:prstGeom>
          <a:solidFill>
            <a:srgbClr val="1A6FC4"/>
          </a:solidFill>
          <a:ln w="12700">
            <a:solidFill>
              <a:srgbClr val="1A6FC4"/>
            </a:solidFill>
            <a:prstDash val="solid"/>
          </a:ln>
        </p:spPr>
        <p:txBody>
          <a:bodyPr/>
          <a:lstStyle/>
          <a:p>
            <a:endParaRPr lang="LID4096"/>
          </a:p>
        </p:txBody>
      </p:sp>
      <p:sp>
        <p:nvSpPr>
          <p:cNvPr id="7" name="Text 5"/>
          <p:cNvSpPr/>
          <p:nvPr/>
        </p:nvSpPr>
        <p:spPr>
          <a:xfrm>
            <a:off x="612648" y="1325880"/>
            <a:ext cx="3611880" cy="411480"/>
          </a:xfrm>
          <a:prstGeom prst="rect">
            <a:avLst/>
          </a:prstGeom>
          <a:noFill/>
          <a:ln/>
        </p:spPr>
        <p:txBody>
          <a:bodyPr wrap="square" lIns="0" tIns="0" rIns="0" bIns="0" rtlCol="0" anchor="ctr"/>
          <a:lstStyle/>
          <a:p>
            <a:pPr marL="0" indent="0">
              <a:buNone/>
            </a:pPr>
            <a:r>
              <a:rPr lang="en-US" sz="1600" b="1" dirty="0">
                <a:solidFill>
                  <a:srgbClr val="1A6FC4"/>
                </a:solidFill>
                <a:latin typeface="Palatino Linotype" pitchFamily="34" charset="0"/>
                <a:ea typeface="Palatino Linotype" pitchFamily="34" charset="-122"/>
                <a:cs typeface="Palatino Linotype" pitchFamily="34" charset="-120"/>
              </a:rPr>
              <a:t>Rolling Statistics</a:t>
            </a:r>
            <a:endParaRPr lang="en-US" sz="1600" dirty="0"/>
          </a:p>
        </p:txBody>
      </p:sp>
      <p:sp>
        <p:nvSpPr>
          <p:cNvPr id="8" name="Text 6"/>
          <p:cNvSpPr/>
          <p:nvPr/>
        </p:nvSpPr>
        <p:spPr>
          <a:xfrm>
            <a:off x="612648" y="1783080"/>
            <a:ext cx="3657600" cy="960120"/>
          </a:xfrm>
          <a:prstGeom prst="rect">
            <a:avLst/>
          </a:prstGeom>
          <a:noFill/>
          <a:ln/>
        </p:spPr>
        <p:txBody>
          <a:bodyPr wrap="square" lIns="0" tIns="0" rIns="0" bIns="0" rtlCol="0" anchor="ctr"/>
          <a:lstStyle/>
          <a:p>
            <a:pPr marL="0" indent="0">
              <a:lnSpc>
                <a:spcPct val="135000"/>
              </a:lnSpc>
              <a:buNone/>
            </a:pPr>
            <a:r>
              <a:rPr lang="en-US" sz="1600" dirty="0">
                <a:solidFill>
                  <a:srgbClr val="1A202C"/>
                </a:solidFill>
                <a:latin typeface="Garamond" pitchFamily="34" charset="0"/>
                <a:ea typeface="Garamond" pitchFamily="34" charset="-122"/>
                <a:cs typeface="Garamond" pitchFamily="34" charset="-120"/>
              </a:rPr>
              <a:t>Mean · Std · Median · Min · Max over a sliding window — captures local distribution shape</a:t>
            </a:r>
            <a:endParaRPr lang="en-US" sz="1600" dirty="0"/>
          </a:p>
        </p:txBody>
      </p:sp>
      <p:sp>
        <p:nvSpPr>
          <p:cNvPr id="9" name="Shape 7"/>
          <p:cNvSpPr/>
          <p:nvPr/>
        </p:nvSpPr>
        <p:spPr>
          <a:xfrm>
            <a:off x="4709160" y="1188720"/>
            <a:ext cx="4023360" cy="1645920"/>
          </a:xfrm>
          <a:prstGeom prst="rect">
            <a:avLst/>
          </a:prstGeom>
          <a:solidFill>
            <a:srgbClr val="EEF4FB"/>
          </a:solidFill>
          <a:ln w="12700">
            <a:solidFill>
              <a:srgbClr val="00B4A6"/>
            </a:solidFill>
            <a:prstDash val="solid"/>
          </a:ln>
          <a:effectLst>
            <a:outerShdw blurRad="101600" dist="25400" dir="8100000" algn="bl" rotWithShape="0">
              <a:srgbClr val="000000">
                <a:alpha val="9000"/>
              </a:srgbClr>
            </a:outerShdw>
          </a:effectLst>
        </p:spPr>
        <p:txBody>
          <a:bodyPr/>
          <a:lstStyle/>
          <a:p>
            <a:endParaRPr lang="LID4096"/>
          </a:p>
        </p:txBody>
      </p:sp>
      <p:sp>
        <p:nvSpPr>
          <p:cNvPr id="10" name="Shape 8"/>
          <p:cNvSpPr/>
          <p:nvPr/>
        </p:nvSpPr>
        <p:spPr>
          <a:xfrm>
            <a:off x="4709160" y="1188720"/>
            <a:ext cx="73152" cy="1645920"/>
          </a:xfrm>
          <a:prstGeom prst="rect">
            <a:avLst/>
          </a:prstGeom>
          <a:solidFill>
            <a:srgbClr val="00B4A6"/>
          </a:solidFill>
          <a:ln w="12700">
            <a:solidFill>
              <a:srgbClr val="00B4A6"/>
            </a:solidFill>
            <a:prstDash val="solid"/>
          </a:ln>
        </p:spPr>
        <p:txBody>
          <a:bodyPr/>
          <a:lstStyle/>
          <a:p>
            <a:endParaRPr lang="LID4096"/>
          </a:p>
        </p:txBody>
      </p:sp>
      <p:sp>
        <p:nvSpPr>
          <p:cNvPr id="11" name="Text 9"/>
          <p:cNvSpPr/>
          <p:nvPr/>
        </p:nvSpPr>
        <p:spPr>
          <a:xfrm>
            <a:off x="4910328" y="1325880"/>
            <a:ext cx="3611880" cy="411480"/>
          </a:xfrm>
          <a:prstGeom prst="rect">
            <a:avLst/>
          </a:prstGeom>
          <a:noFill/>
          <a:ln/>
        </p:spPr>
        <p:txBody>
          <a:bodyPr wrap="square" lIns="0" tIns="0" rIns="0" bIns="0" rtlCol="0" anchor="ctr"/>
          <a:lstStyle/>
          <a:p>
            <a:pPr marL="0" indent="0">
              <a:buNone/>
            </a:pPr>
            <a:r>
              <a:rPr lang="en-US" sz="1600" b="1" dirty="0">
                <a:solidFill>
                  <a:srgbClr val="00B4A6"/>
                </a:solidFill>
                <a:latin typeface="Palatino Linotype" pitchFamily="34" charset="0"/>
                <a:ea typeface="Palatino Linotype" pitchFamily="34" charset="-122"/>
                <a:cs typeface="Palatino Linotype" pitchFamily="34" charset="-120"/>
              </a:rPr>
              <a:t>Lag Embeddings</a:t>
            </a:r>
            <a:endParaRPr lang="en-US" sz="1600" dirty="0"/>
          </a:p>
        </p:txBody>
      </p:sp>
      <p:sp>
        <p:nvSpPr>
          <p:cNvPr id="12" name="Text 10"/>
          <p:cNvSpPr/>
          <p:nvPr/>
        </p:nvSpPr>
        <p:spPr>
          <a:xfrm>
            <a:off x="4910328" y="1783080"/>
            <a:ext cx="3657600" cy="960120"/>
          </a:xfrm>
          <a:prstGeom prst="rect">
            <a:avLst/>
          </a:prstGeom>
          <a:noFill/>
          <a:ln/>
        </p:spPr>
        <p:txBody>
          <a:bodyPr wrap="square" lIns="0" tIns="0" rIns="0" bIns="0" rtlCol="0" anchor="ctr"/>
          <a:lstStyle/>
          <a:p>
            <a:pPr marL="0" indent="0">
              <a:lnSpc>
                <a:spcPct val="135000"/>
              </a:lnSpc>
              <a:buNone/>
            </a:pPr>
            <a:r>
              <a:rPr lang="en-US" sz="1600" dirty="0">
                <a:solidFill>
                  <a:srgbClr val="1A202C"/>
                </a:solidFill>
                <a:latin typeface="Garamond" pitchFamily="34" charset="0"/>
                <a:ea typeface="Garamond" pitchFamily="34" charset="-122"/>
                <a:cs typeface="Garamond" pitchFamily="34" charset="-120"/>
              </a:rPr>
              <a:t>Values at lags [1, 5, 10] — encode short-range temporal context and autocorrelation</a:t>
            </a:r>
            <a:endParaRPr lang="en-US" sz="1600" dirty="0"/>
          </a:p>
        </p:txBody>
      </p:sp>
      <p:sp>
        <p:nvSpPr>
          <p:cNvPr id="13" name="Shape 11"/>
          <p:cNvSpPr/>
          <p:nvPr/>
        </p:nvSpPr>
        <p:spPr>
          <a:xfrm>
            <a:off x="411480" y="2971800"/>
            <a:ext cx="4023360" cy="1645920"/>
          </a:xfrm>
          <a:prstGeom prst="rect">
            <a:avLst/>
          </a:prstGeom>
          <a:solidFill>
            <a:srgbClr val="EEF4FB"/>
          </a:solidFill>
          <a:ln w="12700">
            <a:solidFill>
              <a:srgbClr val="2DC653"/>
            </a:solidFill>
            <a:prstDash val="solid"/>
          </a:ln>
          <a:effectLst>
            <a:outerShdw blurRad="101600" dist="25400" dir="8100000" algn="bl" rotWithShape="0">
              <a:srgbClr val="000000">
                <a:alpha val="9000"/>
              </a:srgbClr>
            </a:outerShdw>
          </a:effectLst>
        </p:spPr>
        <p:txBody>
          <a:bodyPr/>
          <a:lstStyle/>
          <a:p>
            <a:endParaRPr lang="LID4096"/>
          </a:p>
        </p:txBody>
      </p:sp>
      <p:sp>
        <p:nvSpPr>
          <p:cNvPr id="14" name="Shape 12"/>
          <p:cNvSpPr/>
          <p:nvPr/>
        </p:nvSpPr>
        <p:spPr>
          <a:xfrm>
            <a:off x="411480" y="2971800"/>
            <a:ext cx="73152" cy="1645920"/>
          </a:xfrm>
          <a:prstGeom prst="rect">
            <a:avLst/>
          </a:prstGeom>
          <a:solidFill>
            <a:srgbClr val="2DC653"/>
          </a:solidFill>
          <a:ln w="12700">
            <a:solidFill>
              <a:srgbClr val="2DC653"/>
            </a:solidFill>
            <a:prstDash val="solid"/>
          </a:ln>
        </p:spPr>
        <p:txBody>
          <a:bodyPr/>
          <a:lstStyle/>
          <a:p>
            <a:endParaRPr lang="LID4096"/>
          </a:p>
        </p:txBody>
      </p:sp>
      <p:sp>
        <p:nvSpPr>
          <p:cNvPr id="15" name="Text 13"/>
          <p:cNvSpPr/>
          <p:nvPr/>
        </p:nvSpPr>
        <p:spPr>
          <a:xfrm>
            <a:off x="612648" y="3108960"/>
            <a:ext cx="3611880" cy="411480"/>
          </a:xfrm>
          <a:prstGeom prst="rect">
            <a:avLst/>
          </a:prstGeom>
          <a:noFill/>
          <a:ln/>
        </p:spPr>
        <p:txBody>
          <a:bodyPr wrap="square" lIns="0" tIns="0" rIns="0" bIns="0" rtlCol="0" anchor="ctr"/>
          <a:lstStyle/>
          <a:p>
            <a:pPr marL="0" indent="0">
              <a:buNone/>
            </a:pPr>
            <a:r>
              <a:rPr lang="en-US" sz="1600" b="1" dirty="0">
                <a:solidFill>
                  <a:srgbClr val="2DC653"/>
                </a:solidFill>
                <a:latin typeface="Palatino Linotype" pitchFamily="34" charset="0"/>
                <a:ea typeface="Palatino Linotype" pitchFamily="34" charset="-122"/>
                <a:cs typeface="Palatino Linotype" pitchFamily="34" charset="-120"/>
              </a:rPr>
              <a:t>Delta Features</a:t>
            </a:r>
            <a:endParaRPr lang="en-US" sz="1600" dirty="0"/>
          </a:p>
        </p:txBody>
      </p:sp>
      <p:sp>
        <p:nvSpPr>
          <p:cNvPr id="16" name="Text 14"/>
          <p:cNvSpPr/>
          <p:nvPr/>
        </p:nvSpPr>
        <p:spPr>
          <a:xfrm>
            <a:off x="612648" y="3566160"/>
            <a:ext cx="3657600" cy="960120"/>
          </a:xfrm>
          <a:prstGeom prst="rect">
            <a:avLst/>
          </a:prstGeom>
          <a:noFill/>
          <a:ln/>
        </p:spPr>
        <p:txBody>
          <a:bodyPr wrap="square" lIns="0" tIns="0" rIns="0" bIns="0" rtlCol="0" anchor="ctr"/>
          <a:lstStyle/>
          <a:p>
            <a:pPr marL="0" indent="0">
              <a:lnSpc>
                <a:spcPct val="135000"/>
              </a:lnSpc>
              <a:buNone/>
            </a:pPr>
            <a:r>
              <a:rPr lang="en-US" sz="1600" dirty="0">
                <a:solidFill>
                  <a:srgbClr val="1A202C"/>
                </a:solidFill>
                <a:latin typeface="Garamond" pitchFamily="34" charset="0"/>
                <a:ea typeface="Garamond" pitchFamily="34" charset="-122"/>
                <a:cs typeface="Garamond" pitchFamily="34" charset="-120"/>
              </a:rPr>
              <a:t>First-order differences — represent the instantaneous rate of change</a:t>
            </a:r>
            <a:endParaRPr lang="en-US" sz="1600" dirty="0"/>
          </a:p>
        </p:txBody>
      </p:sp>
      <p:sp>
        <p:nvSpPr>
          <p:cNvPr id="17" name="Shape 15"/>
          <p:cNvSpPr/>
          <p:nvPr/>
        </p:nvSpPr>
        <p:spPr>
          <a:xfrm>
            <a:off x="4709160" y="2971800"/>
            <a:ext cx="4023360" cy="1645920"/>
          </a:xfrm>
          <a:prstGeom prst="rect">
            <a:avLst/>
          </a:prstGeom>
          <a:solidFill>
            <a:srgbClr val="EEF4FB"/>
          </a:solidFill>
          <a:ln w="12700">
            <a:solidFill>
              <a:srgbClr val="F4844C"/>
            </a:solidFill>
            <a:prstDash val="solid"/>
          </a:ln>
          <a:effectLst>
            <a:outerShdw blurRad="101600" dist="25400" dir="8100000" algn="bl" rotWithShape="0">
              <a:srgbClr val="000000">
                <a:alpha val="9000"/>
              </a:srgbClr>
            </a:outerShdw>
          </a:effectLst>
        </p:spPr>
        <p:txBody>
          <a:bodyPr/>
          <a:lstStyle/>
          <a:p>
            <a:endParaRPr lang="LID4096"/>
          </a:p>
        </p:txBody>
      </p:sp>
      <p:sp>
        <p:nvSpPr>
          <p:cNvPr id="18" name="Shape 16"/>
          <p:cNvSpPr/>
          <p:nvPr/>
        </p:nvSpPr>
        <p:spPr>
          <a:xfrm>
            <a:off x="4709160" y="2971800"/>
            <a:ext cx="73152" cy="1645920"/>
          </a:xfrm>
          <a:prstGeom prst="rect">
            <a:avLst/>
          </a:prstGeom>
          <a:solidFill>
            <a:srgbClr val="F4844C"/>
          </a:solidFill>
          <a:ln w="12700">
            <a:solidFill>
              <a:srgbClr val="F4844C"/>
            </a:solidFill>
            <a:prstDash val="solid"/>
          </a:ln>
        </p:spPr>
        <p:txBody>
          <a:bodyPr/>
          <a:lstStyle/>
          <a:p>
            <a:endParaRPr lang="LID4096"/>
          </a:p>
        </p:txBody>
      </p:sp>
      <p:sp>
        <p:nvSpPr>
          <p:cNvPr id="19" name="Text 17"/>
          <p:cNvSpPr/>
          <p:nvPr/>
        </p:nvSpPr>
        <p:spPr>
          <a:xfrm>
            <a:off x="4910328" y="3108960"/>
            <a:ext cx="3611880" cy="411480"/>
          </a:xfrm>
          <a:prstGeom prst="rect">
            <a:avLst/>
          </a:prstGeom>
          <a:noFill/>
          <a:ln/>
        </p:spPr>
        <p:txBody>
          <a:bodyPr wrap="square" lIns="0" tIns="0" rIns="0" bIns="0" rtlCol="0" anchor="ctr"/>
          <a:lstStyle/>
          <a:p>
            <a:pPr marL="0" indent="0">
              <a:buNone/>
            </a:pPr>
            <a:r>
              <a:rPr lang="en-US" sz="1600" b="1" dirty="0">
                <a:solidFill>
                  <a:srgbClr val="F4844C"/>
                </a:solidFill>
                <a:latin typeface="Palatino Linotype" pitchFamily="34" charset="0"/>
                <a:ea typeface="Palatino Linotype" pitchFamily="34" charset="-122"/>
                <a:cs typeface="Palatino Linotype" pitchFamily="34" charset="-120"/>
              </a:rPr>
              <a:t>FFT Window Energy</a:t>
            </a:r>
            <a:endParaRPr lang="en-US" sz="1600" dirty="0"/>
          </a:p>
        </p:txBody>
      </p:sp>
      <p:sp>
        <p:nvSpPr>
          <p:cNvPr id="20" name="Text 18"/>
          <p:cNvSpPr/>
          <p:nvPr/>
        </p:nvSpPr>
        <p:spPr>
          <a:xfrm>
            <a:off x="4910328" y="3566160"/>
            <a:ext cx="3657600" cy="960120"/>
          </a:xfrm>
          <a:prstGeom prst="rect">
            <a:avLst/>
          </a:prstGeom>
          <a:noFill/>
          <a:ln/>
        </p:spPr>
        <p:txBody>
          <a:bodyPr wrap="square" lIns="0" tIns="0" rIns="0" bIns="0" rtlCol="0" anchor="ctr"/>
          <a:lstStyle/>
          <a:p>
            <a:pPr marL="0" indent="0">
              <a:lnSpc>
                <a:spcPct val="135000"/>
              </a:lnSpc>
              <a:buNone/>
            </a:pPr>
            <a:r>
              <a:rPr lang="en-US" sz="1600" dirty="0">
                <a:solidFill>
                  <a:srgbClr val="1A202C"/>
                </a:solidFill>
                <a:latin typeface="Garamond" pitchFamily="34" charset="0"/>
                <a:ea typeface="Garamond" pitchFamily="34" charset="-122"/>
                <a:cs typeface="Garamond" pitchFamily="34" charset="-120"/>
              </a:rPr>
              <a:t>Energy in the frequency domain per window — captures periodic and rhythmic patterns</a:t>
            </a:r>
            <a:endParaRPr lang="en-US" sz="1600" dirty="0"/>
          </a:p>
        </p:txBody>
      </p:sp>
      <p:sp>
        <p:nvSpPr>
          <p:cNvPr id="21" name="Text 19"/>
          <p:cNvSpPr/>
          <p:nvPr/>
        </p:nvSpPr>
        <p:spPr>
          <a:xfrm>
            <a:off x="411480" y="4736592"/>
            <a:ext cx="8321040" cy="256032"/>
          </a:xfrm>
          <a:prstGeom prst="rect">
            <a:avLst/>
          </a:prstGeom>
          <a:noFill/>
          <a:ln/>
        </p:spPr>
        <p:txBody>
          <a:bodyPr wrap="square" rtlCol="0" anchor="ctr"/>
          <a:lstStyle/>
          <a:p>
            <a:pPr marL="0" indent="0" algn="ctr">
              <a:buNone/>
            </a:pPr>
            <a:r>
              <a:rPr lang="en-US" sz="1050" dirty="0">
                <a:solidFill>
                  <a:srgbClr val="64748B"/>
                </a:solidFill>
                <a:latin typeface="Garamond" pitchFamily="34" charset="0"/>
                <a:ea typeface="Garamond" pitchFamily="34" charset="-122"/>
                <a:cs typeface="Garamond" pitchFamily="34" charset="-120"/>
              </a:rPr>
              <a:t>Feature-column schema saved to metadata.json during training — the Pi reconstructs the identical representation at inference time.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411480" y="228600"/>
            <a:ext cx="64008" cy="530352"/>
          </a:xfrm>
          <a:prstGeom prst="rect">
            <a:avLst/>
          </a:prstGeom>
          <a:solidFill>
            <a:srgbClr val="29ABE2"/>
          </a:solidFill>
          <a:ln w="12700">
            <a:solidFill>
              <a:srgbClr val="29ABE2"/>
            </a:solidFill>
            <a:prstDash val="solid"/>
          </a:ln>
        </p:spPr>
        <p:txBody>
          <a:bodyPr/>
          <a:lstStyle/>
          <a:p>
            <a:endParaRPr lang="LID4096"/>
          </a:p>
        </p:txBody>
      </p:sp>
      <p:sp>
        <p:nvSpPr>
          <p:cNvPr id="3" name="Text 1"/>
          <p:cNvSpPr/>
          <p:nvPr/>
        </p:nvSpPr>
        <p:spPr>
          <a:xfrm>
            <a:off x="566928" y="173736"/>
            <a:ext cx="8321040" cy="548640"/>
          </a:xfrm>
          <a:prstGeom prst="rect">
            <a:avLst/>
          </a:prstGeom>
          <a:noFill/>
          <a:ln/>
        </p:spPr>
        <p:txBody>
          <a:bodyPr wrap="square" lIns="0" tIns="0" rIns="0" bIns="0" rtlCol="0" anchor="ctr"/>
          <a:lstStyle/>
          <a:p>
            <a:pPr marL="0" indent="0">
              <a:buNone/>
            </a:pPr>
            <a:r>
              <a:rPr lang="en-US" sz="2600" b="1" dirty="0">
                <a:solidFill>
                  <a:srgbClr val="0A2342"/>
                </a:solidFill>
                <a:latin typeface="Palatino Linotype" pitchFamily="34" charset="0"/>
                <a:ea typeface="Palatino Linotype" pitchFamily="34" charset="-122"/>
                <a:cs typeface="Palatino Linotype" pitchFamily="34" charset="-120"/>
              </a:rPr>
              <a:t>Anomaly Detectors</a:t>
            </a:r>
            <a:endParaRPr lang="en-US" sz="2600" dirty="0"/>
          </a:p>
        </p:txBody>
      </p:sp>
      <p:sp>
        <p:nvSpPr>
          <p:cNvPr id="4" name="Text 2"/>
          <p:cNvSpPr/>
          <p:nvPr/>
        </p:nvSpPr>
        <p:spPr>
          <a:xfrm>
            <a:off x="566928" y="731520"/>
            <a:ext cx="8046720" cy="274320"/>
          </a:xfrm>
          <a:prstGeom prst="rect">
            <a:avLst/>
          </a:prstGeom>
          <a:noFill/>
          <a:ln/>
        </p:spPr>
        <p:txBody>
          <a:bodyPr wrap="square" lIns="0" tIns="0" rIns="0" bIns="0" rtlCol="0" anchor="ctr"/>
          <a:lstStyle/>
          <a:p>
            <a:pPr marL="0" indent="0">
              <a:buNone/>
            </a:pPr>
            <a:r>
              <a:rPr lang="en-US" sz="1250" dirty="0">
                <a:solidFill>
                  <a:srgbClr val="64748B"/>
                </a:solidFill>
                <a:latin typeface="Garamond" pitchFamily="34" charset="0"/>
                <a:ea typeface="Garamond" pitchFamily="34" charset="-122"/>
                <a:cs typeface="Garamond" pitchFamily="34" charset="-120"/>
              </a:rPr>
              <a:t>Four complementary approaches — statistical to deep learning</a:t>
            </a:r>
            <a:endParaRPr lang="en-US" sz="1250" dirty="0"/>
          </a:p>
        </p:txBody>
      </p:sp>
      <p:sp>
        <p:nvSpPr>
          <p:cNvPr id="5" name="Shape 3"/>
          <p:cNvSpPr/>
          <p:nvPr/>
        </p:nvSpPr>
        <p:spPr>
          <a:xfrm>
            <a:off x="365760" y="1143000"/>
            <a:ext cx="4114800" cy="1737360"/>
          </a:xfrm>
          <a:prstGeom prst="rect">
            <a:avLst/>
          </a:prstGeom>
          <a:solidFill>
            <a:srgbClr val="FFFFFF"/>
          </a:solidFill>
          <a:ln w="19050">
            <a:solidFill>
              <a:srgbClr val="1A6FC4"/>
            </a:solidFill>
            <a:prstDash val="solid"/>
          </a:ln>
          <a:effectLst>
            <a:outerShdw blurRad="101600" dist="25400" dir="8100000" algn="bl" rotWithShape="0">
              <a:srgbClr val="000000">
                <a:alpha val="9000"/>
              </a:srgbClr>
            </a:outerShdw>
          </a:effectLst>
        </p:spPr>
        <p:txBody>
          <a:bodyPr/>
          <a:lstStyle/>
          <a:p>
            <a:endParaRPr lang="LID4096"/>
          </a:p>
        </p:txBody>
      </p:sp>
      <p:sp>
        <p:nvSpPr>
          <p:cNvPr id="6" name="Shape 4"/>
          <p:cNvSpPr/>
          <p:nvPr/>
        </p:nvSpPr>
        <p:spPr>
          <a:xfrm>
            <a:off x="365760" y="1143000"/>
            <a:ext cx="4114800" cy="64008"/>
          </a:xfrm>
          <a:prstGeom prst="rect">
            <a:avLst/>
          </a:prstGeom>
          <a:solidFill>
            <a:srgbClr val="1A6FC4"/>
          </a:solidFill>
          <a:ln w="12700">
            <a:solidFill>
              <a:srgbClr val="1A6FC4"/>
            </a:solidFill>
            <a:prstDash val="solid"/>
          </a:ln>
        </p:spPr>
        <p:txBody>
          <a:bodyPr/>
          <a:lstStyle/>
          <a:p>
            <a:endParaRPr lang="LID4096"/>
          </a:p>
        </p:txBody>
      </p:sp>
      <p:sp>
        <p:nvSpPr>
          <p:cNvPr id="7" name="Shape 5"/>
          <p:cNvSpPr/>
          <p:nvPr/>
        </p:nvSpPr>
        <p:spPr>
          <a:xfrm>
            <a:off x="502920" y="1261872"/>
            <a:ext cx="1005840" cy="228600"/>
          </a:xfrm>
          <a:prstGeom prst="rect">
            <a:avLst/>
          </a:prstGeom>
          <a:solidFill>
            <a:srgbClr val="1A6FC4"/>
          </a:solidFill>
          <a:ln w="12700">
            <a:solidFill>
              <a:srgbClr val="1A6FC4"/>
            </a:solidFill>
            <a:prstDash val="solid"/>
          </a:ln>
        </p:spPr>
        <p:txBody>
          <a:bodyPr/>
          <a:lstStyle/>
          <a:p>
            <a:endParaRPr lang="LID4096"/>
          </a:p>
        </p:txBody>
      </p:sp>
      <p:sp>
        <p:nvSpPr>
          <p:cNvPr id="8" name="Text 6"/>
          <p:cNvSpPr/>
          <p:nvPr/>
        </p:nvSpPr>
        <p:spPr>
          <a:xfrm>
            <a:off x="502920" y="1271016"/>
            <a:ext cx="1005840" cy="210312"/>
          </a:xfrm>
          <a:prstGeom prst="rect">
            <a:avLst/>
          </a:prstGeom>
          <a:noFill/>
          <a:ln/>
        </p:spPr>
        <p:txBody>
          <a:bodyPr wrap="square" lIns="0" tIns="0" rIns="0" bIns="0" rtlCol="0" anchor="ctr"/>
          <a:lstStyle/>
          <a:p>
            <a:pPr marL="0" indent="0" algn="ctr">
              <a:buNone/>
            </a:pPr>
            <a:r>
              <a:rPr lang="en-US" sz="750" b="1" dirty="0">
                <a:solidFill>
                  <a:srgbClr val="FFFFFF"/>
                </a:solidFill>
                <a:latin typeface="Garamond" pitchFamily="34" charset="0"/>
                <a:ea typeface="Garamond" pitchFamily="34" charset="-122"/>
                <a:cs typeface="Garamond" pitchFamily="34" charset="-120"/>
              </a:rPr>
              <a:t>STATISTICAL</a:t>
            </a:r>
            <a:endParaRPr lang="en-US" sz="750" dirty="0"/>
          </a:p>
        </p:txBody>
      </p:sp>
      <p:sp>
        <p:nvSpPr>
          <p:cNvPr id="9" name="Text 7"/>
          <p:cNvSpPr/>
          <p:nvPr/>
        </p:nvSpPr>
        <p:spPr>
          <a:xfrm>
            <a:off x="502920" y="1527048"/>
            <a:ext cx="3840480" cy="384048"/>
          </a:xfrm>
          <a:prstGeom prst="rect">
            <a:avLst/>
          </a:prstGeom>
          <a:noFill/>
          <a:ln/>
        </p:spPr>
        <p:txBody>
          <a:bodyPr wrap="square" lIns="0" tIns="0" rIns="0" bIns="0" rtlCol="0" anchor="ctr"/>
          <a:lstStyle/>
          <a:p>
            <a:pPr marL="0" indent="0">
              <a:buNone/>
            </a:pPr>
            <a:r>
              <a:rPr lang="en-US" sz="1400" b="1" dirty="0">
                <a:solidFill>
                  <a:srgbClr val="1A6FC4"/>
                </a:solidFill>
                <a:latin typeface="Palatino Linotype" pitchFamily="34" charset="0"/>
                <a:ea typeface="Palatino Linotype" pitchFamily="34" charset="-122"/>
                <a:cs typeface="Palatino Linotype" pitchFamily="34" charset="-120"/>
              </a:rPr>
              <a:t>Robust Z-score (MAD-based)</a:t>
            </a:r>
            <a:endParaRPr lang="en-US" sz="1400" dirty="0"/>
          </a:p>
        </p:txBody>
      </p:sp>
      <p:sp>
        <p:nvSpPr>
          <p:cNvPr id="10" name="Text 8"/>
          <p:cNvSpPr/>
          <p:nvPr/>
        </p:nvSpPr>
        <p:spPr>
          <a:xfrm>
            <a:off x="502920" y="1965960"/>
            <a:ext cx="3840480" cy="201168"/>
          </a:xfrm>
          <a:prstGeom prst="rect">
            <a:avLst/>
          </a:prstGeom>
          <a:noFill/>
          <a:ln/>
        </p:spPr>
        <p:txBody>
          <a:bodyPr wrap="square" lIns="0" tIns="0" rIns="0" bIns="0" rtlCol="0" anchor="ctr"/>
          <a:lstStyle/>
          <a:p>
            <a:pPr marL="0" indent="0">
              <a:buNone/>
            </a:pPr>
            <a:r>
              <a:rPr lang="en-US" sz="1050" b="1" dirty="0">
                <a:solidFill>
                  <a:srgbClr val="1A6FC4"/>
                </a:solidFill>
                <a:latin typeface="Garamond" pitchFamily="34" charset="0"/>
                <a:ea typeface="Garamond" pitchFamily="34" charset="-122"/>
                <a:cs typeface="Garamond" pitchFamily="34" charset="-120"/>
              </a:rPr>
              <a:t>▸  </a:t>
            </a:r>
            <a:r>
              <a:rPr lang="en-US" sz="1050" dirty="0">
                <a:solidFill>
                  <a:srgbClr val="1A202C"/>
                </a:solidFill>
                <a:latin typeface="Garamond" pitchFamily="34" charset="0"/>
                <a:ea typeface="Garamond" pitchFamily="34" charset="-122"/>
                <a:cs typeface="Garamond" pitchFamily="34" charset="-120"/>
              </a:rPr>
              <a:t>Uses Median Absolute Deviation (MAD) for outlier resistance</a:t>
            </a:r>
            <a:endParaRPr lang="en-US" sz="1050" dirty="0"/>
          </a:p>
        </p:txBody>
      </p:sp>
      <p:sp>
        <p:nvSpPr>
          <p:cNvPr id="11" name="Text 9"/>
          <p:cNvSpPr/>
          <p:nvPr/>
        </p:nvSpPr>
        <p:spPr>
          <a:xfrm>
            <a:off x="502920" y="2176272"/>
            <a:ext cx="3840480" cy="201168"/>
          </a:xfrm>
          <a:prstGeom prst="rect">
            <a:avLst/>
          </a:prstGeom>
          <a:noFill/>
          <a:ln/>
        </p:spPr>
        <p:txBody>
          <a:bodyPr wrap="square" lIns="0" tIns="0" rIns="0" bIns="0" rtlCol="0" anchor="ctr"/>
          <a:lstStyle/>
          <a:p>
            <a:pPr marL="0" indent="0">
              <a:buNone/>
            </a:pPr>
            <a:r>
              <a:rPr lang="en-US" sz="1050" b="1" dirty="0">
                <a:solidFill>
                  <a:srgbClr val="1A6FC4"/>
                </a:solidFill>
                <a:latin typeface="Garamond" pitchFamily="34" charset="0"/>
                <a:ea typeface="Garamond" pitchFamily="34" charset="-122"/>
                <a:cs typeface="Garamond" pitchFamily="34" charset="-120"/>
              </a:rPr>
              <a:t>▸  </a:t>
            </a:r>
            <a:r>
              <a:rPr lang="en-US" sz="1050" dirty="0">
                <a:solidFill>
                  <a:srgbClr val="1A202C"/>
                </a:solidFill>
                <a:latin typeface="Garamond" pitchFamily="34" charset="0"/>
                <a:ea typeface="Garamond" pitchFamily="34" charset="-122"/>
                <a:cs typeface="Garamond" pitchFamily="34" charset="-120"/>
              </a:rPr>
              <a:t>Score = max per-feature robust Z:  0.6745 × |x − median| / MAD</a:t>
            </a:r>
            <a:endParaRPr lang="en-US" sz="1050" dirty="0"/>
          </a:p>
        </p:txBody>
      </p:sp>
      <p:sp>
        <p:nvSpPr>
          <p:cNvPr id="12" name="Text 10"/>
          <p:cNvSpPr/>
          <p:nvPr/>
        </p:nvSpPr>
        <p:spPr>
          <a:xfrm>
            <a:off x="502920" y="2386584"/>
            <a:ext cx="3840480" cy="201168"/>
          </a:xfrm>
          <a:prstGeom prst="rect">
            <a:avLst/>
          </a:prstGeom>
          <a:noFill/>
          <a:ln/>
        </p:spPr>
        <p:txBody>
          <a:bodyPr wrap="square" lIns="0" tIns="0" rIns="0" bIns="0" rtlCol="0" anchor="ctr"/>
          <a:lstStyle/>
          <a:p>
            <a:pPr marL="0" indent="0">
              <a:buNone/>
            </a:pPr>
            <a:r>
              <a:rPr lang="en-US" sz="1050" b="1" dirty="0">
                <a:solidFill>
                  <a:srgbClr val="1A6FC4"/>
                </a:solidFill>
                <a:latin typeface="Garamond" pitchFamily="34" charset="0"/>
                <a:ea typeface="Garamond" pitchFamily="34" charset="-122"/>
                <a:cs typeface="Garamond" pitchFamily="34" charset="-120"/>
              </a:rPr>
              <a:t>▸  </a:t>
            </a:r>
            <a:r>
              <a:rPr lang="en-US" sz="1050" dirty="0">
                <a:solidFill>
                  <a:srgbClr val="1A202C"/>
                </a:solidFill>
                <a:latin typeface="Garamond" pitchFamily="34" charset="0"/>
                <a:ea typeface="Garamond" pitchFamily="34" charset="-122"/>
                <a:cs typeface="Garamond" pitchFamily="34" charset="-120"/>
              </a:rPr>
              <a:t>Warmup-calibrated at 10th percentile of first 300 test windows</a:t>
            </a:r>
            <a:endParaRPr lang="en-US" sz="1050" dirty="0"/>
          </a:p>
        </p:txBody>
      </p:sp>
      <p:sp>
        <p:nvSpPr>
          <p:cNvPr id="13" name="Text 11"/>
          <p:cNvSpPr/>
          <p:nvPr/>
        </p:nvSpPr>
        <p:spPr>
          <a:xfrm>
            <a:off x="502920" y="2596896"/>
            <a:ext cx="3840480" cy="201168"/>
          </a:xfrm>
          <a:prstGeom prst="rect">
            <a:avLst/>
          </a:prstGeom>
          <a:noFill/>
          <a:ln/>
        </p:spPr>
        <p:txBody>
          <a:bodyPr wrap="square" lIns="0" tIns="0" rIns="0" bIns="0" rtlCol="0" anchor="ctr"/>
          <a:lstStyle/>
          <a:p>
            <a:pPr marL="0" indent="0">
              <a:buNone/>
            </a:pPr>
            <a:r>
              <a:rPr lang="en-US" sz="1050" b="1" dirty="0">
                <a:solidFill>
                  <a:srgbClr val="1A6FC4"/>
                </a:solidFill>
                <a:latin typeface="Garamond" pitchFamily="34" charset="0"/>
                <a:ea typeface="Garamond" pitchFamily="34" charset="-122"/>
                <a:cs typeface="Garamond" pitchFamily="34" charset="-120"/>
              </a:rPr>
              <a:t>▸  </a:t>
            </a:r>
            <a:r>
              <a:rPr lang="en-US" sz="1050" dirty="0">
                <a:solidFill>
                  <a:srgbClr val="1A202C"/>
                </a:solidFill>
                <a:latin typeface="Garamond" pitchFamily="34" charset="0"/>
                <a:ea typeface="Garamond" pitchFamily="34" charset="-122"/>
                <a:cs typeface="Garamond" pitchFamily="34" charset="-120"/>
              </a:rPr>
              <a:t>Best event-level alerting on SKAB  →  Event F1 = 1.000</a:t>
            </a:r>
            <a:endParaRPr lang="en-US" sz="1050" dirty="0"/>
          </a:p>
        </p:txBody>
      </p:sp>
      <p:sp>
        <p:nvSpPr>
          <p:cNvPr id="14" name="Shape 12"/>
          <p:cNvSpPr/>
          <p:nvPr/>
        </p:nvSpPr>
        <p:spPr>
          <a:xfrm>
            <a:off x="4709160" y="1143000"/>
            <a:ext cx="4114800" cy="1737360"/>
          </a:xfrm>
          <a:prstGeom prst="rect">
            <a:avLst/>
          </a:prstGeom>
          <a:solidFill>
            <a:srgbClr val="FFFFFF"/>
          </a:solidFill>
          <a:ln w="19050">
            <a:solidFill>
              <a:srgbClr val="8B5CF6"/>
            </a:solidFill>
            <a:prstDash val="solid"/>
          </a:ln>
          <a:effectLst>
            <a:outerShdw blurRad="101600" dist="25400" dir="8100000" algn="bl" rotWithShape="0">
              <a:srgbClr val="000000">
                <a:alpha val="9000"/>
              </a:srgbClr>
            </a:outerShdw>
          </a:effectLst>
        </p:spPr>
        <p:txBody>
          <a:bodyPr/>
          <a:lstStyle/>
          <a:p>
            <a:endParaRPr lang="LID4096"/>
          </a:p>
        </p:txBody>
      </p:sp>
      <p:sp>
        <p:nvSpPr>
          <p:cNvPr id="15" name="Shape 13"/>
          <p:cNvSpPr/>
          <p:nvPr/>
        </p:nvSpPr>
        <p:spPr>
          <a:xfrm>
            <a:off x="4709160" y="1143000"/>
            <a:ext cx="4114800" cy="64008"/>
          </a:xfrm>
          <a:prstGeom prst="rect">
            <a:avLst/>
          </a:prstGeom>
          <a:solidFill>
            <a:srgbClr val="8B5CF6"/>
          </a:solidFill>
          <a:ln w="12700">
            <a:solidFill>
              <a:srgbClr val="8B5CF6"/>
            </a:solidFill>
            <a:prstDash val="solid"/>
          </a:ln>
        </p:spPr>
        <p:txBody>
          <a:bodyPr/>
          <a:lstStyle/>
          <a:p>
            <a:endParaRPr lang="LID4096"/>
          </a:p>
        </p:txBody>
      </p:sp>
      <p:sp>
        <p:nvSpPr>
          <p:cNvPr id="16" name="Shape 14"/>
          <p:cNvSpPr/>
          <p:nvPr/>
        </p:nvSpPr>
        <p:spPr>
          <a:xfrm>
            <a:off x="4846320" y="1261872"/>
            <a:ext cx="1005840" cy="228600"/>
          </a:xfrm>
          <a:prstGeom prst="rect">
            <a:avLst/>
          </a:prstGeom>
          <a:solidFill>
            <a:srgbClr val="8B5CF6"/>
          </a:solidFill>
          <a:ln w="12700">
            <a:solidFill>
              <a:srgbClr val="8B5CF6"/>
            </a:solidFill>
            <a:prstDash val="solid"/>
          </a:ln>
        </p:spPr>
        <p:txBody>
          <a:bodyPr/>
          <a:lstStyle/>
          <a:p>
            <a:endParaRPr lang="LID4096"/>
          </a:p>
        </p:txBody>
      </p:sp>
      <p:sp>
        <p:nvSpPr>
          <p:cNvPr id="17" name="Text 15"/>
          <p:cNvSpPr/>
          <p:nvPr/>
        </p:nvSpPr>
        <p:spPr>
          <a:xfrm>
            <a:off x="4846320" y="1271016"/>
            <a:ext cx="1005840" cy="210312"/>
          </a:xfrm>
          <a:prstGeom prst="rect">
            <a:avLst/>
          </a:prstGeom>
          <a:noFill/>
          <a:ln/>
        </p:spPr>
        <p:txBody>
          <a:bodyPr wrap="square" lIns="0" tIns="0" rIns="0" bIns="0" rtlCol="0" anchor="ctr"/>
          <a:lstStyle/>
          <a:p>
            <a:pPr marL="0" indent="0" algn="ctr">
              <a:buNone/>
            </a:pPr>
            <a:r>
              <a:rPr lang="en-US" sz="750" b="1" dirty="0">
                <a:solidFill>
                  <a:srgbClr val="FFFFFF"/>
                </a:solidFill>
                <a:latin typeface="Garamond" pitchFamily="34" charset="0"/>
                <a:ea typeface="Garamond" pitchFamily="34" charset="-122"/>
                <a:cs typeface="Garamond" pitchFamily="34" charset="-120"/>
              </a:rPr>
              <a:t>ENSEMBLE</a:t>
            </a:r>
            <a:endParaRPr lang="en-US" sz="750" dirty="0"/>
          </a:p>
        </p:txBody>
      </p:sp>
      <p:sp>
        <p:nvSpPr>
          <p:cNvPr id="18" name="Text 16"/>
          <p:cNvSpPr/>
          <p:nvPr/>
        </p:nvSpPr>
        <p:spPr>
          <a:xfrm>
            <a:off x="4846320" y="1527048"/>
            <a:ext cx="3840480" cy="384048"/>
          </a:xfrm>
          <a:prstGeom prst="rect">
            <a:avLst/>
          </a:prstGeom>
          <a:noFill/>
          <a:ln/>
        </p:spPr>
        <p:txBody>
          <a:bodyPr wrap="square" lIns="0" tIns="0" rIns="0" bIns="0" rtlCol="0" anchor="ctr"/>
          <a:lstStyle/>
          <a:p>
            <a:pPr marL="0" indent="0">
              <a:buNone/>
            </a:pPr>
            <a:r>
              <a:rPr lang="en-US" sz="1400" b="1" dirty="0">
                <a:solidFill>
                  <a:srgbClr val="8B5CF6"/>
                </a:solidFill>
                <a:latin typeface="Palatino Linotype" pitchFamily="34" charset="0"/>
                <a:ea typeface="Palatino Linotype" pitchFamily="34" charset="-122"/>
                <a:cs typeface="Palatino Linotype" pitchFamily="34" charset="-120"/>
              </a:rPr>
              <a:t>Isolation Forest (200 trees)</a:t>
            </a:r>
            <a:endParaRPr lang="en-US" sz="1400" dirty="0"/>
          </a:p>
        </p:txBody>
      </p:sp>
      <p:sp>
        <p:nvSpPr>
          <p:cNvPr id="19" name="Text 17"/>
          <p:cNvSpPr/>
          <p:nvPr/>
        </p:nvSpPr>
        <p:spPr>
          <a:xfrm>
            <a:off x="4846320" y="1965960"/>
            <a:ext cx="3840480" cy="201168"/>
          </a:xfrm>
          <a:prstGeom prst="rect">
            <a:avLst/>
          </a:prstGeom>
          <a:noFill/>
          <a:ln/>
        </p:spPr>
        <p:txBody>
          <a:bodyPr wrap="square" lIns="0" tIns="0" rIns="0" bIns="0" rtlCol="0" anchor="ctr"/>
          <a:lstStyle/>
          <a:p>
            <a:pPr marL="0" indent="0">
              <a:buNone/>
            </a:pPr>
            <a:r>
              <a:rPr lang="en-US" sz="1050" b="1" dirty="0">
                <a:solidFill>
                  <a:srgbClr val="8B5CF6"/>
                </a:solidFill>
                <a:latin typeface="Garamond" pitchFamily="34" charset="0"/>
                <a:ea typeface="Garamond" pitchFamily="34" charset="-122"/>
                <a:cs typeface="Garamond" pitchFamily="34" charset="-120"/>
              </a:rPr>
              <a:t>▸  </a:t>
            </a:r>
            <a:r>
              <a:rPr lang="en-US" sz="1050" dirty="0">
                <a:solidFill>
                  <a:srgbClr val="1A202C"/>
                </a:solidFill>
                <a:latin typeface="Garamond" pitchFamily="34" charset="0"/>
                <a:ea typeface="Garamond" pitchFamily="34" charset="-122"/>
                <a:cs typeface="Garamond" pitchFamily="34" charset="-120"/>
              </a:rPr>
              <a:t>Anomaly score = negated average path length in the forest</a:t>
            </a:r>
            <a:endParaRPr lang="en-US" sz="1050" dirty="0"/>
          </a:p>
        </p:txBody>
      </p:sp>
      <p:sp>
        <p:nvSpPr>
          <p:cNvPr id="20" name="Text 18"/>
          <p:cNvSpPr/>
          <p:nvPr/>
        </p:nvSpPr>
        <p:spPr>
          <a:xfrm>
            <a:off x="4846320" y="2176272"/>
            <a:ext cx="3840480" cy="201168"/>
          </a:xfrm>
          <a:prstGeom prst="rect">
            <a:avLst/>
          </a:prstGeom>
          <a:noFill/>
          <a:ln/>
        </p:spPr>
        <p:txBody>
          <a:bodyPr wrap="square" lIns="0" tIns="0" rIns="0" bIns="0" rtlCol="0" anchor="ctr"/>
          <a:lstStyle/>
          <a:p>
            <a:pPr marL="0" indent="0">
              <a:buNone/>
            </a:pPr>
            <a:r>
              <a:rPr lang="en-US" sz="1050" b="1" dirty="0">
                <a:solidFill>
                  <a:srgbClr val="8B5CF6"/>
                </a:solidFill>
                <a:latin typeface="Garamond" pitchFamily="34" charset="0"/>
                <a:ea typeface="Garamond" pitchFamily="34" charset="-122"/>
                <a:cs typeface="Garamond" pitchFamily="34" charset="-120"/>
              </a:rPr>
              <a:t>▸  </a:t>
            </a:r>
            <a:r>
              <a:rPr lang="en-US" sz="1050" dirty="0">
                <a:solidFill>
                  <a:srgbClr val="1A202C"/>
                </a:solidFill>
                <a:latin typeface="Garamond" pitchFamily="34" charset="0"/>
                <a:ea typeface="Garamond" pitchFamily="34" charset="-122"/>
                <a:cs typeface="Garamond" pitchFamily="34" charset="-120"/>
              </a:rPr>
              <a:t>Nonlinear — exploits the full engineered feature matrix</a:t>
            </a:r>
            <a:endParaRPr lang="en-US" sz="1050" dirty="0"/>
          </a:p>
        </p:txBody>
      </p:sp>
      <p:sp>
        <p:nvSpPr>
          <p:cNvPr id="21" name="Text 19"/>
          <p:cNvSpPr/>
          <p:nvPr/>
        </p:nvSpPr>
        <p:spPr>
          <a:xfrm>
            <a:off x="4846320" y="2386584"/>
            <a:ext cx="3840480" cy="201168"/>
          </a:xfrm>
          <a:prstGeom prst="rect">
            <a:avLst/>
          </a:prstGeom>
          <a:noFill/>
          <a:ln/>
        </p:spPr>
        <p:txBody>
          <a:bodyPr wrap="square" lIns="0" tIns="0" rIns="0" bIns="0" rtlCol="0" anchor="ctr"/>
          <a:lstStyle/>
          <a:p>
            <a:pPr marL="0" indent="0">
              <a:buNone/>
            </a:pPr>
            <a:r>
              <a:rPr lang="en-US" sz="1050" b="1" dirty="0">
                <a:solidFill>
                  <a:srgbClr val="8B5CF6"/>
                </a:solidFill>
                <a:latin typeface="Garamond" pitchFamily="34" charset="0"/>
                <a:ea typeface="Garamond" pitchFamily="34" charset="-122"/>
                <a:cs typeface="Garamond" pitchFamily="34" charset="-120"/>
              </a:rPr>
              <a:t>▸  </a:t>
            </a:r>
            <a:r>
              <a:rPr lang="en-US" sz="1050" dirty="0">
                <a:solidFill>
                  <a:srgbClr val="1A202C"/>
                </a:solidFill>
                <a:latin typeface="Garamond" pitchFamily="34" charset="0"/>
                <a:ea typeface="Garamond" pitchFamily="34" charset="-122"/>
                <a:cs typeface="Garamond" pitchFamily="34" charset="-120"/>
              </a:rPr>
              <a:t>No distribution assumption on normal data</a:t>
            </a:r>
            <a:endParaRPr lang="en-US" sz="1050" dirty="0"/>
          </a:p>
        </p:txBody>
      </p:sp>
      <p:sp>
        <p:nvSpPr>
          <p:cNvPr id="22" name="Text 20"/>
          <p:cNvSpPr/>
          <p:nvPr/>
        </p:nvSpPr>
        <p:spPr>
          <a:xfrm>
            <a:off x="4846320" y="2596896"/>
            <a:ext cx="3840480" cy="201168"/>
          </a:xfrm>
          <a:prstGeom prst="rect">
            <a:avLst/>
          </a:prstGeom>
          <a:noFill/>
          <a:ln/>
        </p:spPr>
        <p:txBody>
          <a:bodyPr wrap="square" lIns="0" tIns="0" rIns="0" bIns="0" rtlCol="0" anchor="ctr"/>
          <a:lstStyle/>
          <a:p>
            <a:pPr marL="0" indent="0">
              <a:buNone/>
            </a:pPr>
            <a:r>
              <a:rPr lang="en-US" sz="1050" b="1" dirty="0">
                <a:solidFill>
                  <a:srgbClr val="8B5CF6"/>
                </a:solidFill>
                <a:latin typeface="Garamond" pitchFamily="34" charset="0"/>
                <a:ea typeface="Garamond" pitchFamily="34" charset="-122"/>
                <a:cs typeface="Garamond" pitchFamily="34" charset="-120"/>
              </a:rPr>
              <a:t>▸  </a:t>
            </a:r>
            <a:r>
              <a:rPr lang="en-US" sz="1050" dirty="0">
                <a:solidFill>
                  <a:srgbClr val="1A202C"/>
                </a:solidFill>
                <a:latin typeface="Garamond" pitchFamily="34" charset="0"/>
                <a:ea typeface="Garamond" pitchFamily="34" charset="-122"/>
                <a:cs typeface="Garamond" pitchFamily="34" charset="-120"/>
              </a:rPr>
              <a:t>Prone to alert fragmentation on sustained anomalies</a:t>
            </a:r>
            <a:endParaRPr lang="en-US" sz="1050" dirty="0"/>
          </a:p>
        </p:txBody>
      </p:sp>
      <p:sp>
        <p:nvSpPr>
          <p:cNvPr id="23" name="Shape 21"/>
          <p:cNvSpPr/>
          <p:nvPr/>
        </p:nvSpPr>
        <p:spPr>
          <a:xfrm>
            <a:off x="365760" y="3017520"/>
            <a:ext cx="4114800" cy="1737360"/>
          </a:xfrm>
          <a:prstGeom prst="rect">
            <a:avLst/>
          </a:prstGeom>
          <a:solidFill>
            <a:srgbClr val="FFFFFF"/>
          </a:solidFill>
          <a:ln w="19050">
            <a:solidFill>
              <a:srgbClr val="00B4A6"/>
            </a:solidFill>
            <a:prstDash val="solid"/>
          </a:ln>
          <a:effectLst>
            <a:outerShdw blurRad="101600" dist="25400" dir="8100000" algn="bl" rotWithShape="0">
              <a:srgbClr val="000000">
                <a:alpha val="9000"/>
              </a:srgbClr>
            </a:outerShdw>
          </a:effectLst>
        </p:spPr>
        <p:txBody>
          <a:bodyPr/>
          <a:lstStyle/>
          <a:p>
            <a:endParaRPr lang="LID4096"/>
          </a:p>
        </p:txBody>
      </p:sp>
      <p:sp>
        <p:nvSpPr>
          <p:cNvPr id="24" name="Shape 22"/>
          <p:cNvSpPr/>
          <p:nvPr/>
        </p:nvSpPr>
        <p:spPr>
          <a:xfrm>
            <a:off x="365760" y="3017520"/>
            <a:ext cx="4114800" cy="64008"/>
          </a:xfrm>
          <a:prstGeom prst="rect">
            <a:avLst/>
          </a:prstGeom>
          <a:solidFill>
            <a:srgbClr val="00B4A6"/>
          </a:solidFill>
          <a:ln w="12700">
            <a:solidFill>
              <a:srgbClr val="00B4A6"/>
            </a:solidFill>
            <a:prstDash val="solid"/>
          </a:ln>
        </p:spPr>
        <p:txBody>
          <a:bodyPr/>
          <a:lstStyle/>
          <a:p>
            <a:endParaRPr lang="LID4096"/>
          </a:p>
        </p:txBody>
      </p:sp>
      <p:sp>
        <p:nvSpPr>
          <p:cNvPr id="25" name="Shape 23"/>
          <p:cNvSpPr/>
          <p:nvPr/>
        </p:nvSpPr>
        <p:spPr>
          <a:xfrm>
            <a:off x="502920" y="3136392"/>
            <a:ext cx="1005840" cy="228600"/>
          </a:xfrm>
          <a:prstGeom prst="rect">
            <a:avLst/>
          </a:prstGeom>
          <a:solidFill>
            <a:srgbClr val="00B4A6"/>
          </a:solidFill>
          <a:ln w="12700">
            <a:solidFill>
              <a:srgbClr val="00B4A6"/>
            </a:solidFill>
            <a:prstDash val="solid"/>
          </a:ln>
        </p:spPr>
        <p:txBody>
          <a:bodyPr/>
          <a:lstStyle/>
          <a:p>
            <a:endParaRPr lang="LID4096"/>
          </a:p>
        </p:txBody>
      </p:sp>
      <p:sp>
        <p:nvSpPr>
          <p:cNvPr id="26" name="Text 24"/>
          <p:cNvSpPr/>
          <p:nvPr/>
        </p:nvSpPr>
        <p:spPr>
          <a:xfrm>
            <a:off x="502920" y="3145536"/>
            <a:ext cx="1005840" cy="210312"/>
          </a:xfrm>
          <a:prstGeom prst="rect">
            <a:avLst/>
          </a:prstGeom>
          <a:noFill/>
          <a:ln/>
        </p:spPr>
        <p:txBody>
          <a:bodyPr wrap="square" lIns="0" tIns="0" rIns="0" bIns="0" rtlCol="0" anchor="ctr"/>
          <a:lstStyle/>
          <a:p>
            <a:pPr marL="0" indent="0" algn="ctr">
              <a:buNone/>
            </a:pPr>
            <a:r>
              <a:rPr lang="en-US" sz="750" b="1" dirty="0">
                <a:solidFill>
                  <a:srgbClr val="FFFFFF"/>
                </a:solidFill>
                <a:latin typeface="Garamond" pitchFamily="34" charset="0"/>
                <a:ea typeface="Garamond" pitchFamily="34" charset="-122"/>
                <a:cs typeface="Garamond" pitchFamily="34" charset="-120"/>
              </a:rPr>
              <a:t>DEEP LEARNING</a:t>
            </a:r>
            <a:endParaRPr lang="en-US" sz="750" dirty="0"/>
          </a:p>
        </p:txBody>
      </p:sp>
      <p:sp>
        <p:nvSpPr>
          <p:cNvPr id="27" name="Text 25"/>
          <p:cNvSpPr/>
          <p:nvPr/>
        </p:nvSpPr>
        <p:spPr>
          <a:xfrm>
            <a:off x="502920" y="3401568"/>
            <a:ext cx="3840480" cy="384048"/>
          </a:xfrm>
          <a:prstGeom prst="rect">
            <a:avLst/>
          </a:prstGeom>
          <a:noFill/>
          <a:ln/>
        </p:spPr>
        <p:txBody>
          <a:bodyPr wrap="square" lIns="0" tIns="0" rIns="0" bIns="0" rtlCol="0" anchor="ctr"/>
          <a:lstStyle/>
          <a:p>
            <a:pPr marL="0" indent="0">
              <a:buNone/>
            </a:pPr>
            <a:r>
              <a:rPr lang="en-US" sz="1400" b="1" dirty="0">
                <a:solidFill>
                  <a:srgbClr val="00B4A6"/>
                </a:solidFill>
                <a:latin typeface="Palatino Linotype" pitchFamily="34" charset="0"/>
                <a:ea typeface="Palatino Linotype" pitchFamily="34" charset="-122"/>
                <a:cs typeface="Palatino Linotype" pitchFamily="34" charset="-120"/>
              </a:rPr>
              <a:t>LSTM Autoencoder</a:t>
            </a:r>
            <a:endParaRPr lang="en-US" sz="1400" dirty="0"/>
          </a:p>
        </p:txBody>
      </p:sp>
      <p:sp>
        <p:nvSpPr>
          <p:cNvPr id="28" name="Text 26"/>
          <p:cNvSpPr/>
          <p:nvPr/>
        </p:nvSpPr>
        <p:spPr>
          <a:xfrm>
            <a:off x="502920" y="3840480"/>
            <a:ext cx="3840480" cy="201168"/>
          </a:xfrm>
          <a:prstGeom prst="rect">
            <a:avLst/>
          </a:prstGeom>
          <a:noFill/>
          <a:ln/>
        </p:spPr>
        <p:txBody>
          <a:bodyPr wrap="square" lIns="0" tIns="0" rIns="0" bIns="0" rtlCol="0" anchor="ctr"/>
          <a:lstStyle/>
          <a:p>
            <a:pPr marL="0" indent="0">
              <a:buNone/>
            </a:pPr>
            <a:r>
              <a:rPr lang="en-US" sz="1050" b="1" dirty="0">
                <a:solidFill>
                  <a:srgbClr val="00B4A6"/>
                </a:solidFill>
                <a:latin typeface="Garamond" pitchFamily="34" charset="0"/>
                <a:ea typeface="Garamond" pitchFamily="34" charset="-122"/>
                <a:cs typeface="Garamond" pitchFamily="34" charset="-120"/>
              </a:rPr>
              <a:t>▸  </a:t>
            </a:r>
            <a:r>
              <a:rPr lang="en-US" sz="1050" dirty="0">
                <a:solidFill>
                  <a:srgbClr val="1A202C"/>
                </a:solidFill>
                <a:latin typeface="Garamond" pitchFamily="34" charset="0"/>
                <a:ea typeface="Garamond" pitchFamily="34" charset="-122"/>
                <a:cs typeface="Garamond" pitchFamily="34" charset="-120"/>
              </a:rPr>
              <a:t>Encoder: LSTM(input → hidden=32)  ·  Decoder: LSTM(32 → input)</a:t>
            </a:r>
            <a:endParaRPr lang="en-US" sz="1050" dirty="0"/>
          </a:p>
        </p:txBody>
      </p:sp>
      <p:sp>
        <p:nvSpPr>
          <p:cNvPr id="29" name="Text 27"/>
          <p:cNvSpPr/>
          <p:nvPr/>
        </p:nvSpPr>
        <p:spPr>
          <a:xfrm>
            <a:off x="502920" y="4050792"/>
            <a:ext cx="3840480" cy="201168"/>
          </a:xfrm>
          <a:prstGeom prst="rect">
            <a:avLst/>
          </a:prstGeom>
          <a:noFill/>
          <a:ln/>
        </p:spPr>
        <p:txBody>
          <a:bodyPr wrap="square" lIns="0" tIns="0" rIns="0" bIns="0" rtlCol="0" anchor="ctr"/>
          <a:lstStyle/>
          <a:p>
            <a:pPr marL="0" indent="0">
              <a:buNone/>
            </a:pPr>
            <a:r>
              <a:rPr lang="en-US" sz="1050" b="1" dirty="0">
                <a:solidFill>
                  <a:srgbClr val="00B4A6"/>
                </a:solidFill>
                <a:latin typeface="Garamond" pitchFamily="34" charset="0"/>
                <a:ea typeface="Garamond" pitchFamily="34" charset="-122"/>
                <a:cs typeface="Garamond" pitchFamily="34" charset="-120"/>
              </a:rPr>
              <a:t>▸  </a:t>
            </a:r>
            <a:r>
              <a:rPr lang="en-US" sz="1050" dirty="0">
                <a:solidFill>
                  <a:srgbClr val="1A202C"/>
                </a:solidFill>
                <a:latin typeface="Garamond" pitchFamily="34" charset="0"/>
                <a:ea typeface="Garamond" pitchFamily="34" charset="-122"/>
                <a:cs typeface="Garamond" pitchFamily="34" charset="-120"/>
              </a:rPr>
              <a:t>Trained on normal windows with MSE reconstruction loss</a:t>
            </a:r>
            <a:endParaRPr lang="en-US" sz="1050" dirty="0"/>
          </a:p>
        </p:txBody>
      </p:sp>
      <p:sp>
        <p:nvSpPr>
          <p:cNvPr id="30" name="Text 28"/>
          <p:cNvSpPr/>
          <p:nvPr/>
        </p:nvSpPr>
        <p:spPr>
          <a:xfrm>
            <a:off x="502920" y="4261104"/>
            <a:ext cx="3840480" cy="201168"/>
          </a:xfrm>
          <a:prstGeom prst="rect">
            <a:avLst/>
          </a:prstGeom>
          <a:noFill/>
          <a:ln/>
        </p:spPr>
        <p:txBody>
          <a:bodyPr wrap="square" lIns="0" tIns="0" rIns="0" bIns="0" rtlCol="0" anchor="ctr"/>
          <a:lstStyle/>
          <a:p>
            <a:pPr marL="0" indent="0">
              <a:buNone/>
            </a:pPr>
            <a:r>
              <a:rPr lang="en-US" sz="1050" b="1" dirty="0">
                <a:solidFill>
                  <a:srgbClr val="00B4A6"/>
                </a:solidFill>
                <a:latin typeface="Garamond" pitchFamily="34" charset="0"/>
                <a:ea typeface="Garamond" pitchFamily="34" charset="-122"/>
                <a:cs typeface="Garamond" pitchFamily="34" charset="-120"/>
              </a:rPr>
              <a:t>▸  </a:t>
            </a:r>
            <a:r>
              <a:rPr lang="en-US" sz="1050" dirty="0">
                <a:solidFill>
                  <a:srgbClr val="1A202C"/>
                </a:solidFill>
                <a:latin typeface="Garamond" pitchFamily="34" charset="0"/>
                <a:ea typeface="Garamond" pitchFamily="34" charset="-122"/>
                <a:cs typeface="Garamond" pitchFamily="34" charset="-120"/>
              </a:rPr>
              <a:t>Score = mean squared reconstruction error over full window</a:t>
            </a:r>
            <a:endParaRPr lang="en-US" sz="1050" dirty="0"/>
          </a:p>
        </p:txBody>
      </p:sp>
      <p:sp>
        <p:nvSpPr>
          <p:cNvPr id="31" name="Text 29"/>
          <p:cNvSpPr/>
          <p:nvPr/>
        </p:nvSpPr>
        <p:spPr>
          <a:xfrm>
            <a:off x="502920" y="4471416"/>
            <a:ext cx="3840480" cy="201168"/>
          </a:xfrm>
          <a:prstGeom prst="rect">
            <a:avLst/>
          </a:prstGeom>
          <a:noFill/>
          <a:ln/>
        </p:spPr>
        <p:txBody>
          <a:bodyPr wrap="square" lIns="0" tIns="0" rIns="0" bIns="0" rtlCol="0" anchor="ctr"/>
          <a:lstStyle/>
          <a:p>
            <a:pPr marL="0" indent="0">
              <a:buNone/>
            </a:pPr>
            <a:r>
              <a:rPr lang="en-US" sz="1050" b="1" dirty="0">
                <a:solidFill>
                  <a:srgbClr val="00B4A6"/>
                </a:solidFill>
                <a:latin typeface="Garamond" pitchFamily="34" charset="0"/>
                <a:ea typeface="Garamond" pitchFamily="34" charset="-122"/>
                <a:cs typeface="Garamond" pitchFamily="34" charset="-120"/>
              </a:rPr>
              <a:t>▸  </a:t>
            </a:r>
            <a:r>
              <a:rPr lang="en-US" sz="1050" dirty="0">
                <a:solidFill>
                  <a:srgbClr val="1A202C"/>
                </a:solidFill>
                <a:latin typeface="Garamond" pitchFamily="34" charset="0"/>
                <a:ea typeface="Garamond" pitchFamily="34" charset="-122"/>
                <a:cs typeface="Garamond" pitchFamily="34" charset="-120"/>
              </a:rPr>
              <a:t>Best overall: PR-AUC 0.950, Event F1 1.000 on ec2_network</a:t>
            </a:r>
            <a:endParaRPr lang="en-US" sz="1050" dirty="0"/>
          </a:p>
        </p:txBody>
      </p:sp>
      <p:sp>
        <p:nvSpPr>
          <p:cNvPr id="32" name="Shape 30"/>
          <p:cNvSpPr/>
          <p:nvPr/>
        </p:nvSpPr>
        <p:spPr>
          <a:xfrm>
            <a:off x="4709160" y="3017520"/>
            <a:ext cx="4114800" cy="1737360"/>
          </a:xfrm>
          <a:prstGeom prst="rect">
            <a:avLst/>
          </a:prstGeom>
          <a:solidFill>
            <a:srgbClr val="FFFFFF"/>
          </a:solidFill>
          <a:ln w="19050">
            <a:solidFill>
              <a:srgbClr val="F4844C"/>
            </a:solidFill>
            <a:prstDash val="solid"/>
          </a:ln>
          <a:effectLst>
            <a:outerShdw blurRad="101600" dist="25400" dir="8100000" algn="bl" rotWithShape="0">
              <a:srgbClr val="000000">
                <a:alpha val="9000"/>
              </a:srgbClr>
            </a:outerShdw>
          </a:effectLst>
        </p:spPr>
        <p:txBody>
          <a:bodyPr/>
          <a:lstStyle/>
          <a:p>
            <a:endParaRPr lang="LID4096"/>
          </a:p>
        </p:txBody>
      </p:sp>
      <p:sp>
        <p:nvSpPr>
          <p:cNvPr id="33" name="Shape 31"/>
          <p:cNvSpPr/>
          <p:nvPr/>
        </p:nvSpPr>
        <p:spPr>
          <a:xfrm>
            <a:off x="4709160" y="3017520"/>
            <a:ext cx="4114800" cy="64008"/>
          </a:xfrm>
          <a:prstGeom prst="rect">
            <a:avLst/>
          </a:prstGeom>
          <a:solidFill>
            <a:srgbClr val="F4844C"/>
          </a:solidFill>
          <a:ln w="12700">
            <a:solidFill>
              <a:srgbClr val="F4844C"/>
            </a:solidFill>
            <a:prstDash val="solid"/>
          </a:ln>
        </p:spPr>
        <p:txBody>
          <a:bodyPr/>
          <a:lstStyle/>
          <a:p>
            <a:endParaRPr lang="LID4096"/>
          </a:p>
        </p:txBody>
      </p:sp>
      <p:sp>
        <p:nvSpPr>
          <p:cNvPr id="34" name="Shape 32"/>
          <p:cNvSpPr/>
          <p:nvPr/>
        </p:nvSpPr>
        <p:spPr>
          <a:xfrm>
            <a:off x="4846320" y="3136392"/>
            <a:ext cx="1005840" cy="228600"/>
          </a:xfrm>
          <a:prstGeom prst="rect">
            <a:avLst/>
          </a:prstGeom>
          <a:solidFill>
            <a:srgbClr val="F4844C"/>
          </a:solidFill>
          <a:ln w="12700">
            <a:solidFill>
              <a:srgbClr val="F4844C"/>
            </a:solidFill>
            <a:prstDash val="solid"/>
          </a:ln>
        </p:spPr>
        <p:txBody>
          <a:bodyPr/>
          <a:lstStyle/>
          <a:p>
            <a:endParaRPr lang="LID4096"/>
          </a:p>
        </p:txBody>
      </p:sp>
      <p:sp>
        <p:nvSpPr>
          <p:cNvPr id="35" name="Text 33"/>
          <p:cNvSpPr/>
          <p:nvPr/>
        </p:nvSpPr>
        <p:spPr>
          <a:xfrm>
            <a:off x="4846320" y="3145536"/>
            <a:ext cx="1005840" cy="210312"/>
          </a:xfrm>
          <a:prstGeom prst="rect">
            <a:avLst/>
          </a:prstGeom>
          <a:noFill/>
          <a:ln/>
        </p:spPr>
        <p:txBody>
          <a:bodyPr wrap="square" lIns="0" tIns="0" rIns="0" bIns="0" rtlCol="0" anchor="ctr"/>
          <a:lstStyle/>
          <a:p>
            <a:pPr marL="0" indent="0" algn="ctr">
              <a:buNone/>
            </a:pPr>
            <a:r>
              <a:rPr lang="en-US" sz="750" b="1" dirty="0">
                <a:solidFill>
                  <a:srgbClr val="FFFFFF"/>
                </a:solidFill>
                <a:latin typeface="Garamond" pitchFamily="34" charset="0"/>
                <a:ea typeface="Garamond" pitchFamily="34" charset="-122"/>
                <a:cs typeface="Garamond" pitchFamily="34" charset="-120"/>
              </a:rPr>
              <a:t>DEEP LEARNING</a:t>
            </a:r>
            <a:endParaRPr lang="en-US" sz="750" dirty="0"/>
          </a:p>
        </p:txBody>
      </p:sp>
      <p:sp>
        <p:nvSpPr>
          <p:cNvPr id="36" name="Text 34"/>
          <p:cNvSpPr/>
          <p:nvPr/>
        </p:nvSpPr>
        <p:spPr>
          <a:xfrm>
            <a:off x="4846320" y="3401568"/>
            <a:ext cx="3840480" cy="384048"/>
          </a:xfrm>
          <a:prstGeom prst="rect">
            <a:avLst/>
          </a:prstGeom>
          <a:noFill/>
          <a:ln/>
        </p:spPr>
        <p:txBody>
          <a:bodyPr wrap="square" lIns="0" tIns="0" rIns="0" bIns="0" rtlCol="0" anchor="ctr"/>
          <a:lstStyle/>
          <a:p>
            <a:pPr marL="0" indent="0">
              <a:buNone/>
            </a:pPr>
            <a:r>
              <a:rPr lang="en-US" sz="1400" b="1" dirty="0">
                <a:solidFill>
                  <a:srgbClr val="F4844C"/>
                </a:solidFill>
                <a:latin typeface="Palatino Linotype" pitchFamily="34" charset="0"/>
                <a:ea typeface="Palatino Linotype" pitchFamily="34" charset="-122"/>
                <a:cs typeface="Palatino Linotype" pitchFamily="34" charset="-120"/>
              </a:rPr>
              <a:t>CNN Autoencoder</a:t>
            </a:r>
            <a:endParaRPr lang="en-US" sz="1400" dirty="0"/>
          </a:p>
        </p:txBody>
      </p:sp>
      <p:sp>
        <p:nvSpPr>
          <p:cNvPr id="37" name="Text 35"/>
          <p:cNvSpPr/>
          <p:nvPr/>
        </p:nvSpPr>
        <p:spPr>
          <a:xfrm>
            <a:off x="4846320" y="3840480"/>
            <a:ext cx="3840480" cy="201168"/>
          </a:xfrm>
          <a:prstGeom prst="rect">
            <a:avLst/>
          </a:prstGeom>
          <a:noFill/>
          <a:ln/>
        </p:spPr>
        <p:txBody>
          <a:bodyPr wrap="square" lIns="0" tIns="0" rIns="0" bIns="0" rtlCol="0" anchor="ctr"/>
          <a:lstStyle/>
          <a:p>
            <a:pPr marL="0" indent="0">
              <a:buNone/>
            </a:pPr>
            <a:r>
              <a:rPr lang="en-US" sz="1050" b="1" dirty="0">
                <a:solidFill>
                  <a:srgbClr val="F4844C"/>
                </a:solidFill>
                <a:latin typeface="Garamond" pitchFamily="34" charset="0"/>
                <a:ea typeface="Garamond" pitchFamily="34" charset="-122"/>
                <a:cs typeface="Garamond" pitchFamily="34" charset="-120"/>
              </a:rPr>
              <a:t>▸  </a:t>
            </a:r>
            <a:r>
              <a:rPr lang="en-US" sz="1050" dirty="0">
                <a:solidFill>
                  <a:srgbClr val="1A202C"/>
                </a:solidFill>
                <a:latin typeface="Garamond" pitchFamily="34" charset="0"/>
                <a:ea typeface="Garamond" pitchFamily="34" charset="-122"/>
                <a:cs typeface="Garamond" pitchFamily="34" charset="-120"/>
              </a:rPr>
              <a:t>4-layer 1-D Conv: ch→32→16 (encoder)  ·  16→32→ch (decoder)</a:t>
            </a:r>
            <a:endParaRPr lang="en-US" sz="1050" dirty="0"/>
          </a:p>
        </p:txBody>
      </p:sp>
      <p:sp>
        <p:nvSpPr>
          <p:cNvPr id="38" name="Text 36"/>
          <p:cNvSpPr/>
          <p:nvPr/>
        </p:nvSpPr>
        <p:spPr>
          <a:xfrm>
            <a:off x="4846320" y="4050792"/>
            <a:ext cx="3840480" cy="201168"/>
          </a:xfrm>
          <a:prstGeom prst="rect">
            <a:avLst/>
          </a:prstGeom>
          <a:noFill/>
          <a:ln/>
        </p:spPr>
        <p:txBody>
          <a:bodyPr wrap="square" lIns="0" tIns="0" rIns="0" bIns="0" rtlCol="0" anchor="ctr"/>
          <a:lstStyle/>
          <a:p>
            <a:pPr marL="0" indent="0">
              <a:buNone/>
            </a:pPr>
            <a:r>
              <a:rPr lang="en-US" sz="1050" b="1" dirty="0">
                <a:solidFill>
                  <a:srgbClr val="F4844C"/>
                </a:solidFill>
                <a:latin typeface="Garamond" pitchFamily="34" charset="0"/>
                <a:ea typeface="Garamond" pitchFamily="34" charset="-122"/>
                <a:cs typeface="Garamond" pitchFamily="34" charset="-120"/>
              </a:rPr>
              <a:t>▸  </a:t>
            </a:r>
            <a:r>
              <a:rPr lang="en-US" sz="1050" dirty="0">
                <a:solidFill>
                  <a:srgbClr val="1A202C"/>
                </a:solidFill>
                <a:latin typeface="Garamond" pitchFamily="34" charset="0"/>
                <a:ea typeface="Garamond" pitchFamily="34" charset="-122"/>
                <a:cs typeface="Garamond" pitchFamily="34" charset="-120"/>
              </a:rPr>
              <a:t>Same-padding preserves time dimension; bottleneck in channels</a:t>
            </a:r>
            <a:endParaRPr lang="en-US" sz="1050" dirty="0"/>
          </a:p>
        </p:txBody>
      </p:sp>
      <p:sp>
        <p:nvSpPr>
          <p:cNvPr id="39" name="Text 37"/>
          <p:cNvSpPr/>
          <p:nvPr/>
        </p:nvSpPr>
        <p:spPr>
          <a:xfrm>
            <a:off x="4846320" y="4261104"/>
            <a:ext cx="3840480" cy="201168"/>
          </a:xfrm>
          <a:prstGeom prst="rect">
            <a:avLst/>
          </a:prstGeom>
          <a:noFill/>
          <a:ln/>
        </p:spPr>
        <p:txBody>
          <a:bodyPr wrap="square" lIns="0" tIns="0" rIns="0" bIns="0" rtlCol="0" anchor="ctr"/>
          <a:lstStyle/>
          <a:p>
            <a:pPr marL="0" indent="0">
              <a:buNone/>
            </a:pPr>
            <a:r>
              <a:rPr lang="en-US" sz="1050" b="1" dirty="0">
                <a:solidFill>
                  <a:srgbClr val="F4844C"/>
                </a:solidFill>
                <a:latin typeface="Garamond" pitchFamily="34" charset="0"/>
                <a:ea typeface="Garamond" pitchFamily="34" charset="-122"/>
                <a:cs typeface="Garamond" pitchFamily="34" charset="-120"/>
              </a:rPr>
              <a:t>▸  </a:t>
            </a:r>
            <a:r>
              <a:rPr lang="en-US" sz="1050" dirty="0">
                <a:solidFill>
                  <a:srgbClr val="1A202C"/>
                </a:solidFill>
                <a:latin typeface="Garamond" pitchFamily="34" charset="0"/>
                <a:ea typeface="Garamond" pitchFamily="34" charset="-122"/>
                <a:cs typeface="Garamond" pitchFamily="34" charset="-120"/>
              </a:rPr>
              <a:t>Captures local temporal shape patterns (short-range motifs)</a:t>
            </a:r>
            <a:endParaRPr lang="en-US" sz="1050" dirty="0"/>
          </a:p>
        </p:txBody>
      </p:sp>
      <p:sp>
        <p:nvSpPr>
          <p:cNvPr id="40" name="Text 38"/>
          <p:cNvSpPr/>
          <p:nvPr/>
        </p:nvSpPr>
        <p:spPr>
          <a:xfrm>
            <a:off x="4846320" y="4471416"/>
            <a:ext cx="3840480" cy="201168"/>
          </a:xfrm>
          <a:prstGeom prst="rect">
            <a:avLst/>
          </a:prstGeom>
          <a:noFill/>
          <a:ln/>
        </p:spPr>
        <p:txBody>
          <a:bodyPr wrap="square" lIns="0" tIns="0" rIns="0" bIns="0" rtlCol="0" anchor="ctr"/>
          <a:lstStyle/>
          <a:p>
            <a:pPr marL="0" indent="0">
              <a:buNone/>
            </a:pPr>
            <a:r>
              <a:rPr lang="en-US" sz="1050" b="1" dirty="0">
                <a:solidFill>
                  <a:srgbClr val="F4844C"/>
                </a:solidFill>
                <a:latin typeface="Garamond" pitchFamily="34" charset="0"/>
                <a:ea typeface="Garamond" pitchFamily="34" charset="-122"/>
                <a:cs typeface="Garamond" pitchFamily="34" charset="-120"/>
              </a:rPr>
              <a:t>▸  </a:t>
            </a:r>
            <a:r>
              <a:rPr lang="en-US" sz="1050" dirty="0">
                <a:solidFill>
                  <a:srgbClr val="1A202C"/>
                </a:solidFill>
                <a:latin typeface="Garamond" pitchFamily="34" charset="0"/>
                <a:ea typeface="Garamond" pitchFamily="34" charset="-122"/>
                <a:cs typeface="Garamond" pitchFamily="34" charset="-120"/>
              </a:rPr>
              <a:t>Tracks LSTM-AE closely; weaker on sustained network spikes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28600"/>
            <a:ext cx="64008" cy="530352"/>
          </a:xfrm>
          <a:prstGeom prst="rect">
            <a:avLst/>
          </a:prstGeom>
          <a:solidFill>
            <a:srgbClr val="29ABE2"/>
          </a:solidFill>
          <a:ln w="12700">
            <a:solidFill>
              <a:srgbClr val="29ABE2"/>
            </a:solidFill>
            <a:prstDash val="solid"/>
          </a:ln>
        </p:spPr>
        <p:txBody>
          <a:bodyPr/>
          <a:lstStyle/>
          <a:p>
            <a:endParaRPr lang="LID4096"/>
          </a:p>
        </p:txBody>
      </p:sp>
      <p:sp>
        <p:nvSpPr>
          <p:cNvPr id="3" name="Text 1"/>
          <p:cNvSpPr/>
          <p:nvPr/>
        </p:nvSpPr>
        <p:spPr>
          <a:xfrm>
            <a:off x="566928" y="173736"/>
            <a:ext cx="8321040" cy="548640"/>
          </a:xfrm>
          <a:prstGeom prst="rect">
            <a:avLst/>
          </a:prstGeom>
          <a:noFill/>
          <a:ln/>
        </p:spPr>
        <p:txBody>
          <a:bodyPr wrap="square" lIns="0" tIns="0" rIns="0" bIns="0" rtlCol="0" anchor="ctr"/>
          <a:lstStyle/>
          <a:p>
            <a:pPr marL="0" indent="0">
              <a:buNone/>
            </a:pPr>
            <a:r>
              <a:rPr lang="en-US" sz="2600" b="1" dirty="0">
                <a:solidFill>
                  <a:srgbClr val="0A2342"/>
                </a:solidFill>
                <a:latin typeface="Palatino Linotype" pitchFamily="34" charset="0"/>
                <a:ea typeface="Palatino Linotype" pitchFamily="34" charset="-122"/>
                <a:cs typeface="Palatino Linotype" pitchFamily="34" charset="-120"/>
              </a:rPr>
              <a:t>Threshold Calibration System</a:t>
            </a:r>
            <a:endParaRPr lang="en-US" sz="2600" dirty="0"/>
          </a:p>
        </p:txBody>
      </p:sp>
      <p:sp>
        <p:nvSpPr>
          <p:cNvPr id="5" name="Shape 3"/>
          <p:cNvSpPr/>
          <p:nvPr/>
        </p:nvSpPr>
        <p:spPr>
          <a:xfrm>
            <a:off x="365760" y="1143000"/>
            <a:ext cx="3977640" cy="3611880"/>
          </a:xfrm>
          <a:prstGeom prst="rect">
            <a:avLst/>
          </a:prstGeom>
          <a:solidFill>
            <a:srgbClr val="EEF4FB"/>
          </a:solidFill>
          <a:ln w="12700">
            <a:solidFill>
              <a:srgbClr val="1A6FC4"/>
            </a:solidFill>
            <a:prstDash val="solid"/>
          </a:ln>
          <a:effectLst>
            <a:outerShdw blurRad="101600" dist="25400" dir="8100000" algn="bl" rotWithShape="0">
              <a:srgbClr val="000000">
                <a:alpha val="9000"/>
              </a:srgbClr>
            </a:outerShdw>
          </a:effectLst>
        </p:spPr>
        <p:txBody>
          <a:bodyPr/>
          <a:lstStyle/>
          <a:p>
            <a:endParaRPr lang="LID4096"/>
          </a:p>
        </p:txBody>
      </p:sp>
      <p:sp>
        <p:nvSpPr>
          <p:cNvPr id="6" name="Shape 4"/>
          <p:cNvSpPr/>
          <p:nvPr/>
        </p:nvSpPr>
        <p:spPr>
          <a:xfrm>
            <a:off x="365760" y="1143000"/>
            <a:ext cx="3977640" cy="457200"/>
          </a:xfrm>
          <a:prstGeom prst="rect">
            <a:avLst/>
          </a:prstGeom>
          <a:solidFill>
            <a:srgbClr val="1A6FC4"/>
          </a:solidFill>
          <a:ln w="12700">
            <a:solidFill>
              <a:srgbClr val="1A6FC4"/>
            </a:solidFill>
            <a:prstDash val="solid"/>
          </a:ln>
        </p:spPr>
        <p:txBody>
          <a:bodyPr/>
          <a:lstStyle/>
          <a:p>
            <a:endParaRPr lang="LID4096"/>
          </a:p>
        </p:txBody>
      </p:sp>
      <p:sp>
        <p:nvSpPr>
          <p:cNvPr id="7" name="Shape 5"/>
          <p:cNvSpPr/>
          <p:nvPr/>
        </p:nvSpPr>
        <p:spPr>
          <a:xfrm>
            <a:off x="365760" y="1490472"/>
            <a:ext cx="3977640" cy="109728"/>
          </a:xfrm>
          <a:prstGeom prst="rect">
            <a:avLst/>
          </a:prstGeom>
          <a:solidFill>
            <a:srgbClr val="1A6FC4"/>
          </a:solidFill>
          <a:ln w="12700">
            <a:solidFill>
              <a:srgbClr val="1A6FC4"/>
            </a:solidFill>
            <a:prstDash val="solid"/>
          </a:ln>
        </p:spPr>
        <p:txBody>
          <a:bodyPr/>
          <a:lstStyle/>
          <a:p>
            <a:endParaRPr lang="LID4096"/>
          </a:p>
        </p:txBody>
      </p:sp>
      <p:sp>
        <p:nvSpPr>
          <p:cNvPr id="8" name="Text 6"/>
          <p:cNvSpPr/>
          <p:nvPr/>
        </p:nvSpPr>
        <p:spPr>
          <a:xfrm>
            <a:off x="457200" y="1161288"/>
            <a:ext cx="3794760"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Palatino Linotype" pitchFamily="34" charset="0"/>
                <a:ea typeface="Palatino Linotype" pitchFamily="34" charset="-122"/>
                <a:cs typeface="Palatino Linotype" pitchFamily="34" charset="-120"/>
              </a:rPr>
              <a:t>Artifact Mode</a:t>
            </a:r>
            <a:endParaRPr lang="en-US" sz="1600" dirty="0"/>
          </a:p>
        </p:txBody>
      </p:sp>
      <p:sp>
        <p:nvSpPr>
          <p:cNvPr id="9" name="Text 7"/>
          <p:cNvSpPr/>
          <p:nvPr/>
        </p:nvSpPr>
        <p:spPr>
          <a:xfrm>
            <a:off x="457200" y="1627632"/>
            <a:ext cx="3794760" cy="256032"/>
          </a:xfrm>
          <a:prstGeom prst="rect">
            <a:avLst/>
          </a:prstGeom>
          <a:noFill/>
          <a:ln/>
        </p:spPr>
        <p:txBody>
          <a:bodyPr wrap="square" lIns="0" tIns="0" rIns="0" bIns="0" rtlCol="0" anchor="ctr"/>
          <a:lstStyle/>
          <a:p>
            <a:pPr marL="0" indent="0" algn="ctr">
              <a:buNone/>
            </a:pPr>
            <a:r>
              <a:rPr lang="en-US" sz="1100" b="1" dirty="0">
                <a:solidFill>
                  <a:srgbClr val="1A6FC4"/>
                </a:solidFill>
                <a:latin typeface="Garamond" pitchFamily="34" charset="0"/>
                <a:ea typeface="Garamond" pitchFamily="34" charset="-122"/>
                <a:cs typeface="Garamond" pitchFamily="34" charset="-120"/>
              </a:rPr>
              <a:t>Used for NAB</a:t>
            </a:r>
            <a:endParaRPr lang="en-US" sz="1100" dirty="0"/>
          </a:p>
        </p:txBody>
      </p:sp>
      <p:sp>
        <p:nvSpPr>
          <p:cNvPr id="10" name="Text 8"/>
          <p:cNvSpPr/>
          <p:nvPr/>
        </p:nvSpPr>
        <p:spPr>
          <a:xfrm>
            <a:off x="530352" y="1975104"/>
            <a:ext cx="3703320" cy="457200"/>
          </a:xfrm>
          <a:prstGeom prst="rect">
            <a:avLst/>
          </a:prstGeom>
          <a:noFill/>
          <a:ln/>
        </p:spPr>
        <p:txBody>
          <a:bodyPr wrap="square" lIns="0" tIns="0" rIns="0" bIns="0" rtlCol="0" anchor="ctr"/>
          <a:lstStyle/>
          <a:p>
            <a:pPr marL="0" indent="0">
              <a:lnSpc>
                <a:spcPct val="120000"/>
              </a:lnSpc>
              <a:buNone/>
            </a:pPr>
            <a:r>
              <a:rPr lang="en-US" sz="1600" b="1" dirty="0">
                <a:solidFill>
                  <a:srgbClr val="1A6FC4"/>
                </a:solidFill>
                <a:latin typeface="Garamond" pitchFamily="34" charset="0"/>
                <a:ea typeface="Garamond" pitchFamily="34" charset="-122"/>
                <a:cs typeface="Garamond" pitchFamily="34" charset="-120"/>
              </a:rPr>
              <a:t>●  </a:t>
            </a:r>
            <a:r>
              <a:rPr lang="en-US" sz="1600" dirty="0">
                <a:solidFill>
                  <a:srgbClr val="000000"/>
                </a:solidFill>
                <a:latin typeface="Garamond" pitchFamily="34" charset="0"/>
                <a:ea typeface="Garamond" pitchFamily="34" charset="-122"/>
                <a:cs typeface="Garamond" pitchFamily="34" charset="-120"/>
              </a:rPr>
              <a:t>Fixed percentile of training reconstruction errors</a:t>
            </a:r>
            <a:endParaRPr lang="en-US" sz="1600" dirty="0"/>
          </a:p>
        </p:txBody>
      </p:sp>
      <p:sp>
        <p:nvSpPr>
          <p:cNvPr id="11" name="Text 9"/>
          <p:cNvSpPr/>
          <p:nvPr/>
        </p:nvSpPr>
        <p:spPr>
          <a:xfrm>
            <a:off x="530352" y="2519680"/>
            <a:ext cx="3703320" cy="457200"/>
          </a:xfrm>
          <a:prstGeom prst="rect">
            <a:avLst/>
          </a:prstGeom>
          <a:noFill/>
          <a:ln/>
        </p:spPr>
        <p:txBody>
          <a:bodyPr wrap="square" lIns="0" tIns="0" rIns="0" bIns="0" rtlCol="0" anchor="ctr"/>
          <a:lstStyle/>
          <a:p>
            <a:pPr marL="0" indent="0">
              <a:lnSpc>
                <a:spcPct val="120000"/>
              </a:lnSpc>
              <a:buNone/>
            </a:pPr>
            <a:r>
              <a:rPr lang="en-US" sz="1600" b="1" dirty="0">
                <a:solidFill>
                  <a:srgbClr val="1A6FC4"/>
                </a:solidFill>
                <a:latin typeface="Garamond" pitchFamily="34" charset="0"/>
                <a:ea typeface="Garamond" pitchFamily="34" charset="-122"/>
                <a:cs typeface="Garamond" pitchFamily="34" charset="-120"/>
              </a:rPr>
              <a:t>●  </a:t>
            </a:r>
            <a:r>
              <a:rPr lang="en-US" sz="1600" dirty="0">
                <a:solidFill>
                  <a:srgbClr val="000000"/>
                </a:solidFill>
                <a:latin typeface="Garamond" pitchFamily="34" charset="0"/>
                <a:ea typeface="Garamond" pitchFamily="34" charset="-122"/>
                <a:cs typeface="Garamond" pitchFamily="34" charset="-120"/>
              </a:rPr>
              <a:t>NAB global: 99.9th percentile (IForest: 99.0th)</a:t>
            </a:r>
            <a:endParaRPr lang="en-US" sz="1600" dirty="0"/>
          </a:p>
        </p:txBody>
      </p:sp>
      <p:sp>
        <p:nvSpPr>
          <p:cNvPr id="12" name="Text 10"/>
          <p:cNvSpPr/>
          <p:nvPr/>
        </p:nvSpPr>
        <p:spPr>
          <a:xfrm>
            <a:off x="530352" y="3004312"/>
            <a:ext cx="3703320" cy="457200"/>
          </a:xfrm>
          <a:prstGeom prst="rect">
            <a:avLst/>
          </a:prstGeom>
          <a:noFill/>
          <a:ln/>
        </p:spPr>
        <p:txBody>
          <a:bodyPr wrap="square" lIns="0" tIns="0" rIns="0" bIns="0" rtlCol="0" anchor="ctr"/>
          <a:lstStyle/>
          <a:p>
            <a:pPr marL="0" indent="0">
              <a:lnSpc>
                <a:spcPct val="120000"/>
              </a:lnSpc>
              <a:buNone/>
            </a:pPr>
            <a:r>
              <a:rPr lang="en-US" sz="1600" b="1" dirty="0">
                <a:solidFill>
                  <a:srgbClr val="1A6FC4"/>
                </a:solidFill>
                <a:latin typeface="Garamond" pitchFamily="34" charset="0"/>
                <a:ea typeface="Garamond" pitchFamily="34" charset="-122"/>
                <a:cs typeface="Garamond" pitchFamily="34" charset="-120"/>
              </a:rPr>
              <a:t>●  </a:t>
            </a:r>
            <a:r>
              <a:rPr lang="en-US" sz="1600" dirty="0">
                <a:solidFill>
                  <a:srgbClr val="000000"/>
                </a:solidFill>
                <a:latin typeface="Garamond" pitchFamily="34" charset="0"/>
                <a:ea typeface="Garamond" pitchFamily="34" charset="-122"/>
                <a:cs typeface="Garamond" pitchFamily="34" charset="-120"/>
              </a:rPr>
              <a:t>Stable — no online warmup needed</a:t>
            </a:r>
            <a:endParaRPr lang="en-US" sz="1600" dirty="0"/>
          </a:p>
        </p:txBody>
      </p:sp>
      <p:sp>
        <p:nvSpPr>
          <p:cNvPr id="13" name="Text 11"/>
          <p:cNvSpPr/>
          <p:nvPr/>
        </p:nvSpPr>
        <p:spPr>
          <a:xfrm>
            <a:off x="530352" y="3429000"/>
            <a:ext cx="3703320" cy="457200"/>
          </a:xfrm>
          <a:prstGeom prst="rect">
            <a:avLst/>
          </a:prstGeom>
          <a:noFill/>
          <a:ln/>
        </p:spPr>
        <p:txBody>
          <a:bodyPr wrap="square" lIns="0" tIns="0" rIns="0" bIns="0" rtlCol="0" anchor="ctr"/>
          <a:lstStyle/>
          <a:p>
            <a:pPr marL="0" indent="0">
              <a:lnSpc>
                <a:spcPct val="120000"/>
              </a:lnSpc>
              <a:buNone/>
            </a:pPr>
            <a:r>
              <a:rPr lang="en-US" sz="1600" b="1" dirty="0">
                <a:solidFill>
                  <a:srgbClr val="1A6FC4"/>
                </a:solidFill>
                <a:latin typeface="Garamond" pitchFamily="34" charset="0"/>
                <a:ea typeface="Garamond" pitchFamily="34" charset="-122"/>
                <a:cs typeface="Garamond" pitchFamily="34" charset="-120"/>
              </a:rPr>
              <a:t>●  </a:t>
            </a:r>
            <a:r>
              <a:rPr lang="en-US" sz="1600" dirty="0">
                <a:solidFill>
                  <a:srgbClr val="000000"/>
                </a:solidFill>
                <a:latin typeface="Garamond" pitchFamily="34" charset="0"/>
                <a:ea typeface="Garamond" pitchFamily="34" charset="-122"/>
                <a:cs typeface="Garamond" pitchFamily="34" charset="-120"/>
              </a:rPr>
              <a:t>Threshold saved to thresholds.json</a:t>
            </a:r>
            <a:endParaRPr lang="en-US" sz="1600" dirty="0"/>
          </a:p>
        </p:txBody>
      </p:sp>
      <p:sp>
        <p:nvSpPr>
          <p:cNvPr id="14" name="Text 12"/>
          <p:cNvSpPr/>
          <p:nvPr/>
        </p:nvSpPr>
        <p:spPr>
          <a:xfrm>
            <a:off x="530352" y="3913632"/>
            <a:ext cx="3703320" cy="457200"/>
          </a:xfrm>
          <a:prstGeom prst="rect">
            <a:avLst/>
          </a:prstGeom>
          <a:noFill/>
          <a:ln/>
        </p:spPr>
        <p:txBody>
          <a:bodyPr wrap="square" lIns="0" tIns="0" rIns="0" bIns="0" rtlCol="0" anchor="ctr"/>
          <a:lstStyle/>
          <a:p>
            <a:pPr marL="0" indent="0">
              <a:lnSpc>
                <a:spcPct val="120000"/>
              </a:lnSpc>
              <a:buNone/>
            </a:pPr>
            <a:r>
              <a:rPr lang="en-US" sz="1600" b="1" dirty="0">
                <a:solidFill>
                  <a:srgbClr val="1A6FC4"/>
                </a:solidFill>
                <a:latin typeface="Garamond" pitchFamily="34" charset="0"/>
                <a:ea typeface="Garamond" pitchFamily="34" charset="-122"/>
                <a:cs typeface="Garamond" pitchFamily="34" charset="-120"/>
              </a:rPr>
              <a:t>●  </a:t>
            </a:r>
            <a:r>
              <a:rPr lang="en-US" sz="1600" dirty="0">
                <a:solidFill>
                  <a:srgbClr val="000000"/>
                </a:solidFill>
                <a:latin typeface="Garamond" pitchFamily="34" charset="0"/>
                <a:ea typeface="Garamond" pitchFamily="34" charset="-122"/>
                <a:cs typeface="Garamond" pitchFamily="34" charset="-120"/>
              </a:rPr>
              <a:t>Best when train &amp; test score distributions are similar</a:t>
            </a:r>
            <a:endParaRPr lang="en-US" sz="1600" dirty="0"/>
          </a:p>
        </p:txBody>
      </p:sp>
      <p:sp>
        <p:nvSpPr>
          <p:cNvPr id="15" name="Text 13"/>
          <p:cNvSpPr/>
          <p:nvPr/>
        </p:nvSpPr>
        <p:spPr>
          <a:xfrm>
            <a:off x="4325112" y="2560320"/>
            <a:ext cx="502920" cy="457200"/>
          </a:xfrm>
          <a:prstGeom prst="rect">
            <a:avLst/>
          </a:prstGeom>
          <a:noFill/>
          <a:ln/>
        </p:spPr>
        <p:txBody>
          <a:bodyPr wrap="square" rtlCol="0" anchor="ctr"/>
          <a:lstStyle/>
          <a:p>
            <a:pPr marL="0" indent="0" algn="ctr">
              <a:buNone/>
            </a:pPr>
            <a:r>
              <a:rPr lang="en-US" sz="2000" b="1" dirty="0">
                <a:solidFill>
                  <a:srgbClr val="64748B"/>
                </a:solidFill>
                <a:latin typeface="Palatino Linotype" pitchFamily="34" charset="0"/>
                <a:ea typeface="Palatino Linotype" pitchFamily="34" charset="-122"/>
                <a:cs typeface="Palatino Linotype" pitchFamily="34" charset="-120"/>
              </a:rPr>
              <a:t>vs</a:t>
            </a:r>
            <a:endParaRPr lang="en-US" sz="2000" dirty="0"/>
          </a:p>
        </p:txBody>
      </p:sp>
      <p:sp>
        <p:nvSpPr>
          <p:cNvPr id="16" name="Shape 14"/>
          <p:cNvSpPr/>
          <p:nvPr/>
        </p:nvSpPr>
        <p:spPr>
          <a:xfrm>
            <a:off x="4800600" y="1143000"/>
            <a:ext cx="3977640" cy="3611880"/>
          </a:xfrm>
          <a:prstGeom prst="rect">
            <a:avLst/>
          </a:prstGeom>
          <a:solidFill>
            <a:srgbClr val="E8F8F5"/>
          </a:solidFill>
          <a:ln w="12700">
            <a:solidFill>
              <a:srgbClr val="00B4A6"/>
            </a:solidFill>
            <a:prstDash val="solid"/>
          </a:ln>
          <a:effectLst>
            <a:outerShdw blurRad="101600" dist="25400" dir="8100000" algn="bl" rotWithShape="0">
              <a:srgbClr val="000000">
                <a:alpha val="9000"/>
              </a:srgbClr>
            </a:outerShdw>
          </a:effectLst>
        </p:spPr>
        <p:txBody>
          <a:bodyPr/>
          <a:lstStyle/>
          <a:p>
            <a:endParaRPr lang="LID4096"/>
          </a:p>
        </p:txBody>
      </p:sp>
      <p:sp>
        <p:nvSpPr>
          <p:cNvPr id="17" name="Shape 15"/>
          <p:cNvSpPr/>
          <p:nvPr/>
        </p:nvSpPr>
        <p:spPr>
          <a:xfrm>
            <a:off x="4800600" y="1143000"/>
            <a:ext cx="3977640" cy="457200"/>
          </a:xfrm>
          <a:prstGeom prst="rect">
            <a:avLst/>
          </a:prstGeom>
          <a:solidFill>
            <a:srgbClr val="00B4A6"/>
          </a:solidFill>
          <a:ln w="12700">
            <a:solidFill>
              <a:srgbClr val="00B4A6"/>
            </a:solidFill>
            <a:prstDash val="solid"/>
          </a:ln>
        </p:spPr>
        <p:txBody>
          <a:bodyPr/>
          <a:lstStyle/>
          <a:p>
            <a:endParaRPr lang="LID4096"/>
          </a:p>
        </p:txBody>
      </p:sp>
      <p:sp>
        <p:nvSpPr>
          <p:cNvPr id="18" name="Shape 16"/>
          <p:cNvSpPr/>
          <p:nvPr/>
        </p:nvSpPr>
        <p:spPr>
          <a:xfrm>
            <a:off x="4800600" y="1490472"/>
            <a:ext cx="3977640" cy="109728"/>
          </a:xfrm>
          <a:prstGeom prst="rect">
            <a:avLst/>
          </a:prstGeom>
          <a:solidFill>
            <a:srgbClr val="00B4A6"/>
          </a:solidFill>
          <a:ln w="12700">
            <a:solidFill>
              <a:srgbClr val="00B4A6"/>
            </a:solidFill>
            <a:prstDash val="solid"/>
          </a:ln>
        </p:spPr>
        <p:txBody>
          <a:bodyPr/>
          <a:lstStyle/>
          <a:p>
            <a:endParaRPr lang="LID4096"/>
          </a:p>
        </p:txBody>
      </p:sp>
      <p:sp>
        <p:nvSpPr>
          <p:cNvPr id="19" name="Text 17"/>
          <p:cNvSpPr/>
          <p:nvPr/>
        </p:nvSpPr>
        <p:spPr>
          <a:xfrm>
            <a:off x="4892040" y="1161288"/>
            <a:ext cx="3794760"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Palatino Linotype" pitchFamily="34" charset="0"/>
                <a:ea typeface="Palatino Linotype" pitchFamily="34" charset="-122"/>
                <a:cs typeface="Palatino Linotype" pitchFamily="34" charset="-120"/>
              </a:rPr>
              <a:t>Warmup Percentile Mode</a:t>
            </a:r>
            <a:endParaRPr lang="en-US" sz="1600" dirty="0"/>
          </a:p>
        </p:txBody>
      </p:sp>
      <p:sp>
        <p:nvSpPr>
          <p:cNvPr id="20" name="Text 18"/>
          <p:cNvSpPr/>
          <p:nvPr/>
        </p:nvSpPr>
        <p:spPr>
          <a:xfrm>
            <a:off x="4892040" y="1627632"/>
            <a:ext cx="3794760" cy="256032"/>
          </a:xfrm>
          <a:prstGeom prst="rect">
            <a:avLst/>
          </a:prstGeom>
          <a:noFill/>
          <a:ln/>
        </p:spPr>
        <p:txBody>
          <a:bodyPr wrap="square" lIns="0" tIns="0" rIns="0" bIns="0" rtlCol="0" anchor="ctr"/>
          <a:lstStyle/>
          <a:p>
            <a:pPr marL="0" indent="0" algn="ctr">
              <a:buNone/>
            </a:pPr>
            <a:r>
              <a:rPr lang="en-US" sz="1100" b="1" dirty="0">
                <a:solidFill>
                  <a:srgbClr val="00B4A6"/>
                </a:solidFill>
                <a:latin typeface="Garamond" pitchFamily="34" charset="0"/>
                <a:ea typeface="Garamond" pitchFamily="34" charset="-122"/>
                <a:cs typeface="Garamond" pitchFamily="34" charset="-120"/>
              </a:rPr>
              <a:t>Used for SKAB</a:t>
            </a:r>
            <a:endParaRPr lang="en-US" sz="1100" dirty="0"/>
          </a:p>
        </p:txBody>
      </p:sp>
      <p:sp>
        <p:nvSpPr>
          <p:cNvPr id="21" name="Text 19"/>
          <p:cNvSpPr/>
          <p:nvPr/>
        </p:nvSpPr>
        <p:spPr>
          <a:xfrm>
            <a:off x="4965192" y="1975104"/>
            <a:ext cx="3703320" cy="457200"/>
          </a:xfrm>
          <a:prstGeom prst="rect">
            <a:avLst/>
          </a:prstGeom>
          <a:noFill/>
          <a:ln/>
        </p:spPr>
        <p:txBody>
          <a:bodyPr wrap="square" lIns="0" tIns="0" rIns="0" bIns="0" rtlCol="0" anchor="ctr"/>
          <a:lstStyle/>
          <a:p>
            <a:pPr marL="0" indent="0">
              <a:lnSpc>
                <a:spcPct val="120000"/>
              </a:lnSpc>
              <a:buNone/>
            </a:pPr>
            <a:r>
              <a:rPr lang="en-US" sz="1600" b="1" dirty="0">
                <a:solidFill>
                  <a:srgbClr val="00B4A6"/>
                </a:solidFill>
                <a:latin typeface="Garamond" pitchFamily="34" charset="0"/>
                <a:ea typeface="Garamond" pitchFamily="34" charset="-122"/>
                <a:cs typeface="Garamond" pitchFamily="34" charset="-120"/>
              </a:rPr>
              <a:t>●  </a:t>
            </a:r>
            <a:r>
              <a:rPr lang="en-US" sz="1600" dirty="0">
                <a:solidFill>
                  <a:srgbClr val="000000"/>
                </a:solidFill>
                <a:latin typeface="Garamond" pitchFamily="34" charset="0"/>
                <a:ea typeface="Garamond" pitchFamily="34" charset="-122"/>
                <a:cs typeface="Garamond" pitchFamily="34" charset="-120"/>
              </a:rPr>
              <a:t>Score first 300 test windows (normal prefix only)</a:t>
            </a:r>
            <a:endParaRPr lang="en-US" sz="1600" dirty="0"/>
          </a:p>
        </p:txBody>
      </p:sp>
      <p:sp>
        <p:nvSpPr>
          <p:cNvPr id="22" name="Text 20"/>
          <p:cNvSpPr/>
          <p:nvPr/>
        </p:nvSpPr>
        <p:spPr>
          <a:xfrm>
            <a:off x="4965192" y="2459736"/>
            <a:ext cx="3703320" cy="457200"/>
          </a:xfrm>
          <a:prstGeom prst="rect">
            <a:avLst/>
          </a:prstGeom>
          <a:noFill/>
          <a:ln/>
        </p:spPr>
        <p:txBody>
          <a:bodyPr wrap="square" lIns="0" tIns="0" rIns="0" bIns="0" rtlCol="0" anchor="ctr"/>
          <a:lstStyle/>
          <a:p>
            <a:pPr marL="0" indent="0">
              <a:lnSpc>
                <a:spcPct val="120000"/>
              </a:lnSpc>
              <a:buNone/>
            </a:pPr>
            <a:r>
              <a:rPr lang="en-US" sz="1600" b="1" dirty="0">
                <a:solidFill>
                  <a:srgbClr val="00B4A6"/>
                </a:solidFill>
                <a:latin typeface="Garamond" pitchFamily="34" charset="0"/>
                <a:ea typeface="Garamond" pitchFamily="34" charset="-122"/>
                <a:cs typeface="Garamond" pitchFamily="34" charset="-120"/>
              </a:rPr>
              <a:t>●  </a:t>
            </a:r>
            <a:r>
              <a:rPr lang="en-US" sz="1600" dirty="0">
                <a:solidFill>
                  <a:srgbClr val="000000"/>
                </a:solidFill>
                <a:latin typeface="Garamond" pitchFamily="34" charset="0"/>
                <a:ea typeface="Garamond" pitchFamily="34" charset="-122"/>
                <a:cs typeface="Garamond" pitchFamily="34" charset="-120"/>
              </a:rPr>
              <a:t>Alerts suppressed during warmup phase</a:t>
            </a:r>
            <a:endParaRPr lang="en-US" sz="1600" dirty="0"/>
          </a:p>
        </p:txBody>
      </p:sp>
      <p:sp>
        <p:nvSpPr>
          <p:cNvPr id="23" name="Text 21"/>
          <p:cNvSpPr/>
          <p:nvPr/>
        </p:nvSpPr>
        <p:spPr>
          <a:xfrm>
            <a:off x="4965192" y="2944368"/>
            <a:ext cx="3703320" cy="457200"/>
          </a:xfrm>
          <a:prstGeom prst="rect">
            <a:avLst/>
          </a:prstGeom>
          <a:noFill/>
          <a:ln/>
        </p:spPr>
        <p:txBody>
          <a:bodyPr wrap="square" lIns="0" tIns="0" rIns="0" bIns="0" rtlCol="0" anchor="ctr"/>
          <a:lstStyle/>
          <a:p>
            <a:pPr marL="0" indent="0">
              <a:lnSpc>
                <a:spcPct val="120000"/>
              </a:lnSpc>
              <a:buNone/>
            </a:pPr>
            <a:r>
              <a:rPr lang="en-US" sz="1600" b="1" dirty="0">
                <a:solidFill>
                  <a:srgbClr val="00B4A6"/>
                </a:solidFill>
                <a:latin typeface="Garamond" pitchFamily="34" charset="0"/>
                <a:ea typeface="Garamond" pitchFamily="34" charset="-122"/>
                <a:cs typeface="Garamond" pitchFamily="34" charset="-120"/>
              </a:rPr>
              <a:t>●  </a:t>
            </a:r>
            <a:r>
              <a:rPr lang="en-US" sz="1600" dirty="0">
                <a:solidFill>
                  <a:srgbClr val="000000"/>
                </a:solidFill>
                <a:latin typeface="Garamond" pitchFamily="34" charset="0"/>
                <a:ea typeface="Garamond" pitchFamily="34" charset="-122"/>
                <a:cs typeface="Garamond" pitchFamily="34" charset="-120"/>
              </a:rPr>
              <a:t>Threshold set at per-model percentile of warmup scores:</a:t>
            </a:r>
            <a:endParaRPr lang="en-US" sz="1600" dirty="0"/>
          </a:p>
        </p:txBody>
      </p:sp>
      <p:sp>
        <p:nvSpPr>
          <p:cNvPr id="24" name="Text 22"/>
          <p:cNvSpPr/>
          <p:nvPr/>
        </p:nvSpPr>
        <p:spPr>
          <a:xfrm>
            <a:off x="4965192" y="3476244"/>
            <a:ext cx="3703320" cy="457200"/>
          </a:xfrm>
          <a:prstGeom prst="rect">
            <a:avLst/>
          </a:prstGeom>
          <a:noFill/>
          <a:ln/>
        </p:spPr>
        <p:txBody>
          <a:bodyPr wrap="square" lIns="0" tIns="0" rIns="0" bIns="0" rtlCol="0" anchor="ctr"/>
          <a:lstStyle/>
          <a:p>
            <a:pPr marL="0" indent="0">
              <a:lnSpc>
                <a:spcPct val="120000"/>
              </a:lnSpc>
              <a:buNone/>
            </a:pPr>
            <a:r>
              <a:rPr lang="en-US" sz="1600" b="1" dirty="0">
                <a:solidFill>
                  <a:srgbClr val="00B4A6"/>
                </a:solidFill>
                <a:latin typeface="Garamond" pitchFamily="34" charset="0"/>
                <a:ea typeface="Garamond" pitchFamily="34" charset="-122"/>
                <a:cs typeface="Garamond" pitchFamily="34" charset="-120"/>
              </a:rPr>
              <a:t>●  </a:t>
            </a:r>
            <a:r>
              <a:rPr lang="en-US" sz="1600" dirty="0">
                <a:solidFill>
                  <a:srgbClr val="000000"/>
                </a:solidFill>
                <a:latin typeface="Garamond" pitchFamily="34" charset="0"/>
                <a:ea typeface="Garamond" pitchFamily="34" charset="-122"/>
                <a:cs typeface="Garamond" pitchFamily="34" charset="-120"/>
              </a:rPr>
              <a:t>  Z-score 10th · IForest 50th · LSTM-AE 80th · CNN-AE 70th</a:t>
            </a:r>
            <a:endParaRPr lang="en-US" sz="1600" dirty="0"/>
          </a:p>
        </p:txBody>
      </p:sp>
      <p:sp>
        <p:nvSpPr>
          <p:cNvPr id="25" name="Text 23"/>
          <p:cNvSpPr/>
          <p:nvPr/>
        </p:nvSpPr>
        <p:spPr>
          <a:xfrm>
            <a:off x="4965192" y="4033859"/>
            <a:ext cx="3703320" cy="457200"/>
          </a:xfrm>
          <a:prstGeom prst="rect">
            <a:avLst/>
          </a:prstGeom>
          <a:noFill/>
          <a:ln/>
        </p:spPr>
        <p:txBody>
          <a:bodyPr wrap="square" lIns="0" tIns="0" rIns="0" bIns="0" rtlCol="0" anchor="ctr"/>
          <a:lstStyle/>
          <a:p>
            <a:pPr marL="0" indent="0">
              <a:lnSpc>
                <a:spcPct val="120000"/>
              </a:lnSpc>
              <a:buNone/>
            </a:pPr>
            <a:r>
              <a:rPr lang="en-US" sz="1600" b="1" dirty="0">
                <a:solidFill>
                  <a:srgbClr val="00B4A6"/>
                </a:solidFill>
                <a:latin typeface="Garamond" pitchFamily="34" charset="0"/>
                <a:ea typeface="Garamond" pitchFamily="34" charset="-122"/>
                <a:cs typeface="Garamond" pitchFamily="34" charset="-120"/>
              </a:rPr>
              <a:t>●  </a:t>
            </a:r>
            <a:r>
              <a:rPr lang="en-US" sz="1600" dirty="0">
                <a:solidFill>
                  <a:srgbClr val="000000"/>
                </a:solidFill>
                <a:latin typeface="Garamond" pitchFamily="34" charset="0"/>
                <a:ea typeface="Garamond" pitchFamily="34" charset="-122"/>
                <a:cs typeface="Garamond" pitchFamily="34" charset="-120"/>
              </a:rPr>
              <a:t>Online adaptation — outperforms fixed artifact threshold</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28600"/>
            <a:ext cx="64008" cy="530352"/>
          </a:xfrm>
          <a:prstGeom prst="rect">
            <a:avLst/>
          </a:prstGeom>
          <a:solidFill>
            <a:srgbClr val="29ABE2"/>
          </a:solidFill>
          <a:ln w="12700">
            <a:solidFill>
              <a:srgbClr val="29ABE2"/>
            </a:solidFill>
            <a:prstDash val="solid"/>
          </a:ln>
        </p:spPr>
        <p:txBody>
          <a:bodyPr/>
          <a:lstStyle/>
          <a:p>
            <a:endParaRPr lang="LID4096"/>
          </a:p>
        </p:txBody>
      </p:sp>
      <p:sp>
        <p:nvSpPr>
          <p:cNvPr id="3" name="Text 1"/>
          <p:cNvSpPr/>
          <p:nvPr/>
        </p:nvSpPr>
        <p:spPr>
          <a:xfrm>
            <a:off x="566928" y="173736"/>
            <a:ext cx="8321040" cy="548640"/>
          </a:xfrm>
          <a:prstGeom prst="rect">
            <a:avLst/>
          </a:prstGeom>
          <a:noFill/>
          <a:ln/>
        </p:spPr>
        <p:txBody>
          <a:bodyPr wrap="square" lIns="0" tIns="0" rIns="0" bIns="0" rtlCol="0" anchor="ctr"/>
          <a:lstStyle/>
          <a:p>
            <a:pPr marL="0" indent="0">
              <a:buNone/>
            </a:pPr>
            <a:r>
              <a:rPr lang="en-US" sz="2600" b="1" dirty="0">
                <a:solidFill>
                  <a:srgbClr val="0A2342"/>
                </a:solidFill>
                <a:latin typeface="Palatino Linotype" pitchFamily="34" charset="0"/>
                <a:ea typeface="Palatino Linotype" pitchFamily="34" charset="-122"/>
                <a:cs typeface="Palatino Linotype" pitchFamily="34" charset="-120"/>
              </a:rPr>
              <a:t>Evaluation Framework</a:t>
            </a:r>
            <a:endParaRPr lang="en-US" sz="2600" dirty="0"/>
          </a:p>
        </p:txBody>
      </p:sp>
      <p:sp>
        <p:nvSpPr>
          <p:cNvPr id="4" name="Text 2"/>
          <p:cNvSpPr/>
          <p:nvPr/>
        </p:nvSpPr>
        <p:spPr>
          <a:xfrm>
            <a:off x="566928" y="731520"/>
            <a:ext cx="8046720" cy="274320"/>
          </a:xfrm>
          <a:prstGeom prst="rect">
            <a:avLst/>
          </a:prstGeom>
          <a:noFill/>
          <a:ln/>
        </p:spPr>
        <p:txBody>
          <a:bodyPr wrap="square" lIns="0" tIns="0" rIns="0" bIns="0" rtlCol="0" anchor="ctr"/>
          <a:lstStyle/>
          <a:p>
            <a:pPr marL="0" indent="0">
              <a:buNone/>
            </a:pPr>
            <a:r>
              <a:rPr lang="en-US" sz="1250" dirty="0">
                <a:solidFill>
                  <a:srgbClr val="64748B"/>
                </a:solidFill>
                <a:latin typeface="Garamond" pitchFamily="34" charset="0"/>
                <a:ea typeface="Garamond" pitchFamily="34" charset="-122"/>
                <a:cs typeface="Garamond" pitchFamily="34" charset="-120"/>
              </a:rPr>
              <a:t>Three complementary layers — single metrics mislead in operational settings</a:t>
            </a:r>
            <a:endParaRPr lang="en-US" sz="1250" dirty="0"/>
          </a:p>
        </p:txBody>
      </p:sp>
      <p:sp>
        <p:nvSpPr>
          <p:cNvPr id="5" name="Shape 3"/>
          <p:cNvSpPr/>
          <p:nvPr/>
        </p:nvSpPr>
        <p:spPr>
          <a:xfrm>
            <a:off x="411480" y="1143000"/>
            <a:ext cx="2633472" cy="3794760"/>
          </a:xfrm>
          <a:prstGeom prst="rect">
            <a:avLst/>
          </a:prstGeom>
          <a:solidFill>
            <a:srgbClr val="FFFFFF"/>
          </a:solidFill>
          <a:ln w="25400">
            <a:solidFill>
              <a:srgbClr val="1A6FC4"/>
            </a:solidFill>
            <a:prstDash val="solid"/>
          </a:ln>
          <a:effectLst>
            <a:outerShdw blurRad="101600" dist="25400" dir="8100000" algn="bl" rotWithShape="0">
              <a:srgbClr val="000000">
                <a:alpha val="9000"/>
              </a:srgbClr>
            </a:outerShdw>
          </a:effectLst>
        </p:spPr>
        <p:txBody>
          <a:bodyPr/>
          <a:lstStyle/>
          <a:p>
            <a:endParaRPr lang="LID4096"/>
          </a:p>
        </p:txBody>
      </p:sp>
      <p:sp>
        <p:nvSpPr>
          <p:cNvPr id="6" name="Shape 4"/>
          <p:cNvSpPr/>
          <p:nvPr/>
        </p:nvSpPr>
        <p:spPr>
          <a:xfrm>
            <a:off x="411480" y="1143000"/>
            <a:ext cx="2633472" cy="73152"/>
          </a:xfrm>
          <a:prstGeom prst="rect">
            <a:avLst/>
          </a:prstGeom>
          <a:solidFill>
            <a:srgbClr val="1A6FC4"/>
          </a:solidFill>
          <a:ln w="12700">
            <a:solidFill>
              <a:srgbClr val="1A6FC4"/>
            </a:solidFill>
            <a:prstDash val="solid"/>
          </a:ln>
        </p:spPr>
        <p:txBody>
          <a:bodyPr/>
          <a:lstStyle/>
          <a:p>
            <a:endParaRPr lang="LID4096"/>
          </a:p>
        </p:txBody>
      </p:sp>
      <p:sp>
        <p:nvSpPr>
          <p:cNvPr id="7" name="Shape 5"/>
          <p:cNvSpPr/>
          <p:nvPr/>
        </p:nvSpPr>
        <p:spPr>
          <a:xfrm>
            <a:off x="1453896" y="1234440"/>
            <a:ext cx="548640" cy="548640"/>
          </a:xfrm>
          <a:prstGeom prst="ellipse">
            <a:avLst/>
          </a:prstGeom>
          <a:solidFill>
            <a:srgbClr val="1A6FC4"/>
          </a:solidFill>
          <a:ln w="12700">
            <a:solidFill>
              <a:srgbClr val="1A6FC4"/>
            </a:solidFill>
            <a:prstDash val="solid"/>
          </a:ln>
        </p:spPr>
        <p:txBody>
          <a:bodyPr/>
          <a:lstStyle/>
          <a:p>
            <a:endParaRPr lang="LID4096"/>
          </a:p>
        </p:txBody>
      </p:sp>
      <p:sp>
        <p:nvSpPr>
          <p:cNvPr id="8" name="Text 6"/>
          <p:cNvSpPr/>
          <p:nvPr/>
        </p:nvSpPr>
        <p:spPr>
          <a:xfrm>
            <a:off x="1453896" y="1243584"/>
            <a:ext cx="548640" cy="530352"/>
          </a:xfrm>
          <a:prstGeom prst="rect">
            <a:avLst/>
          </a:prstGeom>
          <a:noFill/>
          <a:ln/>
        </p:spPr>
        <p:txBody>
          <a:bodyPr wrap="square" lIns="0" tIns="0" rIns="0" bIns="0" rtlCol="0" anchor="ctr"/>
          <a:lstStyle/>
          <a:p>
            <a:pPr marL="0" indent="0" algn="ctr">
              <a:buNone/>
            </a:pPr>
            <a:r>
              <a:rPr lang="en-US" sz="1800" b="1" dirty="0">
                <a:solidFill>
                  <a:srgbClr val="FFFFFF"/>
                </a:solidFill>
                <a:latin typeface="Palatino Linotype" pitchFamily="34" charset="0"/>
                <a:ea typeface="Palatino Linotype" pitchFamily="34" charset="-122"/>
                <a:cs typeface="Palatino Linotype" pitchFamily="34" charset="-120"/>
              </a:rPr>
              <a:t>1</a:t>
            </a:r>
            <a:endParaRPr lang="en-US" sz="1800" dirty="0"/>
          </a:p>
        </p:txBody>
      </p:sp>
      <p:sp>
        <p:nvSpPr>
          <p:cNvPr id="9" name="Text 7"/>
          <p:cNvSpPr/>
          <p:nvPr/>
        </p:nvSpPr>
        <p:spPr>
          <a:xfrm>
            <a:off x="548640" y="1874520"/>
            <a:ext cx="2377440" cy="502920"/>
          </a:xfrm>
          <a:prstGeom prst="rect">
            <a:avLst/>
          </a:prstGeom>
          <a:noFill/>
          <a:ln/>
        </p:spPr>
        <p:txBody>
          <a:bodyPr wrap="square" lIns="0" tIns="0" rIns="0" bIns="0" rtlCol="0" anchor="ctr"/>
          <a:lstStyle/>
          <a:p>
            <a:pPr marL="0" indent="0" algn="ctr">
              <a:lnSpc>
                <a:spcPct val="110000"/>
              </a:lnSpc>
              <a:buNone/>
            </a:pPr>
            <a:r>
              <a:rPr lang="en-US" sz="1400" b="1" dirty="0">
                <a:solidFill>
                  <a:srgbClr val="1A6FC4"/>
                </a:solidFill>
                <a:latin typeface="Palatino Linotype" pitchFamily="34" charset="0"/>
                <a:ea typeface="Palatino Linotype" pitchFamily="34" charset="-122"/>
                <a:cs typeface="Palatino Linotype" pitchFamily="34" charset="-120"/>
              </a:rPr>
              <a:t>Point-Level Metrics</a:t>
            </a:r>
            <a:endParaRPr lang="en-US" sz="1400" dirty="0"/>
          </a:p>
        </p:txBody>
      </p:sp>
      <p:sp>
        <p:nvSpPr>
          <p:cNvPr id="10" name="Text 8"/>
          <p:cNvSpPr/>
          <p:nvPr/>
        </p:nvSpPr>
        <p:spPr>
          <a:xfrm>
            <a:off x="576072" y="2487168"/>
            <a:ext cx="2331720" cy="411480"/>
          </a:xfrm>
          <a:prstGeom prst="rect">
            <a:avLst/>
          </a:prstGeom>
          <a:noFill/>
          <a:ln/>
        </p:spPr>
        <p:txBody>
          <a:bodyPr wrap="square" lIns="0" tIns="0" rIns="0" bIns="0" rtlCol="0" anchor="ctr"/>
          <a:lstStyle/>
          <a:p>
            <a:pPr marL="0" indent="0">
              <a:lnSpc>
                <a:spcPct val="120000"/>
              </a:lnSpc>
              <a:buNone/>
            </a:pPr>
            <a:r>
              <a:rPr lang="en-US" sz="1600" b="1" dirty="0">
                <a:solidFill>
                  <a:srgbClr val="1A6FC4"/>
                </a:solidFill>
                <a:latin typeface="Garamond" pitchFamily="34" charset="0"/>
                <a:ea typeface="Garamond" pitchFamily="34" charset="-122"/>
                <a:cs typeface="Garamond" pitchFamily="34" charset="-120"/>
              </a:rPr>
              <a:t>▸ </a:t>
            </a:r>
            <a:r>
              <a:rPr lang="en-US" sz="1600" dirty="0">
                <a:solidFill>
                  <a:srgbClr val="1A202C"/>
                </a:solidFill>
                <a:latin typeface="Garamond" pitchFamily="34" charset="0"/>
                <a:ea typeface="Garamond" pitchFamily="34" charset="-122"/>
                <a:cs typeface="Garamond" pitchFamily="34" charset="-120"/>
              </a:rPr>
              <a:t>Precision · Recall · F1</a:t>
            </a:r>
            <a:endParaRPr lang="en-US" sz="1600" dirty="0"/>
          </a:p>
        </p:txBody>
      </p:sp>
      <p:sp>
        <p:nvSpPr>
          <p:cNvPr id="11" name="Text 9"/>
          <p:cNvSpPr/>
          <p:nvPr/>
        </p:nvSpPr>
        <p:spPr>
          <a:xfrm>
            <a:off x="576072" y="2926080"/>
            <a:ext cx="2331720" cy="411480"/>
          </a:xfrm>
          <a:prstGeom prst="rect">
            <a:avLst/>
          </a:prstGeom>
          <a:noFill/>
          <a:ln/>
        </p:spPr>
        <p:txBody>
          <a:bodyPr wrap="square" lIns="0" tIns="0" rIns="0" bIns="0" rtlCol="0" anchor="ctr"/>
          <a:lstStyle/>
          <a:p>
            <a:pPr marL="0" indent="0">
              <a:lnSpc>
                <a:spcPct val="120000"/>
              </a:lnSpc>
              <a:buNone/>
            </a:pPr>
            <a:r>
              <a:rPr lang="en-US" sz="1600" b="1" dirty="0">
                <a:solidFill>
                  <a:srgbClr val="1A6FC4"/>
                </a:solidFill>
                <a:latin typeface="Garamond" pitchFamily="34" charset="0"/>
                <a:ea typeface="Garamond" pitchFamily="34" charset="-122"/>
                <a:cs typeface="Garamond" pitchFamily="34" charset="-120"/>
              </a:rPr>
              <a:t>▸ </a:t>
            </a:r>
            <a:r>
              <a:rPr lang="en-US" sz="1600" dirty="0">
                <a:solidFill>
                  <a:srgbClr val="1A202C"/>
                </a:solidFill>
                <a:latin typeface="Garamond" pitchFamily="34" charset="0"/>
                <a:ea typeface="Garamond" pitchFamily="34" charset="-122"/>
                <a:cs typeface="Garamond" pitchFamily="34" charset="-120"/>
              </a:rPr>
              <a:t>ROC-AUC · PR-AUC (threshold-independent)</a:t>
            </a:r>
            <a:endParaRPr lang="en-US" sz="1600" dirty="0"/>
          </a:p>
        </p:txBody>
      </p:sp>
      <p:sp>
        <p:nvSpPr>
          <p:cNvPr id="12" name="Shape 10"/>
          <p:cNvSpPr/>
          <p:nvPr/>
        </p:nvSpPr>
        <p:spPr>
          <a:xfrm>
            <a:off x="548640" y="3493008"/>
            <a:ext cx="2331720" cy="18288"/>
          </a:xfrm>
          <a:prstGeom prst="rect">
            <a:avLst/>
          </a:prstGeom>
          <a:solidFill>
            <a:srgbClr val="CBD5E0"/>
          </a:solidFill>
          <a:ln w="12700">
            <a:solidFill>
              <a:srgbClr val="CBD5E0"/>
            </a:solidFill>
            <a:prstDash val="solid"/>
          </a:ln>
        </p:spPr>
        <p:txBody>
          <a:bodyPr/>
          <a:lstStyle/>
          <a:p>
            <a:endParaRPr lang="LID4096" sz="2800"/>
          </a:p>
        </p:txBody>
      </p:sp>
      <p:sp>
        <p:nvSpPr>
          <p:cNvPr id="13" name="Text 11"/>
          <p:cNvSpPr/>
          <p:nvPr/>
        </p:nvSpPr>
        <p:spPr>
          <a:xfrm>
            <a:off x="548640" y="3566160"/>
            <a:ext cx="2377440" cy="1188720"/>
          </a:xfrm>
          <a:prstGeom prst="rect">
            <a:avLst/>
          </a:prstGeom>
          <a:noFill/>
          <a:ln/>
        </p:spPr>
        <p:txBody>
          <a:bodyPr wrap="square" lIns="0" tIns="0" rIns="0" bIns="0" rtlCol="0" anchor="ctr"/>
          <a:lstStyle/>
          <a:p>
            <a:pPr marL="0" indent="0">
              <a:lnSpc>
                <a:spcPct val="140000"/>
              </a:lnSpc>
              <a:buNone/>
            </a:pPr>
            <a:r>
              <a:rPr lang="en-US" sz="1600" dirty="0">
                <a:solidFill>
                  <a:srgbClr val="64748B"/>
                </a:solidFill>
                <a:latin typeface="Garamond" pitchFamily="34" charset="0"/>
                <a:ea typeface="Garamond" pitchFamily="34" charset="-122"/>
                <a:cs typeface="Garamond" pitchFamily="34" charset="-120"/>
              </a:rPr>
              <a:t>AUC metrics measure ranking quality independently of the chosen threshold. F1 at the calibrated threshold.</a:t>
            </a:r>
            <a:endParaRPr lang="en-US" sz="1600" dirty="0"/>
          </a:p>
        </p:txBody>
      </p:sp>
      <p:sp>
        <p:nvSpPr>
          <p:cNvPr id="14" name="Shape 12"/>
          <p:cNvSpPr/>
          <p:nvPr/>
        </p:nvSpPr>
        <p:spPr>
          <a:xfrm>
            <a:off x="3227832" y="1143000"/>
            <a:ext cx="2633472" cy="3794760"/>
          </a:xfrm>
          <a:prstGeom prst="rect">
            <a:avLst/>
          </a:prstGeom>
          <a:solidFill>
            <a:srgbClr val="FFFFFF"/>
          </a:solidFill>
          <a:ln w="25400">
            <a:solidFill>
              <a:srgbClr val="00B4A6"/>
            </a:solidFill>
            <a:prstDash val="solid"/>
          </a:ln>
          <a:effectLst>
            <a:outerShdw blurRad="101600" dist="25400" dir="8100000" algn="bl" rotWithShape="0">
              <a:srgbClr val="000000">
                <a:alpha val="9000"/>
              </a:srgbClr>
            </a:outerShdw>
          </a:effectLst>
        </p:spPr>
        <p:txBody>
          <a:bodyPr/>
          <a:lstStyle/>
          <a:p>
            <a:endParaRPr lang="LID4096"/>
          </a:p>
        </p:txBody>
      </p:sp>
      <p:sp>
        <p:nvSpPr>
          <p:cNvPr id="15" name="Shape 13"/>
          <p:cNvSpPr/>
          <p:nvPr/>
        </p:nvSpPr>
        <p:spPr>
          <a:xfrm>
            <a:off x="3227832" y="1143000"/>
            <a:ext cx="2633472" cy="73152"/>
          </a:xfrm>
          <a:prstGeom prst="rect">
            <a:avLst/>
          </a:prstGeom>
          <a:solidFill>
            <a:srgbClr val="00B4A6"/>
          </a:solidFill>
          <a:ln w="12700">
            <a:solidFill>
              <a:srgbClr val="00B4A6"/>
            </a:solidFill>
            <a:prstDash val="solid"/>
          </a:ln>
        </p:spPr>
        <p:txBody>
          <a:bodyPr/>
          <a:lstStyle/>
          <a:p>
            <a:endParaRPr lang="LID4096"/>
          </a:p>
        </p:txBody>
      </p:sp>
      <p:sp>
        <p:nvSpPr>
          <p:cNvPr id="16" name="Shape 14"/>
          <p:cNvSpPr/>
          <p:nvPr/>
        </p:nvSpPr>
        <p:spPr>
          <a:xfrm>
            <a:off x="4270248" y="1234440"/>
            <a:ext cx="548640" cy="548640"/>
          </a:xfrm>
          <a:prstGeom prst="ellipse">
            <a:avLst/>
          </a:prstGeom>
          <a:solidFill>
            <a:srgbClr val="00B4A6"/>
          </a:solidFill>
          <a:ln w="12700">
            <a:solidFill>
              <a:srgbClr val="00B4A6"/>
            </a:solidFill>
            <a:prstDash val="solid"/>
          </a:ln>
        </p:spPr>
        <p:txBody>
          <a:bodyPr/>
          <a:lstStyle/>
          <a:p>
            <a:endParaRPr lang="LID4096"/>
          </a:p>
        </p:txBody>
      </p:sp>
      <p:sp>
        <p:nvSpPr>
          <p:cNvPr id="17" name="Text 15"/>
          <p:cNvSpPr/>
          <p:nvPr/>
        </p:nvSpPr>
        <p:spPr>
          <a:xfrm>
            <a:off x="4270248" y="1243584"/>
            <a:ext cx="548640" cy="530352"/>
          </a:xfrm>
          <a:prstGeom prst="rect">
            <a:avLst/>
          </a:prstGeom>
          <a:noFill/>
          <a:ln/>
        </p:spPr>
        <p:txBody>
          <a:bodyPr wrap="square" lIns="0" tIns="0" rIns="0" bIns="0" rtlCol="0" anchor="ctr"/>
          <a:lstStyle/>
          <a:p>
            <a:pPr marL="0" indent="0" algn="ctr">
              <a:buNone/>
            </a:pPr>
            <a:r>
              <a:rPr lang="en-US" sz="1800" b="1" dirty="0">
                <a:solidFill>
                  <a:srgbClr val="FFFFFF"/>
                </a:solidFill>
                <a:latin typeface="Palatino Linotype" pitchFamily="34" charset="0"/>
                <a:ea typeface="Palatino Linotype" pitchFamily="34" charset="-122"/>
                <a:cs typeface="Palatino Linotype" pitchFamily="34" charset="-120"/>
              </a:rPr>
              <a:t>2</a:t>
            </a:r>
            <a:endParaRPr lang="en-US" sz="1800" dirty="0"/>
          </a:p>
        </p:txBody>
      </p:sp>
      <p:sp>
        <p:nvSpPr>
          <p:cNvPr id="18" name="Text 16"/>
          <p:cNvSpPr/>
          <p:nvPr/>
        </p:nvSpPr>
        <p:spPr>
          <a:xfrm>
            <a:off x="3364992" y="1874520"/>
            <a:ext cx="2377440" cy="502920"/>
          </a:xfrm>
          <a:prstGeom prst="rect">
            <a:avLst/>
          </a:prstGeom>
          <a:noFill/>
          <a:ln/>
        </p:spPr>
        <p:txBody>
          <a:bodyPr wrap="square" lIns="0" tIns="0" rIns="0" bIns="0" rtlCol="0" anchor="ctr"/>
          <a:lstStyle/>
          <a:p>
            <a:pPr marL="0" indent="0" algn="ctr">
              <a:lnSpc>
                <a:spcPct val="110000"/>
              </a:lnSpc>
              <a:buNone/>
            </a:pPr>
            <a:r>
              <a:rPr lang="en-US" sz="1400" b="1" dirty="0">
                <a:solidFill>
                  <a:srgbClr val="00B4A6"/>
                </a:solidFill>
                <a:latin typeface="Palatino Linotype" pitchFamily="34" charset="0"/>
                <a:ea typeface="Palatino Linotype" pitchFamily="34" charset="-122"/>
                <a:cs typeface="Palatino Linotype" pitchFamily="34" charset="-120"/>
              </a:rPr>
              <a:t>Event-Level F1</a:t>
            </a:r>
            <a:endParaRPr lang="en-US" sz="1400" dirty="0"/>
          </a:p>
        </p:txBody>
      </p:sp>
      <p:sp>
        <p:nvSpPr>
          <p:cNvPr id="19" name="Text 17"/>
          <p:cNvSpPr/>
          <p:nvPr/>
        </p:nvSpPr>
        <p:spPr>
          <a:xfrm>
            <a:off x="3392424" y="2459736"/>
            <a:ext cx="2331720" cy="411480"/>
          </a:xfrm>
          <a:prstGeom prst="rect">
            <a:avLst/>
          </a:prstGeom>
          <a:noFill/>
          <a:ln/>
        </p:spPr>
        <p:txBody>
          <a:bodyPr wrap="square" lIns="0" tIns="0" rIns="0" bIns="0" rtlCol="0" anchor="ctr"/>
          <a:lstStyle/>
          <a:p>
            <a:pPr marL="0" indent="0">
              <a:lnSpc>
                <a:spcPct val="120000"/>
              </a:lnSpc>
              <a:buNone/>
            </a:pPr>
            <a:r>
              <a:rPr lang="en-US" sz="1600" b="1" dirty="0">
                <a:solidFill>
                  <a:srgbClr val="00B4A6"/>
                </a:solidFill>
                <a:latin typeface="Garamond" pitchFamily="34" charset="0"/>
                <a:ea typeface="Garamond" pitchFamily="34" charset="-122"/>
                <a:cs typeface="Garamond" pitchFamily="34" charset="-120"/>
              </a:rPr>
              <a:t>▸ </a:t>
            </a:r>
            <a:r>
              <a:rPr lang="en-US" sz="1600" dirty="0">
                <a:solidFill>
                  <a:srgbClr val="1A202C"/>
                </a:solidFill>
                <a:latin typeface="Garamond" pitchFamily="34" charset="0"/>
                <a:ea typeface="Garamond" pitchFamily="34" charset="-122"/>
                <a:cs typeface="Garamond" pitchFamily="34" charset="-120"/>
              </a:rPr>
              <a:t>Predicted event = HIT if overlaps any true event</a:t>
            </a:r>
            <a:endParaRPr lang="en-US" sz="1600" dirty="0"/>
          </a:p>
        </p:txBody>
      </p:sp>
      <p:sp>
        <p:nvSpPr>
          <p:cNvPr id="20" name="Text 18"/>
          <p:cNvSpPr/>
          <p:nvPr/>
        </p:nvSpPr>
        <p:spPr>
          <a:xfrm>
            <a:off x="3392424" y="3003635"/>
            <a:ext cx="2331720" cy="411480"/>
          </a:xfrm>
          <a:prstGeom prst="rect">
            <a:avLst/>
          </a:prstGeom>
          <a:noFill/>
          <a:ln/>
        </p:spPr>
        <p:txBody>
          <a:bodyPr wrap="square" lIns="0" tIns="0" rIns="0" bIns="0" rtlCol="0" anchor="ctr"/>
          <a:lstStyle/>
          <a:p>
            <a:pPr marL="0" indent="0">
              <a:lnSpc>
                <a:spcPct val="120000"/>
              </a:lnSpc>
              <a:buNone/>
            </a:pPr>
            <a:r>
              <a:rPr lang="en-US" sz="1600" b="1" dirty="0">
                <a:solidFill>
                  <a:srgbClr val="00B4A6"/>
                </a:solidFill>
                <a:latin typeface="Garamond" pitchFamily="34" charset="0"/>
                <a:ea typeface="Garamond" pitchFamily="34" charset="-122"/>
                <a:cs typeface="Garamond" pitchFamily="34" charset="-120"/>
              </a:rPr>
              <a:t>▸ </a:t>
            </a:r>
            <a:r>
              <a:rPr lang="en-US" sz="1600" dirty="0">
                <a:solidFill>
                  <a:srgbClr val="1A202C"/>
                </a:solidFill>
                <a:latin typeface="Garamond" pitchFamily="34" charset="0"/>
                <a:ea typeface="Garamond" pitchFamily="34" charset="-122"/>
                <a:cs typeface="Garamond" pitchFamily="34" charset="-120"/>
              </a:rPr>
              <a:t>Penalises alert fragmentation</a:t>
            </a:r>
            <a:endParaRPr lang="en-US" sz="1600" dirty="0"/>
          </a:p>
        </p:txBody>
      </p:sp>
      <p:sp>
        <p:nvSpPr>
          <p:cNvPr id="21" name="Shape 19"/>
          <p:cNvSpPr/>
          <p:nvPr/>
        </p:nvSpPr>
        <p:spPr>
          <a:xfrm>
            <a:off x="3364992" y="3493008"/>
            <a:ext cx="2331720" cy="18288"/>
          </a:xfrm>
          <a:prstGeom prst="rect">
            <a:avLst/>
          </a:prstGeom>
          <a:solidFill>
            <a:srgbClr val="CBD5E0"/>
          </a:solidFill>
          <a:ln w="12700">
            <a:solidFill>
              <a:srgbClr val="CBD5E0"/>
            </a:solidFill>
            <a:prstDash val="solid"/>
          </a:ln>
        </p:spPr>
        <p:txBody>
          <a:bodyPr/>
          <a:lstStyle/>
          <a:p>
            <a:endParaRPr lang="LID4096"/>
          </a:p>
        </p:txBody>
      </p:sp>
      <p:sp>
        <p:nvSpPr>
          <p:cNvPr id="22" name="Text 20"/>
          <p:cNvSpPr/>
          <p:nvPr/>
        </p:nvSpPr>
        <p:spPr>
          <a:xfrm>
            <a:off x="3364992" y="3566160"/>
            <a:ext cx="2377440" cy="1188720"/>
          </a:xfrm>
          <a:prstGeom prst="rect">
            <a:avLst/>
          </a:prstGeom>
          <a:noFill/>
          <a:ln/>
        </p:spPr>
        <p:txBody>
          <a:bodyPr wrap="square" lIns="0" tIns="0" rIns="0" bIns="0" rtlCol="0" anchor="ctr"/>
          <a:lstStyle/>
          <a:p>
            <a:pPr marL="0" indent="0">
              <a:lnSpc>
                <a:spcPct val="140000"/>
              </a:lnSpc>
              <a:buNone/>
            </a:pPr>
            <a:r>
              <a:rPr lang="en-US" sz="1600" dirty="0">
                <a:solidFill>
                  <a:srgbClr val="64748B"/>
                </a:solidFill>
                <a:latin typeface="Garamond" pitchFamily="34" charset="0"/>
                <a:ea typeface="Garamond" pitchFamily="34" charset="-122"/>
                <a:cs typeface="Garamond" pitchFamily="34" charset="-120"/>
              </a:rPr>
              <a:t>91 short bursts covering one fault → low event precision even with perfect point recall.</a:t>
            </a:r>
            <a:endParaRPr lang="en-US" sz="1600" dirty="0"/>
          </a:p>
        </p:txBody>
      </p:sp>
      <p:sp>
        <p:nvSpPr>
          <p:cNvPr id="23" name="Shape 21"/>
          <p:cNvSpPr/>
          <p:nvPr/>
        </p:nvSpPr>
        <p:spPr>
          <a:xfrm>
            <a:off x="6044184" y="1143000"/>
            <a:ext cx="2633472" cy="3794760"/>
          </a:xfrm>
          <a:prstGeom prst="rect">
            <a:avLst/>
          </a:prstGeom>
          <a:solidFill>
            <a:srgbClr val="FFFFFF"/>
          </a:solidFill>
          <a:ln w="25400">
            <a:solidFill>
              <a:srgbClr val="F4844C"/>
            </a:solidFill>
            <a:prstDash val="solid"/>
          </a:ln>
          <a:effectLst>
            <a:outerShdw blurRad="101600" dist="25400" dir="8100000" algn="bl" rotWithShape="0">
              <a:srgbClr val="000000">
                <a:alpha val="9000"/>
              </a:srgbClr>
            </a:outerShdw>
          </a:effectLst>
        </p:spPr>
        <p:txBody>
          <a:bodyPr/>
          <a:lstStyle/>
          <a:p>
            <a:endParaRPr lang="LID4096"/>
          </a:p>
        </p:txBody>
      </p:sp>
      <p:sp>
        <p:nvSpPr>
          <p:cNvPr id="24" name="Shape 22"/>
          <p:cNvSpPr/>
          <p:nvPr/>
        </p:nvSpPr>
        <p:spPr>
          <a:xfrm>
            <a:off x="6044184" y="1143000"/>
            <a:ext cx="2633472" cy="73152"/>
          </a:xfrm>
          <a:prstGeom prst="rect">
            <a:avLst/>
          </a:prstGeom>
          <a:solidFill>
            <a:srgbClr val="F4844C"/>
          </a:solidFill>
          <a:ln w="12700">
            <a:solidFill>
              <a:srgbClr val="F4844C"/>
            </a:solidFill>
            <a:prstDash val="solid"/>
          </a:ln>
        </p:spPr>
        <p:txBody>
          <a:bodyPr/>
          <a:lstStyle/>
          <a:p>
            <a:endParaRPr lang="LID4096"/>
          </a:p>
        </p:txBody>
      </p:sp>
      <p:sp>
        <p:nvSpPr>
          <p:cNvPr id="25" name="Shape 23"/>
          <p:cNvSpPr/>
          <p:nvPr/>
        </p:nvSpPr>
        <p:spPr>
          <a:xfrm>
            <a:off x="7086600" y="1234440"/>
            <a:ext cx="548640" cy="548640"/>
          </a:xfrm>
          <a:prstGeom prst="ellipse">
            <a:avLst/>
          </a:prstGeom>
          <a:solidFill>
            <a:srgbClr val="F4844C"/>
          </a:solidFill>
          <a:ln w="12700">
            <a:solidFill>
              <a:srgbClr val="F4844C"/>
            </a:solidFill>
            <a:prstDash val="solid"/>
          </a:ln>
        </p:spPr>
        <p:txBody>
          <a:bodyPr/>
          <a:lstStyle/>
          <a:p>
            <a:endParaRPr lang="LID4096"/>
          </a:p>
        </p:txBody>
      </p:sp>
      <p:sp>
        <p:nvSpPr>
          <p:cNvPr id="26" name="Text 24"/>
          <p:cNvSpPr/>
          <p:nvPr/>
        </p:nvSpPr>
        <p:spPr>
          <a:xfrm>
            <a:off x="7086600" y="1243584"/>
            <a:ext cx="548640" cy="530352"/>
          </a:xfrm>
          <a:prstGeom prst="rect">
            <a:avLst/>
          </a:prstGeom>
          <a:noFill/>
          <a:ln/>
        </p:spPr>
        <p:txBody>
          <a:bodyPr wrap="square" lIns="0" tIns="0" rIns="0" bIns="0" rtlCol="0" anchor="ctr"/>
          <a:lstStyle/>
          <a:p>
            <a:pPr marL="0" indent="0" algn="ctr">
              <a:buNone/>
            </a:pPr>
            <a:r>
              <a:rPr lang="en-US" sz="1800" b="1" dirty="0">
                <a:solidFill>
                  <a:srgbClr val="FFFFFF"/>
                </a:solidFill>
                <a:latin typeface="Palatino Linotype" pitchFamily="34" charset="0"/>
                <a:ea typeface="Palatino Linotype" pitchFamily="34" charset="-122"/>
                <a:cs typeface="Palatino Linotype" pitchFamily="34" charset="-120"/>
              </a:rPr>
              <a:t>3</a:t>
            </a:r>
            <a:endParaRPr lang="en-US" sz="1800" dirty="0"/>
          </a:p>
        </p:txBody>
      </p:sp>
      <p:sp>
        <p:nvSpPr>
          <p:cNvPr id="27" name="Text 25"/>
          <p:cNvSpPr/>
          <p:nvPr/>
        </p:nvSpPr>
        <p:spPr>
          <a:xfrm>
            <a:off x="6181344" y="1874520"/>
            <a:ext cx="2377440" cy="502920"/>
          </a:xfrm>
          <a:prstGeom prst="rect">
            <a:avLst/>
          </a:prstGeom>
          <a:noFill/>
          <a:ln/>
        </p:spPr>
        <p:txBody>
          <a:bodyPr wrap="square" lIns="0" tIns="0" rIns="0" bIns="0" rtlCol="0" anchor="ctr"/>
          <a:lstStyle/>
          <a:p>
            <a:pPr marL="0" indent="0" algn="ctr">
              <a:lnSpc>
                <a:spcPct val="110000"/>
              </a:lnSpc>
              <a:buNone/>
            </a:pPr>
            <a:r>
              <a:rPr lang="en-US" sz="1400" b="1" dirty="0">
                <a:solidFill>
                  <a:srgbClr val="F4844C"/>
                </a:solidFill>
                <a:latin typeface="Palatino Linotype" pitchFamily="34" charset="0"/>
                <a:ea typeface="Palatino Linotype" pitchFamily="34" charset="-122"/>
                <a:cs typeface="Palatino Linotype" pitchFamily="34" charset="-120"/>
              </a:rPr>
              <a:t>Operational Interpretation</a:t>
            </a:r>
            <a:endParaRPr lang="en-US" sz="1400" dirty="0"/>
          </a:p>
        </p:txBody>
      </p:sp>
      <p:sp>
        <p:nvSpPr>
          <p:cNvPr id="28" name="Text 26"/>
          <p:cNvSpPr/>
          <p:nvPr/>
        </p:nvSpPr>
        <p:spPr>
          <a:xfrm>
            <a:off x="6227064" y="2446189"/>
            <a:ext cx="2331720" cy="411480"/>
          </a:xfrm>
          <a:prstGeom prst="rect">
            <a:avLst/>
          </a:prstGeom>
          <a:noFill/>
          <a:ln/>
        </p:spPr>
        <p:txBody>
          <a:bodyPr wrap="square" lIns="0" tIns="0" rIns="0" bIns="0" rtlCol="0" anchor="ctr"/>
          <a:lstStyle/>
          <a:p>
            <a:pPr marL="0" indent="0">
              <a:lnSpc>
                <a:spcPct val="120000"/>
              </a:lnSpc>
              <a:buNone/>
            </a:pPr>
            <a:r>
              <a:rPr lang="en-US" sz="1600" b="1" dirty="0">
                <a:solidFill>
                  <a:srgbClr val="F4844C"/>
                </a:solidFill>
                <a:latin typeface="Garamond" pitchFamily="34" charset="0"/>
                <a:ea typeface="Garamond" pitchFamily="34" charset="-122"/>
                <a:cs typeface="Garamond" pitchFamily="34" charset="-120"/>
              </a:rPr>
              <a:t>▸ </a:t>
            </a:r>
            <a:r>
              <a:rPr lang="en-US" sz="1600" dirty="0">
                <a:solidFill>
                  <a:srgbClr val="1A202C"/>
                </a:solidFill>
                <a:latin typeface="Garamond" pitchFamily="34" charset="0"/>
                <a:ea typeface="Garamond" pitchFamily="34" charset="-122"/>
                <a:cs typeface="Garamond" pitchFamily="34" charset="-120"/>
              </a:rPr>
              <a:t>Point · Contextual · Collective anomaly types</a:t>
            </a:r>
            <a:endParaRPr lang="en-US" sz="1600" dirty="0"/>
          </a:p>
        </p:txBody>
      </p:sp>
      <p:sp>
        <p:nvSpPr>
          <p:cNvPr id="29" name="Text 27"/>
          <p:cNvSpPr/>
          <p:nvPr/>
        </p:nvSpPr>
        <p:spPr>
          <a:xfrm>
            <a:off x="6208776" y="3008715"/>
            <a:ext cx="2331720" cy="411480"/>
          </a:xfrm>
          <a:prstGeom prst="rect">
            <a:avLst/>
          </a:prstGeom>
          <a:noFill/>
          <a:ln/>
        </p:spPr>
        <p:txBody>
          <a:bodyPr wrap="square" lIns="0" tIns="0" rIns="0" bIns="0" rtlCol="0" anchor="ctr"/>
          <a:lstStyle/>
          <a:p>
            <a:pPr marL="0" indent="0">
              <a:lnSpc>
                <a:spcPct val="120000"/>
              </a:lnSpc>
              <a:buNone/>
            </a:pPr>
            <a:r>
              <a:rPr lang="en-US" sz="1600" b="1" dirty="0">
                <a:solidFill>
                  <a:srgbClr val="F4844C"/>
                </a:solidFill>
                <a:latin typeface="Garamond" pitchFamily="34" charset="0"/>
                <a:ea typeface="Garamond" pitchFamily="34" charset="-122"/>
                <a:cs typeface="Garamond" pitchFamily="34" charset="-120"/>
              </a:rPr>
              <a:t>▸ </a:t>
            </a:r>
            <a:r>
              <a:rPr lang="en-US" sz="1600" dirty="0">
                <a:solidFill>
                  <a:srgbClr val="1A202C"/>
                </a:solidFill>
                <a:latin typeface="Garamond" pitchFamily="34" charset="0"/>
                <a:ea typeface="Garamond" pitchFamily="34" charset="-122"/>
                <a:cs typeface="Garamond" pitchFamily="34" charset="-120"/>
              </a:rPr>
              <a:t>Labels: transient / fault / drift / setpoint shift</a:t>
            </a:r>
            <a:endParaRPr lang="en-US" sz="1600" dirty="0"/>
          </a:p>
        </p:txBody>
      </p:sp>
      <p:sp>
        <p:nvSpPr>
          <p:cNvPr id="30" name="Shape 28"/>
          <p:cNvSpPr/>
          <p:nvPr/>
        </p:nvSpPr>
        <p:spPr>
          <a:xfrm>
            <a:off x="6181344" y="3493008"/>
            <a:ext cx="2331720" cy="18288"/>
          </a:xfrm>
          <a:prstGeom prst="rect">
            <a:avLst/>
          </a:prstGeom>
          <a:solidFill>
            <a:srgbClr val="CBD5E0"/>
          </a:solidFill>
          <a:ln w="12700">
            <a:solidFill>
              <a:srgbClr val="CBD5E0"/>
            </a:solidFill>
            <a:prstDash val="solid"/>
          </a:ln>
        </p:spPr>
        <p:txBody>
          <a:bodyPr/>
          <a:lstStyle/>
          <a:p>
            <a:endParaRPr lang="LID4096" sz="2800"/>
          </a:p>
        </p:txBody>
      </p:sp>
      <p:sp>
        <p:nvSpPr>
          <p:cNvPr id="31" name="Text 29"/>
          <p:cNvSpPr/>
          <p:nvPr/>
        </p:nvSpPr>
        <p:spPr>
          <a:xfrm>
            <a:off x="6181344" y="3566160"/>
            <a:ext cx="2377440" cy="1188720"/>
          </a:xfrm>
          <a:prstGeom prst="rect">
            <a:avLst/>
          </a:prstGeom>
          <a:noFill/>
          <a:ln/>
        </p:spPr>
        <p:txBody>
          <a:bodyPr wrap="square" lIns="0" tIns="0" rIns="0" bIns="0" rtlCol="0" anchor="ctr"/>
          <a:lstStyle/>
          <a:p>
            <a:pPr marL="0" indent="0">
              <a:lnSpc>
                <a:spcPct val="140000"/>
              </a:lnSpc>
              <a:buNone/>
            </a:pPr>
            <a:r>
              <a:rPr lang="en-US" sz="1600" dirty="0">
                <a:solidFill>
                  <a:srgbClr val="64748B"/>
                </a:solidFill>
                <a:latin typeface="Garamond" pitchFamily="34" charset="0"/>
                <a:ea typeface="Garamond" pitchFamily="34" charset="-122"/>
                <a:cs typeface="Garamond" pitchFamily="34" charset="-120"/>
              </a:rPr>
              <a:t>Bridges</a:t>
            </a:r>
            <a:r>
              <a:rPr lang="en-US" sz="1400" dirty="0">
                <a:solidFill>
                  <a:srgbClr val="64748B"/>
                </a:solidFill>
                <a:latin typeface="Garamond" pitchFamily="34" charset="0"/>
                <a:ea typeface="Garamond" pitchFamily="34" charset="-122"/>
                <a:cs typeface="Garamond" pitchFamily="34" charset="-120"/>
              </a:rPr>
              <a:t> </a:t>
            </a:r>
            <a:r>
              <a:rPr lang="en-US" sz="1600" dirty="0">
                <a:solidFill>
                  <a:srgbClr val="64748B"/>
                </a:solidFill>
                <a:latin typeface="Garamond" pitchFamily="34" charset="0"/>
                <a:ea typeface="Garamond" pitchFamily="34" charset="-122"/>
                <a:cs typeface="Garamond" pitchFamily="34" charset="-120"/>
              </a:rPr>
              <a:t>raw metric tables and actionable conclusions for operations teams.</a:t>
            </a:r>
            <a:endParaRPr lang="en-US" sz="1400" dirty="0"/>
          </a:p>
        </p:txBody>
      </p:sp>
      <p:sp>
        <p:nvSpPr>
          <p:cNvPr id="32" name="Text 30"/>
          <p:cNvSpPr/>
          <p:nvPr/>
        </p:nvSpPr>
        <p:spPr>
          <a:xfrm>
            <a:off x="411480" y="4956048"/>
            <a:ext cx="8321040" cy="228600"/>
          </a:xfrm>
          <a:prstGeom prst="rect">
            <a:avLst/>
          </a:prstGeom>
          <a:noFill/>
          <a:ln/>
        </p:spPr>
        <p:txBody>
          <a:bodyPr wrap="square" rtlCol="0" anchor="ctr"/>
          <a:lstStyle/>
          <a:p>
            <a:pPr marL="0" indent="0" algn="ctr">
              <a:buNone/>
            </a:pPr>
            <a:r>
              <a:rPr lang="en-US" sz="1000" i="1" dirty="0">
                <a:solidFill>
                  <a:srgbClr val="64748B"/>
                </a:solidFill>
                <a:latin typeface="Garamond" pitchFamily="34" charset="0"/>
                <a:ea typeface="Garamond" pitchFamily="34" charset="-122"/>
                <a:cs typeface="Garamond" pitchFamily="34" charset="-120"/>
              </a:rPr>
              <a:t>+ STL Seasonality · Nonstationarity Analysis · Explanation Artifacts (per-feature/per-channel attribution)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32">
            <a:extLst>
              <a:ext uri="{FF2B5EF4-FFF2-40B4-BE49-F238E27FC236}">
                <a16:creationId xmlns:a16="http://schemas.microsoft.com/office/drawing/2014/main" id="{7E4AA2E7-8DF0-88AA-61EB-49E6C91238B1}"/>
              </a:ext>
            </a:extLst>
          </p:cNvPr>
          <p:cNvSpPr/>
          <p:nvPr/>
        </p:nvSpPr>
        <p:spPr>
          <a:xfrm>
            <a:off x="3108960" y="3037114"/>
            <a:ext cx="2971800" cy="201168"/>
          </a:xfrm>
          <a:prstGeom prst="leftArrow">
            <a:avLst/>
          </a:prstGeom>
          <a:solidFill>
            <a:srgbClr val="007A68"/>
          </a:solidFill>
          <a:ln w="12700">
            <a:noFill/>
            <a:prstDash val="solid"/>
          </a:ln>
        </p:spPr>
        <p:txBody>
          <a:bodyPr/>
          <a:lstStyle/>
          <a:p>
            <a:endParaRPr lang="LID4096"/>
          </a:p>
        </p:txBody>
      </p:sp>
      <p:sp>
        <p:nvSpPr>
          <p:cNvPr id="3" name="Shape 32">
            <a:extLst>
              <a:ext uri="{FF2B5EF4-FFF2-40B4-BE49-F238E27FC236}">
                <a16:creationId xmlns:a16="http://schemas.microsoft.com/office/drawing/2014/main" id="{FA6B968D-E005-1415-58D3-5C2F810EC912}"/>
              </a:ext>
            </a:extLst>
          </p:cNvPr>
          <p:cNvSpPr/>
          <p:nvPr/>
        </p:nvSpPr>
        <p:spPr>
          <a:xfrm rot="10800000">
            <a:off x="3063240" y="2316045"/>
            <a:ext cx="2971800" cy="201168"/>
          </a:xfrm>
          <a:prstGeom prst="leftArrow">
            <a:avLst/>
          </a:prstGeom>
          <a:solidFill>
            <a:srgbClr val="1A6FC4"/>
          </a:solidFill>
          <a:ln w="12700">
            <a:solidFill>
              <a:srgbClr val="1A6FC4"/>
            </a:solidFill>
            <a:prstDash val="solid"/>
          </a:ln>
        </p:spPr>
        <p:txBody>
          <a:bodyPr/>
          <a:lstStyle/>
          <a:p>
            <a:endParaRPr lang="LID4096"/>
          </a:p>
        </p:txBody>
      </p:sp>
      <p:sp>
        <p:nvSpPr>
          <p:cNvPr id="4" name="Shape 0">
            <a:extLst>
              <a:ext uri="{FF2B5EF4-FFF2-40B4-BE49-F238E27FC236}">
                <a16:creationId xmlns:a16="http://schemas.microsoft.com/office/drawing/2014/main" id="{2C383D1D-D670-D1E7-C1D4-F95FE0E6E32F}"/>
              </a:ext>
            </a:extLst>
          </p:cNvPr>
          <p:cNvSpPr/>
          <p:nvPr/>
        </p:nvSpPr>
        <p:spPr>
          <a:xfrm>
            <a:off x="411480" y="228600"/>
            <a:ext cx="64008" cy="530352"/>
          </a:xfrm>
          <a:prstGeom prst="rect">
            <a:avLst/>
          </a:prstGeom>
          <a:solidFill>
            <a:srgbClr val="29ABE2"/>
          </a:solidFill>
          <a:ln w="12700">
            <a:solidFill>
              <a:srgbClr val="29ABE2"/>
            </a:solidFill>
            <a:prstDash val="solid"/>
          </a:ln>
        </p:spPr>
        <p:txBody>
          <a:bodyPr/>
          <a:lstStyle/>
          <a:p>
            <a:endParaRPr lang="LID4096"/>
          </a:p>
        </p:txBody>
      </p:sp>
      <p:sp>
        <p:nvSpPr>
          <p:cNvPr id="5" name="Text 1">
            <a:extLst>
              <a:ext uri="{FF2B5EF4-FFF2-40B4-BE49-F238E27FC236}">
                <a16:creationId xmlns:a16="http://schemas.microsoft.com/office/drawing/2014/main" id="{8F32000B-6EB2-5FDB-25F1-57756DD39873}"/>
              </a:ext>
            </a:extLst>
          </p:cNvPr>
          <p:cNvSpPr/>
          <p:nvPr/>
        </p:nvSpPr>
        <p:spPr>
          <a:xfrm>
            <a:off x="566928" y="173736"/>
            <a:ext cx="8321040" cy="548640"/>
          </a:xfrm>
          <a:prstGeom prst="rect">
            <a:avLst/>
          </a:prstGeom>
          <a:noFill/>
          <a:ln/>
        </p:spPr>
        <p:txBody>
          <a:bodyPr wrap="square" lIns="0" tIns="0" rIns="0" bIns="0" rtlCol="0" anchor="ctr"/>
          <a:lstStyle/>
          <a:p>
            <a:pPr marL="0" indent="0">
              <a:buNone/>
            </a:pPr>
            <a:r>
              <a:rPr lang="en-US" sz="2600" b="1" dirty="0">
                <a:solidFill>
                  <a:srgbClr val="0A2342"/>
                </a:solidFill>
                <a:latin typeface="Palatino Linotype" pitchFamily="34" charset="0"/>
                <a:ea typeface="Palatino Linotype" pitchFamily="34" charset="-122"/>
                <a:cs typeface="Palatino Linotype" pitchFamily="34" charset="-120"/>
              </a:rPr>
              <a:t>PC-to-Pi Deployment Architecture</a:t>
            </a:r>
            <a:endParaRPr lang="en-US" sz="2600" dirty="0"/>
          </a:p>
        </p:txBody>
      </p:sp>
      <p:sp>
        <p:nvSpPr>
          <p:cNvPr id="6" name="Text 2">
            <a:extLst>
              <a:ext uri="{FF2B5EF4-FFF2-40B4-BE49-F238E27FC236}">
                <a16:creationId xmlns:a16="http://schemas.microsoft.com/office/drawing/2014/main" id="{659BF5E1-1158-D4E7-B406-40A3993001E9}"/>
              </a:ext>
            </a:extLst>
          </p:cNvPr>
          <p:cNvSpPr/>
          <p:nvPr/>
        </p:nvSpPr>
        <p:spPr>
          <a:xfrm>
            <a:off x="566928" y="731520"/>
            <a:ext cx="8046720" cy="274320"/>
          </a:xfrm>
          <a:prstGeom prst="rect">
            <a:avLst/>
          </a:prstGeom>
          <a:noFill/>
          <a:ln/>
        </p:spPr>
        <p:txBody>
          <a:bodyPr wrap="square" lIns="0" tIns="0" rIns="0" bIns="0" rtlCol="0" anchor="ctr"/>
          <a:lstStyle/>
          <a:p>
            <a:pPr marL="0" indent="0">
              <a:buNone/>
            </a:pPr>
            <a:r>
              <a:rPr lang="en-US" sz="1250" dirty="0">
                <a:solidFill>
                  <a:srgbClr val="64748B"/>
                </a:solidFill>
                <a:latin typeface="Garamond" pitchFamily="34" charset="0"/>
                <a:ea typeface="Garamond" pitchFamily="34" charset="-122"/>
                <a:cs typeface="Garamond" pitchFamily="34" charset="-120"/>
              </a:rPr>
              <a:t>Training stays on PC · Raspberry Pi performs inference only</a:t>
            </a:r>
            <a:endParaRPr lang="en-US" sz="1250" dirty="0"/>
          </a:p>
        </p:txBody>
      </p:sp>
      <p:sp>
        <p:nvSpPr>
          <p:cNvPr id="7" name="Shape 3">
            <a:extLst>
              <a:ext uri="{FF2B5EF4-FFF2-40B4-BE49-F238E27FC236}">
                <a16:creationId xmlns:a16="http://schemas.microsoft.com/office/drawing/2014/main" id="{A1124DE2-39C6-EB60-152C-FD6A83721BFE}"/>
              </a:ext>
            </a:extLst>
          </p:cNvPr>
          <p:cNvSpPr/>
          <p:nvPr/>
        </p:nvSpPr>
        <p:spPr>
          <a:xfrm>
            <a:off x="274320" y="1078992"/>
            <a:ext cx="2834640" cy="3749040"/>
          </a:xfrm>
          <a:prstGeom prst="rect">
            <a:avLst/>
          </a:prstGeom>
          <a:solidFill>
            <a:srgbClr val="E8EFF8"/>
          </a:solidFill>
          <a:ln w="19050">
            <a:solidFill>
              <a:srgbClr val="1A6FC4"/>
            </a:solidFill>
            <a:prstDash val="solid"/>
          </a:ln>
          <a:effectLst>
            <a:outerShdw blurRad="101600" dist="25400" dir="8100000" algn="bl" rotWithShape="0">
              <a:srgbClr val="000000">
                <a:alpha val="9000"/>
              </a:srgbClr>
            </a:outerShdw>
          </a:effectLst>
        </p:spPr>
        <p:txBody>
          <a:bodyPr/>
          <a:lstStyle/>
          <a:p>
            <a:endParaRPr lang="LID4096"/>
          </a:p>
        </p:txBody>
      </p:sp>
      <p:sp>
        <p:nvSpPr>
          <p:cNvPr id="8" name="Shape 4">
            <a:extLst>
              <a:ext uri="{FF2B5EF4-FFF2-40B4-BE49-F238E27FC236}">
                <a16:creationId xmlns:a16="http://schemas.microsoft.com/office/drawing/2014/main" id="{5D72A21B-BED8-918A-C480-7F2106C20B79}"/>
              </a:ext>
            </a:extLst>
          </p:cNvPr>
          <p:cNvSpPr/>
          <p:nvPr/>
        </p:nvSpPr>
        <p:spPr>
          <a:xfrm>
            <a:off x="274320" y="1078992"/>
            <a:ext cx="2834640" cy="384048"/>
          </a:xfrm>
          <a:prstGeom prst="rect">
            <a:avLst/>
          </a:prstGeom>
          <a:solidFill>
            <a:srgbClr val="0A2342"/>
          </a:solidFill>
          <a:ln w="12700">
            <a:solidFill>
              <a:srgbClr val="0A2342"/>
            </a:solidFill>
            <a:prstDash val="solid"/>
          </a:ln>
        </p:spPr>
        <p:txBody>
          <a:bodyPr/>
          <a:lstStyle/>
          <a:p>
            <a:endParaRPr lang="LID4096"/>
          </a:p>
        </p:txBody>
      </p:sp>
      <p:sp>
        <p:nvSpPr>
          <p:cNvPr id="9" name="Shape 5">
            <a:extLst>
              <a:ext uri="{FF2B5EF4-FFF2-40B4-BE49-F238E27FC236}">
                <a16:creationId xmlns:a16="http://schemas.microsoft.com/office/drawing/2014/main" id="{37C85B7A-9387-6F72-8827-7485C61E340B}"/>
              </a:ext>
            </a:extLst>
          </p:cNvPr>
          <p:cNvSpPr/>
          <p:nvPr/>
        </p:nvSpPr>
        <p:spPr>
          <a:xfrm>
            <a:off x="274320" y="1353312"/>
            <a:ext cx="2834640" cy="109728"/>
          </a:xfrm>
          <a:prstGeom prst="rect">
            <a:avLst/>
          </a:prstGeom>
          <a:solidFill>
            <a:srgbClr val="0A2342"/>
          </a:solidFill>
          <a:ln w="12700">
            <a:solidFill>
              <a:srgbClr val="0A2342"/>
            </a:solidFill>
            <a:prstDash val="solid"/>
          </a:ln>
        </p:spPr>
        <p:txBody>
          <a:bodyPr/>
          <a:lstStyle/>
          <a:p>
            <a:endParaRPr lang="LID4096"/>
          </a:p>
        </p:txBody>
      </p:sp>
      <p:sp>
        <p:nvSpPr>
          <p:cNvPr id="10" name="Text 6">
            <a:extLst>
              <a:ext uri="{FF2B5EF4-FFF2-40B4-BE49-F238E27FC236}">
                <a16:creationId xmlns:a16="http://schemas.microsoft.com/office/drawing/2014/main" id="{C2A826FF-35EC-BE99-6EA5-44B110CB309D}"/>
              </a:ext>
            </a:extLst>
          </p:cNvPr>
          <p:cNvSpPr/>
          <p:nvPr/>
        </p:nvSpPr>
        <p:spPr>
          <a:xfrm>
            <a:off x="320040" y="1097280"/>
            <a:ext cx="274320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Palatino Linotype" pitchFamily="34" charset="0"/>
                <a:ea typeface="Palatino Linotype" pitchFamily="34" charset="-122"/>
                <a:cs typeface="Palatino Linotype" pitchFamily="34" charset="-120"/>
              </a:rPr>
              <a:t>PC / Laptop</a:t>
            </a:r>
            <a:endParaRPr lang="en-US" sz="1300" dirty="0"/>
          </a:p>
        </p:txBody>
      </p:sp>
      <p:sp>
        <p:nvSpPr>
          <p:cNvPr id="11" name="Shape 7">
            <a:extLst>
              <a:ext uri="{FF2B5EF4-FFF2-40B4-BE49-F238E27FC236}">
                <a16:creationId xmlns:a16="http://schemas.microsoft.com/office/drawing/2014/main" id="{16FDED82-26C4-AD45-F86B-CED1D6B46921}"/>
              </a:ext>
            </a:extLst>
          </p:cNvPr>
          <p:cNvSpPr/>
          <p:nvPr/>
        </p:nvSpPr>
        <p:spPr>
          <a:xfrm>
            <a:off x="438912" y="1572768"/>
            <a:ext cx="2505456" cy="530352"/>
          </a:xfrm>
          <a:prstGeom prst="rect">
            <a:avLst/>
          </a:prstGeom>
          <a:solidFill>
            <a:srgbClr val="C8DCEF"/>
          </a:solidFill>
          <a:ln w="10160">
            <a:solidFill>
              <a:srgbClr val="1A6FC4"/>
            </a:solidFill>
            <a:prstDash val="solid"/>
          </a:ln>
        </p:spPr>
        <p:txBody>
          <a:bodyPr/>
          <a:lstStyle/>
          <a:p>
            <a:endParaRPr lang="LID4096"/>
          </a:p>
        </p:txBody>
      </p:sp>
      <p:sp>
        <p:nvSpPr>
          <p:cNvPr id="12" name="Text 8">
            <a:extLst>
              <a:ext uri="{FF2B5EF4-FFF2-40B4-BE49-F238E27FC236}">
                <a16:creationId xmlns:a16="http://schemas.microsoft.com/office/drawing/2014/main" id="{9B5E21DC-BA5B-6D6B-95C5-7FC8DF1ACF02}"/>
              </a:ext>
            </a:extLst>
          </p:cNvPr>
          <p:cNvSpPr/>
          <p:nvPr/>
        </p:nvSpPr>
        <p:spPr>
          <a:xfrm>
            <a:off x="502920" y="1609344"/>
            <a:ext cx="2377440" cy="237744"/>
          </a:xfrm>
          <a:prstGeom prst="rect">
            <a:avLst/>
          </a:prstGeom>
          <a:noFill/>
          <a:ln/>
        </p:spPr>
        <p:txBody>
          <a:bodyPr wrap="square" lIns="0" tIns="0" rIns="0" bIns="0" rtlCol="0" anchor="ctr"/>
          <a:lstStyle/>
          <a:p>
            <a:pPr marL="0" indent="0">
              <a:buNone/>
            </a:pPr>
            <a:r>
              <a:rPr lang="en-US" sz="1050" b="1" dirty="0">
                <a:solidFill>
                  <a:srgbClr val="0A2342"/>
                </a:solidFill>
                <a:latin typeface="Palatino Linotype" pitchFamily="34" charset="0"/>
                <a:ea typeface="Palatino Linotype" pitchFamily="34" charset="-122"/>
                <a:cs typeface="Palatino Linotype" pitchFamily="34" charset="-120"/>
              </a:rPr>
              <a:t>Offline Training</a:t>
            </a:r>
            <a:endParaRPr lang="en-US" sz="1050" dirty="0"/>
          </a:p>
        </p:txBody>
      </p:sp>
      <p:sp>
        <p:nvSpPr>
          <p:cNvPr id="13" name="Text 9">
            <a:extLst>
              <a:ext uri="{FF2B5EF4-FFF2-40B4-BE49-F238E27FC236}">
                <a16:creationId xmlns:a16="http://schemas.microsoft.com/office/drawing/2014/main" id="{8ED202EC-1F6E-9538-38E9-A3F896F27B27}"/>
              </a:ext>
            </a:extLst>
          </p:cNvPr>
          <p:cNvSpPr/>
          <p:nvPr/>
        </p:nvSpPr>
        <p:spPr>
          <a:xfrm>
            <a:off x="502920" y="1847088"/>
            <a:ext cx="2377440" cy="201168"/>
          </a:xfrm>
          <a:prstGeom prst="rect">
            <a:avLst/>
          </a:prstGeom>
          <a:noFill/>
          <a:ln/>
        </p:spPr>
        <p:txBody>
          <a:bodyPr wrap="square" lIns="0" tIns="0" rIns="0" bIns="0" rtlCol="0" anchor="ctr"/>
          <a:lstStyle/>
          <a:p>
            <a:pPr marL="0" indent="0">
              <a:buNone/>
            </a:pPr>
            <a:r>
              <a:rPr lang="en-US" sz="1100" dirty="0">
                <a:solidFill>
                  <a:srgbClr val="64748B"/>
                </a:solidFill>
                <a:latin typeface="Garamond" pitchFamily="34" charset="0"/>
                <a:ea typeface="Garamond" pitchFamily="34" charset="-122"/>
                <a:cs typeface="Garamond" pitchFamily="34" charset="-120"/>
              </a:rPr>
              <a:t>train_offline.py</a:t>
            </a:r>
            <a:endParaRPr lang="en-US" sz="1100" dirty="0"/>
          </a:p>
        </p:txBody>
      </p:sp>
      <p:sp>
        <p:nvSpPr>
          <p:cNvPr id="14" name="Shape 10">
            <a:extLst>
              <a:ext uri="{FF2B5EF4-FFF2-40B4-BE49-F238E27FC236}">
                <a16:creationId xmlns:a16="http://schemas.microsoft.com/office/drawing/2014/main" id="{D7B139A8-6316-D2E9-31FD-92C32004B504}"/>
              </a:ext>
            </a:extLst>
          </p:cNvPr>
          <p:cNvSpPr/>
          <p:nvPr/>
        </p:nvSpPr>
        <p:spPr>
          <a:xfrm>
            <a:off x="438912" y="2185416"/>
            <a:ext cx="2505456" cy="530352"/>
          </a:xfrm>
          <a:prstGeom prst="rect">
            <a:avLst/>
          </a:prstGeom>
          <a:solidFill>
            <a:srgbClr val="C8DCEF"/>
          </a:solidFill>
          <a:ln w="10160">
            <a:solidFill>
              <a:srgbClr val="1A6FC4"/>
            </a:solidFill>
            <a:prstDash val="solid"/>
          </a:ln>
        </p:spPr>
        <p:txBody>
          <a:bodyPr/>
          <a:lstStyle/>
          <a:p>
            <a:endParaRPr lang="LID4096"/>
          </a:p>
        </p:txBody>
      </p:sp>
      <p:sp>
        <p:nvSpPr>
          <p:cNvPr id="15" name="Text 11">
            <a:extLst>
              <a:ext uri="{FF2B5EF4-FFF2-40B4-BE49-F238E27FC236}">
                <a16:creationId xmlns:a16="http://schemas.microsoft.com/office/drawing/2014/main" id="{119BFCEC-EC12-D8C0-AED9-CA0C0809A596}"/>
              </a:ext>
            </a:extLst>
          </p:cNvPr>
          <p:cNvSpPr/>
          <p:nvPr/>
        </p:nvSpPr>
        <p:spPr>
          <a:xfrm>
            <a:off x="502920" y="2221992"/>
            <a:ext cx="2377440" cy="237744"/>
          </a:xfrm>
          <a:prstGeom prst="rect">
            <a:avLst/>
          </a:prstGeom>
          <a:noFill/>
          <a:ln/>
        </p:spPr>
        <p:txBody>
          <a:bodyPr wrap="square" lIns="0" tIns="0" rIns="0" bIns="0" rtlCol="0" anchor="ctr"/>
          <a:lstStyle/>
          <a:p>
            <a:pPr marL="0" indent="0">
              <a:buNone/>
            </a:pPr>
            <a:r>
              <a:rPr lang="en-US" sz="1050" b="1" dirty="0">
                <a:solidFill>
                  <a:srgbClr val="0A2342"/>
                </a:solidFill>
                <a:latin typeface="Palatino Linotype" pitchFamily="34" charset="0"/>
                <a:ea typeface="Palatino Linotype" pitchFamily="34" charset="-122"/>
                <a:cs typeface="Palatino Linotype" pitchFamily="34" charset="-120"/>
              </a:rPr>
              <a:t>Offline Evaluation</a:t>
            </a:r>
            <a:endParaRPr lang="en-US" sz="1050" dirty="0"/>
          </a:p>
        </p:txBody>
      </p:sp>
      <p:sp>
        <p:nvSpPr>
          <p:cNvPr id="16" name="Text 12">
            <a:extLst>
              <a:ext uri="{FF2B5EF4-FFF2-40B4-BE49-F238E27FC236}">
                <a16:creationId xmlns:a16="http://schemas.microsoft.com/office/drawing/2014/main" id="{76671B01-0699-4F2A-47E6-6BD79F94DF53}"/>
              </a:ext>
            </a:extLst>
          </p:cNvPr>
          <p:cNvSpPr/>
          <p:nvPr/>
        </p:nvSpPr>
        <p:spPr>
          <a:xfrm>
            <a:off x="502920" y="2459736"/>
            <a:ext cx="2377440" cy="201168"/>
          </a:xfrm>
          <a:prstGeom prst="rect">
            <a:avLst/>
          </a:prstGeom>
          <a:noFill/>
          <a:ln/>
        </p:spPr>
        <p:txBody>
          <a:bodyPr wrap="square" lIns="0" tIns="0" rIns="0" bIns="0" rtlCol="0" anchor="ctr"/>
          <a:lstStyle/>
          <a:p>
            <a:pPr marL="0" indent="0">
              <a:buNone/>
            </a:pPr>
            <a:r>
              <a:rPr lang="en-US" sz="1100" dirty="0">
                <a:solidFill>
                  <a:srgbClr val="64748B"/>
                </a:solidFill>
                <a:latin typeface="Garamond" pitchFamily="34" charset="0"/>
                <a:ea typeface="Garamond" pitchFamily="34" charset="-122"/>
                <a:cs typeface="Garamond" pitchFamily="34" charset="-120"/>
              </a:rPr>
              <a:t>evaluate_offline.py</a:t>
            </a:r>
            <a:endParaRPr lang="en-US" sz="1100" dirty="0"/>
          </a:p>
        </p:txBody>
      </p:sp>
      <p:sp>
        <p:nvSpPr>
          <p:cNvPr id="17" name="Shape 13">
            <a:extLst>
              <a:ext uri="{FF2B5EF4-FFF2-40B4-BE49-F238E27FC236}">
                <a16:creationId xmlns:a16="http://schemas.microsoft.com/office/drawing/2014/main" id="{4959A5A8-EABE-D330-07C1-1041BF65E59E}"/>
              </a:ext>
            </a:extLst>
          </p:cNvPr>
          <p:cNvSpPr/>
          <p:nvPr/>
        </p:nvSpPr>
        <p:spPr>
          <a:xfrm>
            <a:off x="438912" y="2798064"/>
            <a:ext cx="2505456" cy="530352"/>
          </a:xfrm>
          <a:prstGeom prst="rect">
            <a:avLst/>
          </a:prstGeom>
          <a:solidFill>
            <a:srgbClr val="C8DCEF"/>
          </a:solidFill>
          <a:ln w="10160">
            <a:solidFill>
              <a:srgbClr val="1A6FC4"/>
            </a:solidFill>
            <a:prstDash val="solid"/>
          </a:ln>
        </p:spPr>
        <p:txBody>
          <a:bodyPr/>
          <a:lstStyle/>
          <a:p>
            <a:endParaRPr lang="LID4096"/>
          </a:p>
        </p:txBody>
      </p:sp>
      <p:sp>
        <p:nvSpPr>
          <p:cNvPr id="18" name="Text 14">
            <a:extLst>
              <a:ext uri="{FF2B5EF4-FFF2-40B4-BE49-F238E27FC236}">
                <a16:creationId xmlns:a16="http://schemas.microsoft.com/office/drawing/2014/main" id="{DF376915-97C9-80DC-4E3B-41CFEAA22C34}"/>
              </a:ext>
            </a:extLst>
          </p:cNvPr>
          <p:cNvSpPr/>
          <p:nvPr/>
        </p:nvSpPr>
        <p:spPr>
          <a:xfrm>
            <a:off x="502920" y="2834640"/>
            <a:ext cx="2377440" cy="237744"/>
          </a:xfrm>
          <a:prstGeom prst="rect">
            <a:avLst/>
          </a:prstGeom>
          <a:noFill/>
          <a:ln/>
        </p:spPr>
        <p:txBody>
          <a:bodyPr wrap="square" lIns="0" tIns="0" rIns="0" bIns="0" rtlCol="0" anchor="ctr"/>
          <a:lstStyle/>
          <a:p>
            <a:pPr marL="0" indent="0">
              <a:buNone/>
            </a:pPr>
            <a:r>
              <a:rPr lang="en-US" sz="1050" b="1" dirty="0">
                <a:solidFill>
                  <a:srgbClr val="0A2342"/>
                </a:solidFill>
                <a:latin typeface="Palatino Linotype" pitchFamily="34" charset="0"/>
                <a:ea typeface="Palatino Linotype" pitchFamily="34" charset="-122"/>
                <a:cs typeface="Palatino Linotype" pitchFamily="34" charset="-120"/>
              </a:rPr>
              <a:t>FastAPI Stream Server</a:t>
            </a:r>
            <a:endParaRPr lang="en-US" sz="1050" dirty="0"/>
          </a:p>
        </p:txBody>
      </p:sp>
      <p:sp>
        <p:nvSpPr>
          <p:cNvPr id="19" name="Text 15">
            <a:extLst>
              <a:ext uri="{FF2B5EF4-FFF2-40B4-BE49-F238E27FC236}">
                <a16:creationId xmlns:a16="http://schemas.microsoft.com/office/drawing/2014/main" id="{D54C9EF0-DD01-8A4A-A154-418E16B02660}"/>
              </a:ext>
            </a:extLst>
          </p:cNvPr>
          <p:cNvSpPr/>
          <p:nvPr/>
        </p:nvSpPr>
        <p:spPr>
          <a:xfrm>
            <a:off x="502920" y="3072384"/>
            <a:ext cx="2377440" cy="201168"/>
          </a:xfrm>
          <a:prstGeom prst="rect">
            <a:avLst/>
          </a:prstGeom>
          <a:noFill/>
          <a:ln/>
        </p:spPr>
        <p:txBody>
          <a:bodyPr wrap="square" lIns="0" tIns="0" rIns="0" bIns="0" rtlCol="0" anchor="ctr"/>
          <a:lstStyle/>
          <a:p>
            <a:pPr marL="0" indent="0">
              <a:buNone/>
            </a:pPr>
            <a:r>
              <a:rPr lang="en-US" sz="1100" dirty="0">
                <a:solidFill>
                  <a:srgbClr val="64748B"/>
                </a:solidFill>
                <a:latin typeface="Garamond" pitchFamily="34" charset="0"/>
                <a:ea typeface="Garamond" pitchFamily="34" charset="-122"/>
                <a:cs typeface="Garamond" pitchFamily="34" charset="-120"/>
              </a:rPr>
              <a:t>serve_stream_api.py  :8000</a:t>
            </a:r>
            <a:endParaRPr lang="en-US" sz="1100" dirty="0"/>
          </a:p>
        </p:txBody>
      </p:sp>
      <p:sp>
        <p:nvSpPr>
          <p:cNvPr id="20" name="Shape 16">
            <a:extLst>
              <a:ext uri="{FF2B5EF4-FFF2-40B4-BE49-F238E27FC236}">
                <a16:creationId xmlns:a16="http://schemas.microsoft.com/office/drawing/2014/main" id="{733D34B6-1EC6-E742-730C-8AF4503E2C82}"/>
              </a:ext>
            </a:extLst>
          </p:cNvPr>
          <p:cNvSpPr/>
          <p:nvPr/>
        </p:nvSpPr>
        <p:spPr>
          <a:xfrm>
            <a:off x="438912" y="3410712"/>
            <a:ext cx="2505456" cy="530352"/>
          </a:xfrm>
          <a:prstGeom prst="rect">
            <a:avLst/>
          </a:prstGeom>
          <a:solidFill>
            <a:srgbClr val="C8DCEF"/>
          </a:solidFill>
          <a:ln w="10160">
            <a:solidFill>
              <a:srgbClr val="1A6FC4"/>
            </a:solidFill>
            <a:prstDash val="solid"/>
          </a:ln>
        </p:spPr>
        <p:txBody>
          <a:bodyPr/>
          <a:lstStyle/>
          <a:p>
            <a:endParaRPr lang="LID4096"/>
          </a:p>
        </p:txBody>
      </p:sp>
      <p:sp>
        <p:nvSpPr>
          <p:cNvPr id="21" name="Text 17">
            <a:extLst>
              <a:ext uri="{FF2B5EF4-FFF2-40B4-BE49-F238E27FC236}">
                <a16:creationId xmlns:a16="http://schemas.microsoft.com/office/drawing/2014/main" id="{E474C236-D49A-F519-AB76-81CAA963013B}"/>
              </a:ext>
            </a:extLst>
          </p:cNvPr>
          <p:cNvSpPr/>
          <p:nvPr/>
        </p:nvSpPr>
        <p:spPr>
          <a:xfrm>
            <a:off x="502920" y="3447288"/>
            <a:ext cx="2377440" cy="237744"/>
          </a:xfrm>
          <a:prstGeom prst="rect">
            <a:avLst/>
          </a:prstGeom>
          <a:noFill/>
          <a:ln/>
        </p:spPr>
        <p:txBody>
          <a:bodyPr wrap="square" lIns="0" tIns="0" rIns="0" bIns="0" rtlCol="0" anchor="ctr"/>
          <a:lstStyle/>
          <a:p>
            <a:pPr marL="0" indent="0">
              <a:buNone/>
            </a:pPr>
            <a:r>
              <a:rPr lang="en-US" sz="1050" b="1" dirty="0">
                <a:solidFill>
                  <a:srgbClr val="0A2342"/>
                </a:solidFill>
                <a:latin typeface="Palatino Linotype" pitchFamily="34" charset="0"/>
                <a:ea typeface="Palatino Linotype" pitchFamily="34" charset="-122"/>
                <a:cs typeface="Palatino Linotype" pitchFamily="34" charset="-120"/>
              </a:rPr>
              <a:t>Artifact Storage</a:t>
            </a:r>
            <a:endParaRPr lang="en-US" sz="1050" dirty="0"/>
          </a:p>
        </p:txBody>
      </p:sp>
      <p:sp>
        <p:nvSpPr>
          <p:cNvPr id="22" name="Text 18">
            <a:extLst>
              <a:ext uri="{FF2B5EF4-FFF2-40B4-BE49-F238E27FC236}">
                <a16:creationId xmlns:a16="http://schemas.microsoft.com/office/drawing/2014/main" id="{656C7CFF-BA2B-7042-7424-9A016CFCC65A}"/>
              </a:ext>
            </a:extLst>
          </p:cNvPr>
          <p:cNvSpPr/>
          <p:nvPr/>
        </p:nvSpPr>
        <p:spPr>
          <a:xfrm>
            <a:off x="502920" y="3685032"/>
            <a:ext cx="2377440" cy="201168"/>
          </a:xfrm>
          <a:prstGeom prst="rect">
            <a:avLst/>
          </a:prstGeom>
          <a:noFill/>
          <a:ln/>
        </p:spPr>
        <p:txBody>
          <a:bodyPr wrap="square" lIns="0" tIns="0" rIns="0" bIns="0" rtlCol="0" anchor="ctr"/>
          <a:lstStyle/>
          <a:p>
            <a:pPr marL="0" indent="0">
              <a:buNone/>
            </a:pPr>
            <a:r>
              <a:rPr lang="en-US" sz="1050" dirty="0">
                <a:solidFill>
                  <a:srgbClr val="64748B"/>
                </a:solidFill>
                <a:latin typeface="Garamond" pitchFamily="34" charset="0"/>
                <a:ea typeface="Garamond" pitchFamily="34" charset="-122"/>
                <a:cs typeface="Garamond" pitchFamily="34" charset="-120"/>
              </a:rPr>
              <a:t>artifacts/&lt;dataset&gt;/&lt;variant&gt;/</a:t>
            </a:r>
            <a:endParaRPr lang="en-US" sz="1050" dirty="0"/>
          </a:p>
        </p:txBody>
      </p:sp>
      <p:sp>
        <p:nvSpPr>
          <p:cNvPr id="23" name="Shape 19">
            <a:extLst>
              <a:ext uri="{FF2B5EF4-FFF2-40B4-BE49-F238E27FC236}">
                <a16:creationId xmlns:a16="http://schemas.microsoft.com/office/drawing/2014/main" id="{0260DA24-F280-4A84-6ADB-DC799412C490}"/>
              </a:ext>
            </a:extLst>
          </p:cNvPr>
          <p:cNvSpPr/>
          <p:nvPr/>
        </p:nvSpPr>
        <p:spPr>
          <a:xfrm>
            <a:off x="438912" y="4023360"/>
            <a:ext cx="2505456" cy="530352"/>
          </a:xfrm>
          <a:prstGeom prst="rect">
            <a:avLst/>
          </a:prstGeom>
          <a:solidFill>
            <a:srgbClr val="C8DCEF"/>
          </a:solidFill>
          <a:ln w="10160">
            <a:solidFill>
              <a:srgbClr val="1A6FC4"/>
            </a:solidFill>
            <a:prstDash val="solid"/>
          </a:ln>
        </p:spPr>
        <p:txBody>
          <a:bodyPr/>
          <a:lstStyle/>
          <a:p>
            <a:endParaRPr lang="LID4096"/>
          </a:p>
        </p:txBody>
      </p:sp>
      <p:sp>
        <p:nvSpPr>
          <p:cNvPr id="24" name="Text 20">
            <a:extLst>
              <a:ext uri="{FF2B5EF4-FFF2-40B4-BE49-F238E27FC236}">
                <a16:creationId xmlns:a16="http://schemas.microsoft.com/office/drawing/2014/main" id="{7D84C704-0930-C43E-A57D-D86A8B2D4267}"/>
              </a:ext>
            </a:extLst>
          </p:cNvPr>
          <p:cNvSpPr/>
          <p:nvPr/>
        </p:nvSpPr>
        <p:spPr>
          <a:xfrm>
            <a:off x="502920" y="4059936"/>
            <a:ext cx="2377440" cy="237744"/>
          </a:xfrm>
          <a:prstGeom prst="rect">
            <a:avLst/>
          </a:prstGeom>
          <a:noFill/>
          <a:ln/>
        </p:spPr>
        <p:txBody>
          <a:bodyPr wrap="square" lIns="0" tIns="0" rIns="0" bIns="0" rtlCol="0" anchor="ctr"/>
          <a:lstStyle/>
          <a:p>
            <a:pPr marL="0" indent="0">
              <a:buNone/>
            </a:pPr>
            <a:r>
              <a:rPr lang="en-US" sz="1050" b="1" dirty="0">
                <a:solidFill>
                  <a:srgbClr val="0A2342"/>
                </a:solidFill>
                <a:latin typeface="Palatino Linotype" pitchFamily="34" charset="0"/>
                <a:ea typeface="Palatino Linotype" pitchFamily="34" charset="-122"/>
                <a:cs typeface="Palatino Linotype" pitchFamily="34" charset="-120"/>
              </a:rPr>
              <a:t>Dataset Storage</a:t>
            </a:r>
            <a:endParaRPr lang="en-US" sz="1050" dirty="0"/>
          </a:p>
        </p:txBody>
      </p:sp>
      <p:sp>
        <p:nvSpPr>
          <p:cNvPr id="25" name="Text 21">
            <a:extLst>
              <a:ext uri="{FF2B5EF4-FFF2-40B4-BE49-F238E27FC236}">
                <a16:creationId xmlns:a16="http://schemas.microsoft.com/office/drawing/2014/main" id="{EF2842E7-F826-B182-A121-5EAA8D7AAD74}"/>
              </a:ext>
            </a:extLst>
          </p:cNvPr>
          <p:cNvSpPr/>
          <p:nvPr/>
        </p:nvSpPr>
        <p:spPr>
          <a:xfrm>
            <a:off x="502920" y="4297680"/>
            <a:ext cx="2377440" cy="201168"/>
          </a:xfrm>
          <a:prstGeom prst="rect">
            <a:avLst/>
          </a:prstGeom>
          <a:noFill/>
          <a:ln/>
        </p:spPr>
        <p:txBody>
          <a:bodyPr wrap="square" lIns="0" tIns="0" rIns="0" bIns="0" rtlCol="0" anchor="ctr"/>
          <a:lstStyle/>
          <a:p>
            <a:pPr marL="0" indent="0">
              <a:buNone/>
            </a:pPr>
            <a:r>
              <a:rPr lang="en-US" sz="1100" dirty="0">
                <a:solidFill>
                  <a:srgbClr val="64748B"/>
                </a:solidFill>
                <a:latin typeface="Garamond" pitchFamily="34" charset="0"/>
                <a:ea typeface="Garamond" pitchFamily="34" charset="-122"/>
                <a:cs typeface="Garamond" pitchFamily="34" charset="-120"/>
              </a:rPr>
              <a:t>Datasets/NAB/  ·  Datasets/SKAB/</a:t>
            </a:r>
            <a:endParaRPr lang="en-US" sz="1100" dirty="0"/>
          </a:p>
        </p:txBody>
      </p:sp>
      <p:sp>
        <p:nvSpPr>
          <p:cNvPr id="26" name="Shape 22">
            <a:extLst>
              <a:ext uri="{FF2B5EF4-FFF2-40B4-BE49-F238E27FC236}">
                <a16:creationId xmlns:a16="http://schemas.microsoft.com/office/drawing/2014/main" id="{C1C3BC22-5283-9735-98CE-C9F3373C45CF}"/>
              </a:ext>
            </a:extLst>
          </p:cNvPr>
          <p:cNvSpPr/>
          <p:nvPr/>
        </p:nvSpPr>
        <p:spPr>
          <a:xfrm>
            <a:off x="3291840" y="1371600"/>
            <a:ext cx="2560320" cy="2743200"/>
          </a:xfrm>
          <a:prstGeom prst="rect">
            <a:avLst/>
          </a:prstGeom>
          <a:solidFill>
            <a:srgbClr val="FFFBF0"/>
          </a:solidFill>
          <a:ln w="19050">
            <a:solidFill>
              <a:srgbClr val="F6AD55"/>
            </a:solidFill>
            <a:prstDash val="dash"/>
          </a:ln>
        </p:spPr>
        <p:txBody>
          <a:bodyPr/>
          <a:lstStyle/>
          <a:p>
            <a:endParaRPr lang="LID4096"/>
          </a:p>
        </p:txBody>
      </p:sp>
      <p:sp>
        <p:nvSpPr>
          <p:cNvPr id="27" name="Text 23">
            <a:extLst>
              <a:ext uri="{FF2B5EF4-FFF2-40B4-BE49-F238E27FC236}">
                <a16:creationId xmlns:a16="http://schemas.microsoft.com/office/drawing/2014/main" id="{EEA5B982-AAC5-8756-AE25-2230B15615AB}"/>
              </a:ext>
            </a:extLst>
          </p:cNvPr>
          <p:cNvSpPr/>
          <p:nvPr/>
        </p:nvSpPr>
        <p:spPr>
          <a:xfrm>
            <a:off x="3337560" y="1444752"/>
            <a:ext cx="2468880" cy="274320"/>
          </a:xfrm>
          <a:prstGeom prst="rect">
            <a:avLst/>
          </a:prstGeom>
          <a:noFill/>
          <a:ln/>
        </p:spPr>
        <p:txBody>
          <a:bodyPr wrap="square" lIns="0" tIns="0" rIns="0" bIns="0" rtlCol="0" anchor="ctr"/>
          <a:lstStyle/>
          <a:p>
            <a:pPr marL="0" indent="0" algn="ctr">
              <a:buNone/>
            </a:pPr>
            <a:r>
              <a:rPr lang="en-US" sz="1400" b="1" dirty="0">
                <a:solidFill>
                  <a:srgbClr val="F4844C"/>
                </a:solidFill>
                <a:latin typeface="Palatino Linotype" pitchFamily="34" charset="0"/>
                <a:ea typeface="Palatino Linotype" pitchFamily="34" charset="-122"/>
                <a:cs typeface="Palatino Linotype" pitchFamily="34" charset="-120"/>
              </a:rPr>
              <a:t>Tailscale</a:t>
            </a:r>
            <a:endParaRPr lang="en-US" sz="1400" dirty="0"/>
          </a:p>
        </p:txBody>
      </p:sp>
      <p:sp>
        <p:nvSpPr>
          <p:cNvPr id="28" name="Text 24">
            <a:extLst>
              <a:ext uri="{FF2B5EF4-FFF2-40B4-BE49-F238E27FC236}">
                <a16:creationId xmlns:a16="http://schemas.microsoft.com/office/drawing/2014/main" id="{84675F58-3727-BC62-92DF-3440267DE620}"/>
              </a:ext>
            </a:extLst>
          </p:cNvPr>
          <p:cNvSpPr/>
          <p:nvPr/>
        </p:nvSpPr>
        <p:spPr>
          <a:xfrm>
            <a:off x="3337560" y="1719072"/>
            <a:ext cx="2468880" cy="201168"/>
          </a:xfrm>
          <a:prstGeom prst="rect">
            <a:avLst/>
          </a:prstGeom>
          <a:noFill/>
          <a:ln/>
        </p:spPr>
        <p:txBody>
          <a:bodyPr wrap="square" lIns="0" tIns="0" rIns="0" bIns="0" rtlCol="0" anchor="ctr"/>
          <a:lstStyle/>
          <a:p>
            <a:pPr marL="0" indent="0" algn="ctr">
              <a:buNone/>
            </a:pPr>
            <a:r>
              <a:rPr lang="en-US" sz="1400" dirty="0">
                <a:solidFill>
                  <a:srgbClr val="F4844C"/>
                </a:solidFill>
                <a:latin typeface="Garamond" pitchFamily="34" charset="0"/>
                <a:ea typeface="Garamond" pitchFamily="34" charset="-122"/>
                <a:cs typeface="Garamond" pitchFamily="34" charset="-120"/>
              </a:rPr>
              <a:t>Private tailnet</a:t>
            </a:r>
            <a:endParaRPr lang="en-US" sz="1400" dirty="0"/>
          </a:p>
        </p:txBody>
      </p:sp>
      <p:sp>
        <p:nvSpPr>
          <p:cNvPr id="29" name="Shape 25">
            <a:extLst>
              <a:ext uri="{FF2B5EF4-FFF2-40B4-BE49-F238E27FC236}">
                <a16:creationId xmlns:a16="http://schemas.microsoft.com/office/drawing/2014/main" id="{199CA264-D648-A08B-FC86-85D11C3B1A19}"/>
              </a:ext>
            </a:extLst>
          </p:cNvPr>
          <p:cNvSpPr/>
          <p:nvPr/>
        </p:nvSpPr>
        <p:spPr>
          <a:xfrm>
            <a:off x="3456432" y="1993392"/>
            <a:ext cx="2231136" cy="685800"/>
          </a:xfrm>
          <a:prstGeom prst="rect">
            <a:avLst/>
          </a:prstGeom>
          <a:solidFill>
            <a:srgbClr val="FEF3C7"/>
          </a:solidFill>
          <a:ln w="10160">
            <a:solidFill>
              <a:srgbClr val="F6AD55"/>
            </a:solidFill>
            <a:prstDash val="solid"/>
          </a:ln>
        </p:spPr>
        <p:txBody>
          <a:bodyPr/>
          <a:lstStyle/>
          <a:p>
            <a:endParaRPr lang="LID4096"/>
          </a:p>
        </p:txBody>
      </p:sp>
      <p:sp>
        <p:nvSpPr>
          <p:cNvPr id="30" name="Text 26">
            <a:extLst>
              <a:ext uri="{FF2B5EF4-FFF2-40B4-BE49-F238E27FC236}">
                <a16:creationId xmlns:a16="http://schemas.microsoft.com/office/drawing/2014/main" id="{925C0A4D-AF36-E353-EAA7-F13D11C45F1C}"/>
              </a:ext>
            </a:extLst>
          </p:cNvPr>
          <p:cNvSpPr/>
          <p:nvPr/>
        </p:nvSpPr>
        <p:spPr>
          <a:xfrm>
            <a:off x="3493008" y="2011680"/>
            <a:ext cx="2157984" cy="411480"/>
          </a:xfrm>
          <a:prstGeom prst="rect">
            <a:avLst/>
          </a:prstGeom>
          <a:noFill/>
          <a:ln/>
        </p:spPr>
        <p:txBody>
          <a:bodyPr wrap="square" lIns="0" tIns="0" rIns="0" bIns="0" rtlCol="0" anchor="ctr"/>
          <a:lstStyle/>
          <a:p>
            <a:pPr marL="0" indent="0" algn="ctr">
              <a:lnSpc>
                <a:spcPct val="115000"/>
              </a:lnSpc>
              <a:buNone/>
            </a:pPr>
            <a:r>
              <a:rPr lang="en-US" sz="1000" b="1" dirty="0">
                <a:solidFill>
                  <a:srgbClr val="92400E"/>
                </a:solidFill>
                <a:latin typeface="Garamond" pitchFamily="34" charset="0"/>
                <a:ea typeface="Garamond" pitchFamily="34" charset="-122"/>
                <a:cs typeface="Garamond" pitchFamily="34" charset="-120"/>
              </a:rPr>
              <a:t>GET /health</a:t>
            </a:r>
            <a:endParaRPr lang="en-US" sz="1000" dirty="0"/>
          </a:p>
        </p:txBody>
      </p:sp>
      <p:sp>
        <p:nvSpPr>
          <p:cNvPr id="31" name="Text 27">
            <a:extLst>
              <a:ext uri="{FF2B5EF4-FFF2-40B4-BE49-F238E27FC236}">
                <a16:creationId xmlns:a16="http://schemas.microsoft.com/office/drawing/2014/main" id="{DEDD4C8D-F3DB-68AC-AA83-FA1DE51CE816}"/>
              </a:ext>
            </a:extLst>
          </p:cNvPr>
          <p:cNvSpPr/>
          <p:nvPr/>
        </p:nvSpPr>
        <p:spPr>
          <a:xfrm>
            <a:off x="3493008" y="2331720"/>
            <a:ext cx="2157984" cy="274320"/>
          </a:xfrm>
          <a:prstGeom prst="rect">
            <a:avLst/>
          </a:prstGeom>
          <a:noFill/>
          <a:ln/>
        </p:spPr>
        <p:txBody>
          <a:bodyPr wrap="square" lIns="0" tIns="0" rIns="0" bIns="0" rtlCol="0" anchor="ctr"/>
          <a:lstStyle/>
          <a:p>
            <a:pPr marL="0" indent="0" algn="ctr">
              <a:buNone/>
            </a:pPr>
            <a:r>
              <a:rPr lang="en-US" sz="1100" dirty="0">
                <a:solidFill>
                  <a:srgbClr val="64748B"/>
                </a:solidFill>
                <a:latin typeface="Garamond" pitchFamily="34" charset="0"/>
                <a:ea typeface="Garamond" pitchFamily="34" charset="-122"/>
                <a:cs typeface="Garamond" pitchFamily="34" charset="-120"/>
              </a:rPr>
              <a:t>API health check</a:t>
            </a:r>
            <a:endParaRPr lang="en-US" sz="1100" dirty="0"/>
          </a:p>
        </p:txBody>
      </p:sp>
      <p:sp>
        <p:nvSpPr>
          <p:cNvPr id="32" name="Shape 28">
            <a:extLst>
              <a:ext uri="{FF2B5EF4-FFF2-40B4-BE49-F238E27FC236}">
                <a16:creationId xmlns:a16="http://schemas.microsoft.com/office/drawing/2014/main" id="{F7C7381F-32DE-1699-0190-EB198A676E26}"/>
              </a:ext>
            </a:extLst>
          </p:cNvPr>
          <p:cNvSpPr/>
          <p:nvPr/>
        </p:nvSpPr>
        <p:spPr>
          <a:xfrm>
            <a:off x="3456432" y="2862072"/>
            <a:ext cx="2231136" cy="685800"/>
          </a:xfrm>
          <a:prstGeom prst="rect">
            <a:avLst/>
          </a:prstGeom>
          <a:solidFill>
            <a:srgbClr val="FEF3C7"/>
          </a:solidFill>
          <a:ln w="10160">
            <a:solidFill>
              <a:srgbClr val="F6AD55"/>
            </a:solidFill>
            <a:prstDash val="solid"/>
          </a:ln>
        </p:spPr>
        <p:txBody>
          <a:bodyPr/>
          <a:lstStyle/>
          <a:p>
            <a:endParaRPr lang="LID4096"/>
          </a:p>
        </p:txBody>
      </p:sp>
      <p:sp>
        <p:nvSpPr>
          <p:cNvPr id="33" name="Text 29">
            <a:extLst>
              <a:ext uri="{FF2B5EF4-FFF2-40B4-BE49-F238E27FC236}">
                <a16:creationId xmlns:a16="http://schemas.microsoft.com/office/drawing/2014/main" id="{4AA46F02-F7E7-F71F-3E0F-B3C46FFAFA67}"/>
              </a:ext>
            </a:extLst>
          </p:cNvPr>
          <p:cNvSpPr/>
          <p:nvPr/>
        </p:nvSpPr>
        <p:spPr>
          <a:xfrm>
            <a:off x="3493008" y="2880360"/>
            <a:ext cx="2157984" cy="411480"/>
          </a:xfrm>
          <a:prstGeom prst="rect">
            <a:avLst/>
          </a:prstGeom>
          <a:noFill/>
          <a:ln/>
        </p:spPr>
        <p:txBody>
          <a:bodyPr wrap="square" lIns="0" tIns="0" rIns="0" bIns="0" rtlCol="0" anchor="ctr"/>
          <a:lstStyle/>
          <a:p>
            <a:pPr marL="0" indent="0" algn="ctr">
              <a:lnSpc>
                <a:spcPct val="115000"/>
              </a:lnSpc>
              <a:buNone/>
            </a:pPr>
            <a:r>
              <a:rPr lang="en-US" sz="1000" dirty="0">
                <a:solidFill>
                  <a:srgbClr val="92400E"/>
                </a:solidFill>
                <a:latin typeface="Garamond" pitchFamily="34" charset="0"/>
                <a:ea typeface="Garamond" pitchFamily="34" charset="-122"/>
                <a:cs typeface="Garamond" pitchFamily="34" charset="-120"/>
              </a:rPr>
              <a:t>GET /stream/next</a:t>
            </a:r>
            <a:endParaRPr lang="en-US" sz="1000" dirty="0"/>
          </a:p>
          <a:p>
            <a:pPr marL="0" indent="0" algn="ctr">
              <a:lnSpc>
                <a:spcPct val="115000"/>
              </a:lnSpc>
              <a:buNone/>
            </a:pPr>
            <a:r>
              <a:rPr lang="en-US" sz="1000" dirty="0">
                <a:solidFill>
                  <a:srgbClr val="92400E"/>
                </a:solidFill>
                <a:latin typeface="Garamond" pitchFamily="34" charset="0"/>
                <a:ea typeface="Garamond" pitchFamily="34" charset="-122"/>
                <a:cs typeface="Garamond" pitchFamily="34" charset="-120"/>
              </a:rPr>
              <a:t>?cursor=N&amp;batch_size=B</a:t>
            </a:r>
            <a:endParaRPr lang="en-US" sz="1000" dirty="0"/>
          </a:p>
        </p:txBody>
      </p:sp>
      <p:sp>
        <p:nvSpPr>
          <p:cNvPr id="34" name="Text 30">
            <a:extLst>
              <a:ext uri="{FF2B5EF4-FFF2-40B4-BE49-F238E27FC236}">
                <a16:creationId xmlns:a16="http://schemas.microsoft.com/office/drawing/2014/main" id="{3F73285F-A574-3F89-33DB-B69C533CB68F}"/>
              </a:ext>
            </a:extLst>
          </p:cNvPr>
          <p:cNvSpPr/>
          <p:nvPr/>
        </p:nvSpPr>
        <p:spPr>
          <a:xfrm>
            <a:off x="3493008" y="3200400"/>
            <a:ext cx="2157984" cy="274320"/>
          </a:xfrm>
          <a:prstGeom prst="rect">
            <a:avLst/>
          </a:prstGeom>
          <a:noFill/>
          <a:ln/>
        </p:spPr>
        <p:txBody>
          <a:bodyPr wrap="square" lIns="0" tIns="0" rIns="0" bIns="0" rtlCol="0" anchor="ctr"/>
          <a:lstStyle/>
          <a:p>
            <a:pPr marL="0" indent="0" algn="ctr">
              <a:buNone/>
            </a:pPr>
            <a:r>
              <a:rPr lang="en-US" sz="1100" dirty="0">
                <a:solidFill>
                  <a:srgbClr val="64748B"/>
                </a:solidFill>
                <a:latin typeface="Garamond" pitchFamily="34" charset="0"/>
                <a:ea typeface="Garamond" pitchFamily="34" charset="-122"/>
                <a:cs typeface="Garamond" pitchFamily="34" charset="-120"/>
              </a:rPr>
              <a:t>Telemetry batches</a:t>
            </a:r>
            <a:endParaRPr lang="en-US" sz="1100" dirty="0"/>
          </a:p>
        </p:txBody>
      </p:sp>
      <p:sp>
        <p:nvSpPr>
          <p:cNvPr id="35" name="Shape 37">
            <a:extLst>
              <a:ext uri="{FF2B5EF4-FFF2-40B4-BE49-F238E27FC236}">
                <a16:creationId xmlns:a16="http://schemas.microsoft.com/office/drawing/2014/main" id="{7A1A21E8-7C9E-6253-C0D5-C3456650929D}"/>
              </a:ext>
            </a:extLst>
          </p:cNvPr>
          <p:cNvSpPr/>
          <p:nvPr/>
        </p:nvSpPr>
        <p:spPr>
          <a:xfrm>
            <a:off x="6035040" y="1078992"/>
            <a:ext cx="2834640" cy="3749040"/>
          </a:xfrm>
          <a:prstGeom prst="rect">
            <a:avLst/>
          </a:prstGeom>
          <a:solidFill>
            <a:srgbClr val="E8F8F0"/>
          </a:solidFill>
          <a:ln w="19050">
            <a:solidFill>
              <a:srgbClr val="00B4A6"/>
            </a:solidFill>
            <a:prstDash val="solid"/>
          </a:ln>
          <a:effectLst>
            <a:outerShdw blurRad="101600" dist="25400" dir="8100000" algn="bl" rotWithShape="0">
              <a:srgbClr val="000000">
                <a:alpha val="9000"/>
              </a:srgbClr>
            </a:outerShdw>
          </a:effectLst>
        </p:spPr>
        <p:txBody>
          <a:bodyPr/>
          <a:lstStyle/>
          <a:p>
            <a:endParaRPr lang="LID4096"/>
          </a:p>
        </p:txBody>
      </p:sp>
      <p:sp>
        <p:nvSpPr>
          <p:cNvPr id="36" name="Shape 38">
            <a:extLst>
              <a:ext uri="{FF2B5EF4-FFF2-40B4-BE49-F238E27FC236}">
                <a16:creationId xmlns:a16="http://schemas.microsoft.com/office/drawing/2014/main" id="{45FB5014-5DB7-FAFC-7A74-6B0A65354055}"/>
              </a:ext>
            </a:extLst>
          </p:cNvPr>
          <p:cNvSpPr/>
          <p:nvPr/>
        </p:nvSpPr>
        <p:spPr>
          <a:xfrm>
            <a:off x="6035040" y="1078992"/>
            <a:ext cx="2834640" cy="384048"/>
          </a:xfrm>
          <a:prstGeom prst="rect">
            <a:avLst/>
          </a:prstGeom>
          <a:solidFill>
            <a:srgbClr val="007A68"/>
          </a:solidFill>
          <a:ln w="12700">
            <a:solidFill>
              <a:srgbClr val="007A68"/>
            </a:solidFill>
            <a:prstDash val="solid"/>
          </a:ln>
        </p:spPr>
        <p:txBody>
          <a:bodyPr/>
          <a:lstStyle/>
          <a:p>
            <a:endParaRPr lang="LID4096"/>
          </a:p>
        </p:txBody>
      </p:sp>
      <p:sp>
        <p:nvSpPr>
          <p:cNvPr id="37" name="Shape 39">
            <a:extLst>
              <a:ext uri="{FF2B5EF4-FFF2-40B4-BE49-F238E27FC236}">
                <a16:creationId xmlns:a16="http://schemas.microsoft.com/office/drawing/2014/main" id="{CA96DA6F-D3E5-880D-F700-5FBFF60640D7}"/>
              </a:ext>
            </a:extLst>
          </p:cNvPr>
          <p:cNvSpPr/>
          <p:nvPr/>
        </p:nvSpPr>
        <p:spPr>
          <a:xfrm>
            <a:off x="6035040" y="1353312"/>
            <a:ext cx="2834640" cy="109728"/>
          </a:xfrm>
          <a:prstGeom prst="rect">
            <a:avLst/>
          </a:prstGeom>
          <a:solidFill>
            <a:srgbClr val="007A68"/>
          </a:solidFill>
          <a:ln w="12700">
            <a:solidFill>
              <a:srgbClr val="007A68"/>
            </a:solidFill>
            <a:prstDash val="solid"/>
          </a:ln>
        </p:spPr>
        <p:txBody>
          <a:bodyPr/>
          <a:lstStyle/>
          <a:p>
            <a:endParaRPr lang="LID4096"/>
          </a:p>
        </p:txBody>
      </p:sp>
      <p:sp>
        <p:nvSpPr>
          <p:cNvPr id="38" name="Text 40">
            <a:extLst>
              <a:ext uri="{FF2B5EF4-FFF2-40B4-BE49-F238E27FC236}">
                <a16:creationId xmlns:a16="http://schemas.microsoft.com/office/drawing/2014/main" id="{1D32A625-BACA-BB4C-E2D4-D1B7C014424A}"/>
              </a:ext>
            </a:extLst>
          </p:cNvPr>
          <p:cNvSpPr/>
          <p:nvPr/>
        </p:nvSpPr>
        <p:spPr>
          <a:xfrm>
            <a:off x="6080760" y="1097280"/>
            <a:ext cx="274320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Palatino Linotype" pitchFamily="34" charset="0"/>
                <a:ea typeface="Palatino Linotype" pitchFamily="34" charset="-122"/>
                <a:cs typeface="Palatino Linotype" pitchFamily="34" charset="-120"/>
              </a:rPr>
              <a:t>Raspberry Pi</a:t>
            </a:r>
            <a:endParaRPr lang="en-US" sz="1300" dirty="0"/>
          </a:p>
        </p:txBody>
      </p:sp>
      <p:sp>
        <p:nvSpPr>
          <p:cNvPr id="39" name="Shape 41">
            <a:extLst>
              <a:ext uri="{FF2B5EF4-FFF2-40B4-BE49-F238E27FC236}">
                <a16:creationId xmlns:a16="http://schemas.microsoft.com/office/drawing/2014/main" id="{3F32EB20-4628-13CB-88C4-A7A2AE81CB85}"/>
              </a:ext>
            </a:extLst>
          </p:cNvPr>
          <p:cNvSpPr/>
          <p:nvPr/>
        </p:nvSpPr>
        <p:spPr>
          <a:xfrm>
            <a:off x="6199632" y="1572768"/>
            <a:ext cx="2505456" cy="530352"/>
          </a:xfrm>
          <a:prstGeom prst="rect">
            <a:avLst/>
          </a:prstGeom>
          <a:solidFill>
            <a:srgbClr val="B8E8D0"/>
          </a:solidFill>
          <a:ln w="10160">
            <a:solidFill>
              <a:srgbClr val="00B4A6"/>
            </a:solidFill>
            <a:prstDash val="solid"/>
          </a:ln>
        </p:spPr>
        <p:txBody>
          <a:bodyPr/>
          <a:lstStyle/>
          <a:p>
            <a:endParaRPr lang="LID4096"/>
          </a:p>
        </p:txBody>
      </p:sp>
      <p:sp>
        <p:nvSpPr>
          <p:cNvPr id="40" name="Text 42">
            <a:extLst>
              <a:ext uri="{FF2B5EF4-FFF2-40B4-BE49-F238E27FC236}">
                <a16:creationId xmlns:a16="http://schemas.microsoft.com/office/drawing/2014/main" id="{E6706A93-4F0E-743A-A2F5-6CDF8AD383D8}"/>
              </a:ext>
            </a:extLst>
          </p:cNvPr>
          <p:cNvSpPr/>
          <p:nvPr/>
        </p:nvSpPr>
        <p:spPr>
          <a:xfrm>
            <a:off x="6263640" y="1609344"/>
            <a:ext cx="2377440" cy="237744"/>
          </a:xfrm>
          <a:prstGeom prst="rect">
            <a:avLst/>
          </a:prstGeom>
          <a:noFill/>
          <a:ln/>
        </p:spPr>
        <p:txBody>
          <a:bodyPr wrap="square" lIns="0" tIns="0" rIns="0" bIns="0" rtlCol="0" anchor="ctr"/>
          <a:lstStyle/>
          <a:p>
            <a:pPr marL="0" indent="0">
              <a:buNone/>
            </a:pPr>
            <a:r>
              <a:rPr lang="en-US" sz="1050" b="1" dirty="0">
                <a:solidFill>
                  <a:srgbClr val="005A4A"/>
                </a:solidFill>
                <a:latin typeface="Palatino Linotype" pitchFamily="34" charset="0"/>
                <a:ea typeface="Palatino Linotype" pitchFamily="34" charset="-122"/>
                <a:cs typeface="Palatino Linotype" pitchFamily="34" charset="-120"/>
              </a:rPr>
              <a:t>Setup &amp; Preflight</a:t>
            </a:r>
            <a:endParaRPr lang="en-US" sz="1050" dirty="0"/>
          </a:p>
        </p:txBody>
      </p:sp>
      <p:sp>
        <p:nvSpPr>
          <p:cNvPr id="41" name="Text 43">
            <a:extLst>
              <a:ext uri="{FF2B5EF4-FFF2-40B4-BE49-F238E27FC236}">
                <a16:creationId xmlns:a16="http://schemas.microsoft.com/office/drawing/2014/main" id="{3ACF12BE-B39A-2F8B-0066-3DBDD858B096}"/>
              </a:ext>
            </a:extLst>
          </p:cNvPr>
          <p:cNvSpPr/>
          <p:nvPr/>
        </p:nvSpPr>
        <p:spPr>
          <a:xfrm>
            <a:off x="6263640" y="1847088"/>
            <a:ext cx="2377440" cy="201168"/>
          </a:xfrm>
          <a:prstGeom prst="rect">
            <a:avLst/>
          </a:prstGeom>
          <a:noFill/>
          <a:ln/>
        </p:spPr>
        <p:txBody>
          <a:bodyPr wrap="square" lIns="0" tIns="0" rIns="0" bIns="0" rtlCol="0" anchor="ctr"/>
          <a:lstStyle/>
          <a:p>
            <a:pPr marL="0" indent="0">
              <a:buNone/>
            </a:pPr>
            <a:r>
              <a:rPr lang="en-US" sz="1100" dirty="0">
                <a:solidFill>
                  <a:srgbClr val="64748B"/>
                </a:solidFill>
                <a:latin typeface="Garamond" pitchFamily="34" charset="0"/>
                <a:ea typeface="Garamond" pitchFamily="34" charset="-122"/>
                <a:cs typeface="Garamond" pitchFamily="34" charset="-120"/>
              </a:rPr>
              <a:t>pi_setup.sh + pi_preflight.py</a:t>
            </a:r>
            <a:endParaRPr lang="en-US" sz="1100" dirty="0"/>
          </a:p>
        </p:txBody>
      </p:sp>
      <p:sp>
        <p:nvSpPr>
          <p:cNvPr id="42" name="Shape 44">
            <a:extLst>
              <a:ext uri="{FF2B5EF4-FFF2-40B4-BE49-F238E27FC236}">
                <a16:creationId xmlns:a16="http://schemas.microsoft.com/office/drawing/2014/main" id="{D902393D-7888-8185-44FE-48CD597EDD75}"/>
              </a:ext>
            </a:extLst>
          </p:cNvPr>
          <p:cNvSpPr/>
          <p:nvPr/>
        </p:nvSpPr>
        <p:spPr>
          <a:xfrm>
            <a:off x="6199632" y="2185416"/>
            <a:ext cx="2505456" cy="530352"/>
          </a:xfrm>
          <a:prstGeom prst="rect">
            <a:avLst/>
          </a:prstGeom>
          <a:solidFill>
            <a:srgbClr val="B8E8D0"/>
          </a:solidFill>
          <a:ln w="10160">
            <a:solidFill>
              <a:srgbClr val="00B4A6"/>
            </a:solidFill>
            <a:prstDash val="solid"/>
          </a:ln>
        </p:spPr>
        <p:txBody>
          <a:bodyPr/>
          <a:lstStyle/>
          <a:p>
            <a:endParaRPr lang="LID4096"/>
          </a:p>
        </p:txBody>
      </p:sp>
      <p:sp>
        <p:nvSpPr>
          <p:cNvPr id="43" name="Text 45">
            <a:extLst>
              <a:ext uri="{FF2B5EF4-FFF2-40B4-BE49-F238E27FC236}">
                <a16:creationId xmlns:a16="http://schemas.microsoft.com/office/drawing/2014/main" id="{72904265-CC8B-9666-4CCB-35A72DD99A0B}"/>
              </a:ext>
            </a:extLst>
          </p:cNvPr>
          <p:cNvSpPr/>
          <p:nvPr/>
        </p:nvSpPr>
        <p:spPr>
          <a:xfrm>
            <a:off x="6263640" y="2221992"/>
            <a:ext cx="2377440" cy="237744"/>
          </a:xfrm>
          <a:prstGeom prst="rect">
            <a:avLst/>
          </a:prstGeom>
          <a:noFill/>
          <a:ln/>
        </p:spPr>
        <p:txBody>
          <a:bodyPr wrap="square" lIns="0" tIns="0" rIns="0" bIns="0" rtlCol="0" anchor="ctr"/>
          <a:lstStyle/>
          <a:p>
            <a:pPr marL="0" indent="0">
              <a:buNone/>
            </a:pPr>
            <a:r>
              <a:rPr lang="en-US" sz="1050" b="1" dirty="0">
                <a:solidFill>
                  <a:srgbClr val="005A4A"/>
                </a:solidFill>
                <a:latin typeface="Palatino Linotype" pitchFamily="34" charset="0"/>
                <a:ea typeface="Palatino Linotype" pitchFamily="34" charset="-122"/>
                <a:cs typeface="Palatino Linotype" pitchFamily="34" charset="-120"/>
              </a:rPr>
              <a:t>Receive Artifacts</a:t>
            </a:r>
            <a:endParaRPr lang="en-US" sz="1050" dirty="0"/>
          </a:p>
        </p:txBody>
      </p:sp>
      <p:sp>
        <p:nvSpPr>
          <p:cNvPr id="44" name="Text 46">
            <a:extLst>
              <a:ext uri="{FF2B5EF4-FFF2-40B4-BE49-F238E27FC236}">
                <a16:creationId xmlns:a16="http://schemas.microsoft.com/office/drawing/2014/main" id="{1029AE0D-7ADC-8386-6FFF-83D5DFFF3942}"/>
              </a:ext>
            </a:extLst>
          </p:cNvPr>
          <p:cNvSpPr/>
          <p:nvPr/>
        </p:nvSpPr>
        <p:spPr>
          <a:xfrm>
            <a:off x="6263640" y="2459736"/>
            <a:ext cx="2377440" cy="201168"/>
          </a:xfrm>
          <a:prstGeom prst="rect">
            <a:avLst/>
          </a:prstGeom>
          <a:noFill/>
          <a:ln/>
        </p:spPr>
        <p:txBody>
          <a:bodyPr wrap="square" lIns="0" tIns="0" rIns="0" bIns="0" rtlCol="0" anchor="ctr"/>
          <a:lstStyle/>
          <a:p>
            <a:pPr marL="0" indent="0">
              <a:buNone/>
            </a:pPr>
            <a:r>
              <a:rPr lang="en-US" sz="1100" dirty="0">
                <a:solidFill>
                  <a:srgbClr val="64748B"/>
                </a:solidFill>
                <a:latin typeface="Garamond" pitchFamily="34" charset="0"/>
                <a:ea typeface="Garamond" pitchFamily="34" charset="-122"/>
                <a:cs typeface="Garamond" pitchFamily="34" charset="-120"/>
              </a:rPr>
              <a:t>thresholds.json · *.pkl · *.pt · metadata.json</a:t>
            </a:r>
            <a:endParaRPr lang="en-US" sz="1100" dirty="0"/>
          </a:p>
        </p:txBody>
      </p:sp>
      <p:sp>
        <p:nvSpPr>
          <p:cNvPr id="45" name="Shape 47">
            <a:extLst>
              <a:ext uri="{FF2B5EF4-FFF2-40B4-BE49-F238E27FC236}">
                <a16:creationId xmlns:a16="http://schemas.microsoft.com/office/drawing/2014/main" id="{6FA986D9-D326-E756-4F68-EEF8F334235D}"/>
              </a:ext>
            </a:extLst>
          </p:cNvPr>
          <p:cNvSpPr/>
          <p:nvPr/>
        </p:nvSpPr>
        <p:spPr>
          <a:xfrm>
            <a:off x="6199632" y="2798064"/>
            <a:ext cx="2505456" cy="530352"/>
          </a:xfrm>
          <a:prstGeom prst="rect">
            <a:avLst/>
          </a:prstGeom>
          <a:solidFill>
            <a:srgbClr val="B8E8D0"/>
          </a:solidFill>
          <a:ln w="10160">
            <a:solidFill>
              <a:srgbClr val="00B4A6"/>
            </a:solidFill>
            <a:prstDash val="solid"/>
          </a:ln>
        </p:spPr>
        <p:txBody>
          <a:bodyPr/>
          <a:lstStyle/>
          <a:p>
            <a:endParaRPr lang="LID4096"/>
          </a:p>
        </p:txBody>
      </p:sp>
      <p:sp>
        <p:nvSpPr>
          <p:cNvPr id="46" name="Text 48">
            <a:extLst>
              <a:ext uri="{FF2B5EF4-FFF2-40B4-BE49-F238E27FC236}">
                <a16:creationId xmlns:a16="http://schemas.microsoft.com/office/drawing/2014/main" id="{53240B3E-27A2-5E75-6758-82C66F8CA48A}"/>
              </a:ext>
            </a:extLst>
          </p:cNvPr>
          <p:cNvSpPr/>
          <p:nvPr/>
        </p:nvSpPr>
        <p:spPr>
          <a:xfrm>
            <a:off x="6263640" y="2834640"/>
            <a:ext cx="2377440" cy="237744"/>
          </a:xfrm>
          <a:prstGeom prst="rect">
            <a:avLst/>
          </a:prstGeom>
          <a:noFill/>
          <a:ln/>
        </p:spPr>
        <p:txBody>
          <a:bodyPr wrap="square" lIns="0" tIns="0" rIns="0" bIns="0" rtlCol="0" anchor="ctr"/>
          <a:lstStyle/>
          <a:p>
            <a:pPr marL="0" indent="0">
              <a:buNone/>
            </a:pPr>
            <a:r>
              <a:rPr lang="en-US" sz="1050" b="1" dirty="0">
                <a:solidFill>
                  <a:srgbClr val="005A4A"/>
                </a:solidFill>
                <a:latin typeface="Palatino Linotype" pitchFamily="34" charset="0"/>
                <a:ea typeface="Palatino Linotype" pitchFamily="34" charset="-122"/>
                <a:cs typeface="Palatino Linotype" pitchFamily="34" charset="-120"/>
              </a:rPr>
              <a:t>Streaming Inference</a:t>
            </a:r>
            <a:endParaRPr lang="en-US" sz="1050" dirty="0"/>
          </a:p>
        </p:txBody>
      </p:sp>
      <p:sp>
        <p:nvSpPr>
          <p:cNvPr id="47" name="Text 49">
            <a:extLst>
              <a:ext uri="{FF2B5EF4-FFF2-40B4-BE49-F238E27FC236}">
                <a16:creationId xmlns:a16="http://schemas.microsoft.com/office/drawing/2014/main" id="{715E4BBA-0278-8C32-B5BC-29CFE2D80107}"/>
              </a:ext>
            </a:extLst>
          </p:cNvPr>
          <p:cNvSpPr/>
          <p:nvPr/>
        </p:nvSpPr>
        <p:spPr>
          <a:xfrm>
            <a:off x="6263640" y="3072384"/>
            <a:ext cx="2377440" cy="201168"/>
          </a:xfrm>
          <a:prstGeom prst="rect">
            <a:avLst/>
          </a:prstGeom>
          <a:noFill/>
          <a:ln/>
        </p:spPr>
        <p:txBody>
          <a:bodyPr wrap="square" lIns="0" tIns="0" rIns="0" bIns="0" rtlCol="0" anchor="ctr"/>
          <a:lstStyle/>
          <a:p>
            <a:pPr marL="0" indent="0">
              <a:buNone/>
            </a:pPr>
            <a:r>
              <a:rPr lang="en-US" sz="1100" dirty="0">
                <a:solidFill>
                  <a:srgbClr val="64748B"/>
                </a:solidFill>
                <a:latin typeface="Garamond" pitchFamily="34" charset="0"/>
                <a:ea typeface="Garamond" pitchFamily="34" charset="-122"/>
                <a:cs typeface="Garamond" pitchFamily="34" charset="-120"/>
              </a:rPr>
              <a:t>infer_stream_pi.py --source api</a:t>
            </a:r>
            <a:endParaRPr lang="en-US" sz="1100" dirty="0"/>
          </a:p>
        </p:txBody>
      </p:sp>
      <p:sp>
        <p:nvSpPr>
          <p:cNvPr id="48" name="Shape 50">
            <a:extLst>
              <a:ext uri="{FF2B5EF4-FFF2-40B4-BE49-F238E27FC236}">
                <a16:creationId xmlns:a16="http://schemas.microsoft.com/office/drawing/2014/main" id="{9F15D1B2-9E49-61C6-7282-C1B54D309780}"/>
              </a:ext>
            </a:extLst>
          </p:cNvPr>
          <p:cNvSpPr/>
          <p:nvPr/>
        </p:nvSpPr>
        <p:spPr>
          <a:xfrm>
            <a:off x="6199632" y="3410712"/>
            <a:ext cx="2505456" cy="530352"/>
          </a:xfrm>
          <a:prstGeom prst="rect">
            <a:avLst/>
          </a:prstGeom>
          <a:solidFill>
            <a:srgbClr val="B8E8D0"/>
          </a:solidFill>
          <a:ln w="10160">
            <a:solidFill>
              <a:srgbClr val="00B4A6"/>
            </a:solidFill>
            <a:prstDash val="solid"/>
          </a:ln>
        </p:spPr>
        <p:txBody>
          <a:bodyPr/>
          <a:lstStyle/>
          <a:p>
            <a:endParaRPr lang="LID4096"/>
          </a:p>
        </p:txBody>
      </p:sp>
      <p:sp>
        <p:nvSpPr>
          <p:cNvPr id="49" name="Text 51">
            <a:extLst>
              <a:ext uri="{FF2B5EF4-FFF2-40B4-BE49-F238E27FC236}">
                <a16:creationId xmlns:a16="http://schemas.microsoft.com/office/drawing/2014/main" id="{E9789A13-DFC6-AFA2-ED46-991D05612E1C}"/>
              </a:ext>
            </a:extLst>
          </p:cNvPr>
          <p:cNvSpPr/>
          <p:nvPr/>
        </p:nvSpPr>
        <p:spPr>
          <a:xfrm>
            <a:off x="6263640" y="3447288"/>
            <a:ext cx="2377440" cy="237744"/>
          </a:xfrm>
          <a:prstGeom prst="rect">
            <a:avLst/>
          </a:prstGeom>
          <a:noFill/>
          <a:ln/>
        </p:spPr>
        <p:txBody>
          <a:bodyPr wrap="square" lIns="0" tIns="0" rIns="0" bIns="0" rtlCol="0" anchor="ctr"/>
          <a:lstStyle/>
          <a:p>
            <a:pPr marL="0" indent="0">
              <a:buNone/>
            </a:pPr>
            <a:r>
              <a:rPr lang="en-US" sz="1050" b="1" dirty="0">
                <a:solidFill>
                  <a:srgbClr val="005A4A"/>
                </a:solidFill>
                <a:latin typeface="Palatino Linotype" pitchFamily="34" charset="0"/>
                <a:ea typeface="Palatino Linotype" pitchFamily="34" charset="-122"/>
                <a:cs typeface="Palatino Linotype" pitchFamily="34" charset="-120"/>
              </a:rPr>
              <a:t>Feature Rebuild</a:t>
            </a:r>
            <a:endParaRPr lang="en-US" sz="1050" dirty="0"/>
          </a:p>
        </p:txBody>
      </p:sp>
      <p:sp>
        <p:nvSpPr>
          <p:cNvPr id="50" name="Text 52">
            <a:extLst>
              <a:ext uri="{FF2B5EF4-FFF2-40B4-BE49-F238E27FC236}">
                <a16:creationId xmlns:a16="http://schemas.microsoft.com/office/drawing/2014/main" id="{FD116CB5-F061-DE7E-B4E4-C1C6E1C385F7}"/>
              </a:ext>
            </a:extLst>
          </p:cNvPr>
          <p:cNvSpPr/>
          <p:nvPr/>
        </p:nvSpPr>
        <p:spPr>
          <a:xfrm>
            <a:off x="6263640" y="3685032"/>
            <a:ext cx="2377440" cy="201168"/>
          </a:xfrm>
          <a:prstGeom prst="rect">
            <a:avLst/>
          </a:prstGeom>
          <a:noFill/>
          <a:ln/>
        </p:spPr>
        <p:txBody>
          <a:bodyPr wrap="square" lIns="0" tIns="0" rIns="0" bIns="0" rtlCol="0" anchor="ctr"/>
          <a:lstStyle/>
          <a:p>
            <a:pPr marL="0" indent="0">
              <a:buNone/>
            </a:pPr>
            <a:r>
              <a:rPr lang="en-US" sz="1100" dirty="0">
                <a:solidFill>
                  <a:srgbClr val="64748B"/>
                </a:solidFill>
                <a:latin typeface="Garamond" pitchFamily="34" charset="0"/>
                <a:ea typeface="Garamond" pitchFamily="34" charset="-122"/>
                <a:cs typeface="Garamond" pitchFamily="34" charset="-120"/>
              </a:rPr>
              <a:t>Schema from metadata.json (offline-consistent)</a:t>
            </a:r>
            <a:endParaRPr lang="en-US" sz="1100" dirty="0"/>
          </a:p>
        </p:txBody>
      </p:sp>
      <p:sp>
        <p:nvSpPr>
          <p:cNvPr id="51" name="Shape 53">
            <a:extLst>
              <a:ext uri="{FF2B5EF4-FFF2-40B4-BE49-F238E27FC236}">
                <a16:creationId xmlns:a16="http://schemas.microsoft.com/office/drawing/2014/main" id="{6F39098C-F7C8-570A-4D3E-F5FFA1B014B7}"/>
              </a:ext>
            </a:extLst>
          </p:cNvPr>
          <p:cNvSpPr/>
          <p:nvPr/>
        </p:nvSpPr>
        <p:spPr>
          <a:xfrm>
            <a:off x="6199632" y="4023360"/>
            <a:ext cx="2505456" cy="530352"/>
          </a:xfrm>
          <a:prstGeom prst="rect">
            <a:avLst/>
          </a:prstGeom>
          <a:solidFill>
            <a:srgbClr val="B8E8D0"/>
          </a:solidFill>
          <a:ln w="10160">
            <a:solidFill>
              <a:srgbClr val="00B4A6"/>
            </a:solidFill>
            <a:prstDash val="solid"/>
          </a:ln>
        </p:spPr>
        <p:txBody>
          <a:bodyPr/>
          <a:lstStyle/>
          <a:p>
            <a:endParaRPr lang="LID4096"/>
          </a:p>
        </p:txBody>
      </p:sp>
      <p:sp>
        <p:nvSpPr>
          <p:cNvPr id="52" name="Text 54">
            <a:extLst>
              <a:ext uri="{FF2B5EF4-FFF2-40B4-BE49-F238E27FC236}">
                <a16:creationId xmlns:a16="http://schemas.microsoft.com/office/drawing/2014/main" id="{BD4BD00F-D275-A09E-D79E-5E8304213237}"/>
              </a:ext>
            </a:extLst>
          </p:cNvPr>
          <p:cNvSpPr/>
          <p:nvPr/>
        </p:nvSpPr>
        <p:spPr>
          <a:xfrm>
            <a:off x="6263640" y="4059936"/>
            <a:ext cx="2377440" cy="237744"/>
          </a:xfrm>
          <a:prstGeom prst="rect">
            <a:avLst/>
          </a:prstGeom>
          <a:noFill/>
          <a:ln/>
        </p:spPr>
        <p:txBody>
          <a:bodyPr wrap="square" lIns="0" tIns="0" rIns="0" bIns="0" rtlCol="0" anchor="ctr"/>
          <a:lstStyle/>
          <a:p>
            <a:pPr marL="0" indent="0">
              <a:buNone/>
            </a:pPr>
            <a:r>
              <a:rPr lang="en-US" sz="1050" b="1" dirty="0">
                <a:solidFill>
                  <a:srgbClr val="005A4A"/>
                </a:solidFill>
                <a:latin typeface="Palatino Linotype" pitchFamily="34" charset="0"/>
                <a:ea typeface="Palatino Linotype" pitchFamily="34" charset="-122"/>
                <a:cs typeface="Palatino Linotype" pitchFamily="34" charset="-120"/>
              </a:rPr>
              <a:t>Alert Logging</a:t>
            </a:r>
            <a:endParaRPr lang="en-US" sz="1050" dirty="0"/>
          </a:p>
        </p:txBody>
      </p:sp>
      <p:sp>
        <p:nvSpPr>
          <p:cNvPr id="53" name="Text 55">
            <a:extLst>
              <a:ext uri="{FF2B5EF4-FFF2-40B4-BE49-F238E27FC236}">
                <a16:creationId xmlns:a16="http://schemas.microsoft.com/office/drawing/2014/main" id="{20C9B6F2-91DC-F6EF-B6B1-346ED3D33813}"/>
              </a:ext>
            </a:extLst>
          </p:cNvPr>
          <p:cNvSpPr/>
          <p:nvPr/>
        </p:nvSpPr>
        <p:spPr>
          <a:xfrm>
            <a:off x="6263640" y="4297680"/>
            <a:ext cx="2377440" cy="201168"/>
          </a:xfrm>
          <a:prstGeom prst="rect">
            <a:avLst/>
          </a:prstGeom>
          <a:noFill/>
          <a:ln/>
        </p:spPr>
        <p:txBody>
          <a:bodyPr wrap="square" lIns="0" tIns="0" rIns="0" bIns="0" rtlCol="0" anchor="ctr"/>
          <a:lstStyle/>
          <a:p>
            <a:pPr marL="0" indent="0">
              <a:buNone/>
            </a:pPr>
            <a:r>
              <a:rPr lang="en-US" sz="1100" dirty="0">
                <a:solidFill>
                  <a:srgbClr val="64748B"/>
                </a:solidFill>
                <a:latin typeface="Garamond" pitchFamily="34" charset="0"/>
                <a:ea typeface="Garamond" pitchFamily="34" charset="-122"/>
                <a:cs typeface="Garamond" pitchFamily="34" charset="-120"/>
              </a:rPr>
              <a:t>logs/*.csv  (with --tui live dashboard)</a:t>
            </a:r>
            <a:endParaRPr lang="en-US" sz="1100" dirty="0"/>
          </a:p>
        </p:txBody>
      </p:sp>
      <p:sp>
        <p:nvSpPr>
          <p:cNvPr id="54" name="Text 56">
            <a:extLst>
              <a:ext uri="{FF2B5EF4-FFF2-40B4-BE49-F238E27FC236}">
                <a16:creationId xmlns:a16="http://schemas.microsoft.com/office/drawing/2014/main" id="{6C5A4114-5A67-EDD7-0ED1-52006190F1C5}"/>
              </a:ext>
            </a:extLst>
          </p:cNvPr>
          <p:cNvSpPr/>
          <p:nvPr/>
        </p:nvSpPr>
        <p:spPr>
          <a:xfrm>
            <a:off x="2286000" y="4864608"/>
            <a:ext cx="4572000" cy="201168"/>
          </a:xfrm>
          <a:prstGeom prst="rect">
            <a:avLst/>
          </a:prstGeom>
          <a:noFill/>
          <a:ln/>
        </p:spPr>
        <p:txBody>
          <a:bodyPr wrap="square" rtlCol="0" anchor="ctr"/>
          <a:lstStyle/>
          <a:p>
            <a:pPr marL="0" indent="0" algn="ctr">
              <a:buNone/>
            </a:pPr>
            <a:r>
              <a:rPr lang="en-US" sz="1000" dirty="0">
                <a:solidFill>
                  <a:srgbClr val="F4844C"/>
                </a:solidFill>
                <a:latin typeface="Garamond" pitchFamily="34" charset="0"/>
                <a:ea typeface="Garamond" pitchFamily="34" charset="-122"/>
                <a:cs typeface="Garamond" pitchFamily="34" charset="-120"/>
              </a:rPr>
              <a:t>Artifact transfer  (scp / rsync)</a:t>
            </a:r>
            <a:endParaRPr lang="en-US" sz="1000" dirty="0"/>
          </a:p>
        </p:txBody>
      </p:sp>
      <p:sp>
        <p:nvSpPr>
          <p:cNvPr id="55" name="Shape 57">
            <a:extLst>
              <a:ext uri="{FF2B5EF4-FFF2-40B4-BE49-F238E27FC236}">
                <a16:creationId xmlns:a16="http://schemas.microsoft.com/office/drawing/2014/main" id="{B93F5997-D0A5-09BF-D688-0D31B5D6CAF7}"/>
              </a:ext>
            </a:extLst>
          </p:cNvPr>
          <p:cNvSpPr/>
          <p:nvPr/>
        </p:nvSpPr>
        <p:spPr>
          <a:xfrm>
            <a:off x="1691640" y="4818888"/>
            <a:ext cx="5760720" cy="27432"/>
          </a:xfrm>
          <a:prstGeom prst="rect">
            <a:avLst/>
          </a:prstGeom>
          <a:solidFill>
            <a:srgbClr val="F4844C"/>
          </a:solidFill>
          <a:ln w="12700">
            <a:solidFill>
              <a:srgbClr val="F4844C"/>
            </a:solidFill>
            <a:prstDash val="solid"/>
          </a:ln>
        </p:spPr>
        <p:txBody>
          <a:bodyPr/>
          <a:lstStyle/>
          <a:p>
            <a:endParaRPr lang="LID4096"/>
          </a:p>
        </p:txBody>
      </p:sp>
      <p:sp>
        <p:nvSpPr>
          <p:cNvPr id="56" name="Text 58">
            <a:extLst>
              <a:ext uri="{FF2B5EF4-FFF2-40B4-BE49-F238E27FC236}">
                <a16:creationId xmlns:a16="http://schemas.microsoft.com/office/drawing/2014/main" id="{6C8BB143-A4FD-877C-EFA8-CA45F89A8372}"/>
              </a:ext>
            </a:extLst>
          </p:cNvPr>
          <p:cNvSpPr/>
          <p:nvPr/>
        </p:nvSpPr>
        <p:spPr>
          <a:xfrm>
            <a:off x="7388352" y="4736592"/>
            <a:ext cx="182880" cy="182880"/>
          </a:xfrm>
          <a:prstGeom prst="rect">
            <a:avLst/>
          </a:prstGeom>
          <a:noFill/>
          <a:ln/>
        </p:spPr>
        <p:txBody>
          <a:bodyPr wrap="square" rtlCol="0" anchor="ctr"/>
          <a:lstStyle/>
          <a:p>
            <a:pPr marL="0" indent="0" algn="ctr">
              <a:buNone/>
            </a:pPr>
            <a:r>
              <a:rPr lang="en-US" sz="1000" dirty="0">
                <a:solidFill>
                  <a:srgbClr val="F4844C"/>
                </a:solidFill>
              </a:rPr>
              <a:t>▶</a:t>
            </a:r>
            <a:endParaRPr lang="en-US" sz="1000" dirty="0"/>
          </a:p>
        </p:txBody>
      </p:sp>
    </p:spTree>
    <p:extLst>
      <p:ext uri="{BB962C8B-B14F-4D97-AF65-F5344CB8AC3E}">
        <p14:creationId xmlns:p14="http://schemas.microsoft.com/office/powerpoint/2010/main" val="31170649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28600"/>
            <a:ext cx="64008" cy="530352"/>
          </a:xfrm>
          <a:prstGeom prst="rect">
            <a:avLst/>
          </a:prstGeom>
          <a:solidFill>
            <a:srgbClr val="29ABE2"/>
          </a:solidFill>
          <a:ln w="12700">
            <a:solidFill>
              <a:srgbClr val="29ABE2"/>
            </a:solidFill>
            <a:prstDash val="solid"/>
          </a:ln>
        </p:spPr>
        <p:txBody>
          <a:bodyPr/>
          <a:lstStyle/>
          <a:p>
            <a:endParaRPr lang="LID4096"/>
          </a:p>
        </p:txBody>
      </p:sp>
      <p:sp>
        <p:nvSpPr>
          <p:cNvPr id="3" name="Text 1"/>
          <p:cNvSpPr/>
          <p:nvPr/>
        </p:nvSpPr>
        <p:spPr>
          <a:xfrm>
            <a:off x="566928" y="173736"/>
            <a:ext cx="8321040" cy="548640"/>
          </a:xfrm>
          <a:prstGeom prst="rect">
            <a:avLst/>
          </a:prstGeom>
          <a:noFill/>
          <a:ln/>
        </p:spPr>
        <p:txBody>
          <a:bodyPr wrap="square" lIns="0" tIns="0" rIns="0" bIns="0" rtlCol="0" anchor="ctr"/>
          <a:lstStyle/>
          <a:p>
            <a:pPr marL="0" indent="0">
              <a:buNone/>
            </a:pPr>
            <a:r>
              <a:rPr lang="en-US" sz="2600" b="1" dirty="0">
                <a:solidFill>
                  <a:srgbClr val="0A2342"/>
                </a:solidFill>
                <a:latin typeface="Palatino Linotype" pitchFamily="34" charset="0"/>
                <a:ea typeface="Palatino Linotype" pitchFamily="34" charset="-122"/>
                <a:cs typeface="Palatino Linotype" pitchFamily="34" charset="-120"/>
              </a:rPr>
              <a:t>Streaming Inference Loop on the Pi</a:t>
            </a:r>
            <a:endParaRPr lang="en-US" sz="2600" dirty="0"/>
          </a:p>
        </p:txBody>
      </p:sp>
      <p:sp>
        <p:nvSpPr>
          <p:cNvPr id="4" name="Text 2"/>
          <p:cNvSpPr/>
          <p:nvPr/>
        </p:nvSpPr>
        <p:spPr>
          <a:xfrm>
            <a:off x="566928" y="731520"/>
            <a:ext cx="8046720" cy="274320"/>
          </a:xfrm>
          <a:prstGeom prst="rect">
            <a:avLst/>
          </a:prstGeom>
          <a:noFill/>
          <a:ln/>
        </p:spPr>
        <p:txBody>
          <a:bodyPr wrap="square" lIns="0" tIns="0" rIns="0" bIns="0" rtlCol="0" anchor="ctr"/>
          <a:lstStyle/>
          <a:p>
            <a:pPr marL="0" indent="0">
              <a:buNone/>
            </a:pPr>
            <a:r>
              <a:rPr lang="en-US" sz="1250" i="1" dirty="0">
                <a:solidFill>
                  <a:srgbClr val="64748B"/>
                </a:solidFill>
                <a:latin typeface="Garamond" pitchFamily="34" charset="0"/>
                <a:ea typeface="Garamond" pitchFamily="34" charset="-122"/>
                <a:cs typeface="Garamond" pitchFamily="34" charset="-120"/>
              </a:rPr>
              <a:t>Per-row loop — O(1) RingBuffer push · NumPy feature vector · minimal Pi overhead</a:t>
            </a:r>
            <a:endParaRPr lang="en-US" sz="1250" dirty="0"/>
          </a:p>
        </p:txBody>
      </p:sp>
      <p:sp>
        <p:nvSpPr>
          <p:cNvPr id="5" name="Shape 3"/>
          <p:cNvSpPr/>
          <p:nvPr/>
        </p:nvSpPr>
        <p:spPr>
          <a:xfrm>
            <a:off x="886968" y="1389888"/>
            <a:ext cx="1005840" cy="36576"/>
          </a:xfrm>
          <a:prstGeom prst="rect">
            <a:avLst/>
          </a:prstGeom>
          <a:solidFill>
            <a:srgbClr val="CBD5E0"/>
          </a:solidFill>
          <a:ln w="12700">
            <a:solidFill>
              <a:srgbClr val="CBD5E0"/>
            </a:solidFill>
            <a:prstDash val="solid"/>
          </a:ln>
        </p:spPr>
        <p:txBody>
          <a:bodyPr/>
          <a:lstStyle/>
          <a:p>
            <a:endParaRPr lang="LID4096"/>
          </a:p>
        </p:txBody>
      </p:sp>
      <p:sp>
        <p:nvSpPr>
          <p:cNvPr id="6" name="Shape 4"/>
          <p:cNvSpPr/>
          <p:nvPr/>
        </p:nvSpPr>
        <p:spPr>
          <a:xfrm>
            <a:off x="2276856" y="1389888"/>
            <a:ext cx="1005840" cy="36576"/>
          </a:xfrm>
          <a:prstGeom prst="rect">
            <a:avLst/>
          </a:prstGeom>
          <a:solidFill>
            <a:srgbClr val="CBD5E0"/>
          </a:solidFill>
          <a:ln w="12700">
            <a:solidFill>
              <a:srgbClr val="CBD5E0"/>
            </a:solidFill>
            <a:prstDash val="solid"/>
          </a:ln>
        </p:spPr>
        <p:txBody>
          <a:bodyPr/>
          <a:lstStyle/>
          <a:p>
            <a:endParaRPr lang="LID4096"/>
          </a:p>
        </p:txBody>
      </p:sp>
      <p:sp>
        <p:nvSpPr>
          <p:cNvPr id="7" name="Shape 5"/>
          <p:cNvSpPr/>
          <p:nvPr/>
        </p:nvSpPr>
        <p:spPr>
          <a:xfrm>
            <a:off x="3666744" y="1389888"/>
            <a:ext cx="1005840" cy="36576"/>
          </a:xfrm>
          <a:prstGeom prst="rect">
            <a:avLst/>
          </a:prstGeom>
          <a:solidFill>
            <a:srgbClr val="CBD5E0"/>
          </a:solidFill>
          <a:ln w="12700">
            <a:solidFill>
              <a:srgbClr val="CBD5E0"/>
            </a:solidFill>
            <a:prstDash val="solid"/>
          </a:ln>
        </p:spPr>
        <p:txBody>
          <a:bodyPr/>
          <a:lstStyle/>
          <a:p>
            <a:endParaRPr lang="LID4096"/>
          </a:p>
        </p:txBody>
      </p:sp>
      <p:sp>
        <p:nvSpPr>
          <p:cNvPr id="8" name="Shape 6"/>
          <p:cNvSpPr/>
          <p:nvPr/>
        </p:nvSpPr>
        <p:spPr>
          <a:xfrm>
            <a:off x="5056632" y="1389888"/>
            <a:ext cx="1005840" cy="36576"/>
          </a:xfrm>
          <a:prstGeom prst="rect">
            <a:avLst/>
          </a:prstGeom>
          <a:solidFill>
            <a:srgbClr val="CBD5E0"/>
          </a:solidFill>
          <a:ln w="12700">
            <a:solidFill>
              <a:srgbClr val="CBD5E0"/>
            </a:solidFill>
            <a:prstDash val="solid"/>
          </a:ln>
        </p:spPr>
        <p:txBody>
          <a:bodyPr/>
          <a:lstStyle/>
          <a:p>
            <a:endParaRPr lang="LID4096"/>
          </a:p>
        </p:txBody>
      </p:sp>
      <p:sp>
        <p:nvSpPr>
          <p:cNvPr id="9" name="Shape 7"/>
          <p:cNvSpPr/>
          <p:nvPr/>
        </p:nvSpPr>
        <p:spPr>
          <a:xfrm>
            <a:off x="6446520" y="1389888"/>
            <a:ext cx="1005840" cy="36576"/>
          </a:xfrm>
          <a:prstGeom prst="rect">
            <a:avLst/>
          </a:prstGeom>
          <a:solidFill>
            <a:srgbClr val="CBD5E0"/>
          </a:solidFill>
          <a:ln w="12700">
            <a:solidFill>
              <a:srgbClr val="CBD5E0"/>
            </a:solidFill>
            <a:prstDash val="solid"/>
          </a:ln>
        </p:spPr>
        <p:txBody>
          <a:bodyPr/>
          <a:lstStyle/>
          <a:p>
            <a:endParaRPr lang="LID4096"/>
          </a:p>
        </p:txBody>
      </p:sp>
      <p:sp>
        <p:nvSpPr>
          <p:cNvPr id="10" name="Shape 8"/>
          <p:cNvSpPr/>
          <p:nvPr/>
        </p:nvSpPr>
        <p:spPr>
          <a:xfrm>
            <a:off x="502920" y="1188720"/>
            <a:ext cx="768096" cy="768096"/>
          </a:xfrm>
          <a:prstGeom prst="ellipse">
            <a:avLst/>
          </a:prstGeom>
          <a:solidFill>
            <a:srgbClr val="29ABE2"/>
          </a:solidFill>
          <a:ln w="12700">
            <a:solidFill>
              <a:srgbClr val="29ABE2"/>
            </a:solidFill>
            <a:prstDash val="solid"/>
          </a:ln>
          <a:effectLst>
            <a:outerShdw blurRad="101600" dist="25400" dir="8100000" algn="bl" rotWithShape="0">
              <a:srgbClr val="000000">
                <a:alpha val="9000"/>
              </a:srgbClr>
            </a:outerShdw>
          </a:effectLst>
        </p:spPr>
        <p:txBody>
          <a:bodyPr/>
          <a:lstStyle/>
          <a:p>
            <a:endParaRPr lang="LID4096"/>
          </a:p>
        </p:txBody>
      </p:sp>
      <p:sp>
        <p:nvSpPr>
          <p:cNvPr id="11" name="Text 9"/>
          <p:cNvSpPr/>
          <p:nvPr/>
        </p:nvSpPr>
        <p:spPr>
          <a:xfrm>
            <a:off x="502920" y="1197864"/>
            <a:ext cx="768096" cy="749808"/>
          </a:xfrm>
          <a:prstGeom prst="rect">
            <a:avLst/>
          </a:prstGeom>
          <a:noFill/>
          <a:ln/>
        </p:spPr>
        <p:txBody>
          <a:bodyPr wrap="square" lIns="0" tIns="0" rIns="0" bIns="0" rtlCol="0" anchor="ctr"/>
          <a:lstStyle/>
          <a:p>
            <a:pPr marL="0" indent="0" algn="ctr">
              <a:buNone/>
            </a:pPr>
            <a:r>
              <a:rPr lang="en-US" sz="2400" b="1" dirty="0">
                <a:solidFill>
                  <a:srgbClr val="FFFFFF"/>
                </a:solidFill>
                <a:latin typeface="Palatino Linotype" pitchFamily="34" charset="0"/>
                <a:ea typeface="Palatino Linotype" pitchFamily="34" charset="-122"/>
                <a:cs typeface="Palatino Linotype" pitchFamily="34" charset="-120"/>
              </a:rPr>
              <a:t>1</a:t>
            </a:r>
            <a:endParaRPr lang="en-US" sz="2400" dirty="0"/>
          </a:p>
        </p:txBody>
      </p:sp>
      <p:sp>
        <p:nvSpPr>
          <p:cNvPr id="12" name="Shape 10"/>
          <p:cNvSpPr/>
          <p:nvPr/>
        </p:nvSpPr>
        <p:spPr>
          <a:xfrm>
            <a:off x="301752" y="2121408"/>
            <a:ext cx="1170432" cy="2468880"/>
          </a:xfrm>
          <a:prstGeom prst="rect">
            <a:avLst/>
          </a:prstGeom>
          <a:solidFill>
            <a:srgbClr val="EEF4FB"/>
          </a:solidFill>
          <a:ln w="19050">
            <a:solidFill>
              <a:srgbClr val="29ABE2"/>
            </a:solidFill>
            <a:prstDash val="solid"/>
          </a:ln>
          <a:effectLst>
            <a:outerShdw blurRad="101600" dist="25400" dir="8100000" algn="bl" rotWithShape="0">
              <a:srgbClr val="000000">
                <a:alpha val="9000"/>
              </a:srgbClr>
            </a:outerShdw>
          </a:effectLst>
        </p:spPr>
        <p:txBody>
          <a:bodyPr/>
          <a:lstStyle/>
          <a:p>
            <a:endParaRPr lang="LID4096"/>
          </a:p>
        </p:txBody>
      </p:sp>
      <p:sp>
        <p:nvSpPr>
          <p:cNvPr id="13" name="Shape 11"/>
          <p:cNvSpPr/>
          <p:nvPr/>
        </p:nvSpPr>
        <p:spPr>
          <a:xfrm>
            <a:off x="301752" y="2121408"/>
            <a:ext cx="1170432" cy="54864"/>
          </a:xfrm>
          <a:prstGeom prst="rect">
            <a:avLst/>
          </a:prstGeom>
          <a:solidFill>
            <a:srgbClr val="29ABE2"/>
          </a:solidFill>
          <a:ln w="12700">
            <a:solidFill>
              <a:srgbClr val="29ABE2"/>
            </a:solidFill>
            <a:prstDash val="solid"/>
          </a:ln>
        </p:spPr>
        <p:txBody>
          <a:bodyPr/>
          <a:lstStyle/>
          <a:p>
            <a:endParaRPr lang="LID4096"/>
          </a:p>
        </p:txBody>
      </p:sp>
      <p:sp>
        <p:nvSpPr>
          <p:cNvPr id="14" name="Text 12"/>
          <p:cNvSpPr/>
          <p:nvPr/>
        </p:nvSpPr>
        <p:spPr>
          <a:xfrm>
            <a:off x="338328" y="2194560"/>
            <a:ext cx="1097280" cy="566928"/>
          </a:xfrm>
          <a:prstGeom prst="rect">
            <a:avLst/>
          </a:prstGeom>
          <a:noFill/>
          <a:ln/>
        </p:spPr>
        <p:txBody>
          <a:bodyPr wrap="square" lIns="0" tIns="0" rIns="0" bIns="0" rtlCol="0" anchor="ctr"/>
          <a:lstStyle/>
          <a:p>
            <a:pPr marL="0" indent="0" algn="ctr">
              <a:lnSpc>
                <a:spcPct val="115000"/>
              </a:lnSpc>
              <a:buNone/>
            </a:pPr>
            <a:r>
              <a:rPr lang="en-US" sz="1200" b="1" dirty="0">
                <a:solidFill>
                  <a:srgbClr val="29ABE2"/>
                </a:solidFill>
                <a:latin typeface="Palatino Linotype" pitchFamily="34" charset="0"/>
                <a:ea typeface="Palatino Linotype" pitchFamily="34" charset="-122"/>
                <a:cs typeface="Palatino Linotype" pitchFamily="34" charset="-120"/>
              </a:rPr>
              <a:t>Fetch</a:t>
            </a:r>
            <a:endParaRPr lang="en-US" sz="1200" dirty="0"/>
          </a:p>
          <a:p>
            <a:pPr marL="0" indent="0" algn="ctr">
              <a:lnSpc>
                <a:spcPct val="115000"/>
              </a:lnSpc>
              <a:buNone/>
            </a:pPr>
            <a:r>
              <a:rPr lang="en-US" sz="1200" b="1" dirty="0">
                <a:solidFill>
                  <a:srgbClr val="29ABE2"/>
                </a:solidFill>
                <a:latin typeface="Palatino Linotype" pitchFamily="34" charset="0"/>
                <a:ea typeface="Palatino Linotype" pitchFamily="34" charset="-122"/>
                <a:cs typeface="Palatino Linotype" pitchFamily="34" charset="-120"/>
              </a:rPr>
              <a:t>Batch</a:t>
            </a:r>
            <a:endParaRPr lang="en-US" sz="1200" dirty="0"/>
          </a:p>
        </p:txBody>
      </p:sp>
      <p:sp>
        <p:nvSpPr>
          <p:cNvPr id="15" name="Text 13"/>
          <p:cNvSpPr/>
          <p:nvPr/>
        </p:nvSpPr>
        <p:spPr>
          <a:xfrm>
            <a:off x="338328" y="2926080"/>
            <a:ext cx="1097280" cy="914400"/>
          </a:xfrm>
          <a:prstGeom prst="rect">
            <a:avLst/>
          </a:prstGeom>
          <a:noFill/>
          <a:ln/>
        </p:spPr>
        <p:txBody>
          <a:bodyPr wrap="square" lIns="0" tIns="0" rIns="0" bIns="0" rtlCol="0" anchor="ctr"/>
          <a:lstStyle/>
          <a:p>
            <a:pPr marL="0" indent="0" algn="ctr">
              <a:lnSpc>
                <a:spcPct val="135000"/>
              </a:lnSpc>
              <a:buNone/>
            </a:pPr>
            <a:r>
              <a:rPr lang="en-US" sz="1400" dirty="0">
                <a:solidFill>
                  <a:srgbClr val="1A202C"/>
                </a:solidFill>
                <a:latin typeface="Garamond" pitchFamily="34" charset="0"/>
                <a:ea typeface="Garamond" pitchFamily="34" charset="-122"/>
                <a:cs typeface="Garamond" pitchFamily="34" charset="-120"/>
              </a:rPr>
              <a:t>GET /stream/next</a:t>
            </a:r>
            <a:endParaRPr lang="en-US" sz="1400" dirty="0"/>
          </a:p>
          <a:p>
            <a:pPr marL="0" indent="0" algn="ctr">
              <a:lnSpc>
                <a:spcPct val="135000"/>
              </a:lnSpc>
              <a:buNone/>
            </a:pPr>
            <a:r>
              <a:rPr lang="en-US" sz="1400" dirty="0">
                <a:solidFill>
                  <a:srgbClr val="1A202C"/>
                </a:solidFill>
                <a:latin typeface="Garamond" pitchFamily="34" charset="0"/>
                <a:ea typeface="Garamond" pitchFamily="34" charset="-122"/>
                <a:cs typeface="Garamond" pitchFamily="34" charset="-120"/>
              </a:rPr>
              <a:t>from FastAPI on PC</a:t>
            </a:r>
            <a:endParaRPr lang="en-US" sz="1400" dirty="0"/>
          </a:p>
        </p:txBody>
      </p:sp>
      <p:sp>
        <p:nvSpPr>
          <p:cNvPr id="16" name="Shape 14"/>
          <p:cNvSpPr/>
          <p:nvPr/>
        </p:nvSpPr>
        <p:spPr>
          <a:xfrm>
            <a:off x="1892808" y="1188720"/>
            <a:ext cx="768096" cy="768096"/>
          </a:xfrm>
          <a:prstGeom prst="ellipse">
            <a:avLst/>
          </a:prstGeom>
          <a:solidFill>
            <a:srgbClr val="00B4A6"/>
          </a:solidFill>
          <a:ln w="12700">
            <a:solidFill>
              <a:srgbClr val="00B4A6"/>
            </a:solidFill>
            <a:prstDash val="solid"/>
          </a:ln>
          <a:effectLst>
            <a:outerShdw blurRad="101600" dist="25400" dir="8100000" algn="bl" rotWithShape="0">
              <a:srgbClr val="000000">
                <a:alpha val="9000"/>
              </a:srgbClr>
            </a:outerShdw>
          </a:effectLst>
        </p:spPr>
        <p:txBody>
          <a:bodyPr/>
          <a:lstStyle/>
          <a:p>
            <a:endParaRPr lang="LID4096"/>
          </a:p>
        </p:txBody>
      </p:sp>
      <p:sp>
        <p:nvSpPr>
          <p:cNvPr id="17" name="Text 15"/>
          <p:cNvSpPr/>
          <p:nvPr/>
        </p:nvSpPr>
        <p:spPr>
          <a:xfrm>
            <a:off x="1892808" y="1197864"/>
            <a:ext cx="768096" cy="749808"/>
          </a:xfrm>
          <a:prstGeom prst="rect">
            <a:avLst/>
          </a:prstGeom>
          <a:noFill/>
          <a:ln/>
        </p:spPr>
        <p:txBody>
          <a:bodyPr wrap="square" lIns="0" tIns="0" rIns="0" bIns="0" rtlCol="0" anchor="ctr"/>
          <a:lstStyle/>
          <a:p>
            <a:pPr marL="0" indent="0" algn="ctr">
              <a:buNone/>
            </a:pPr>
            <a:r>
              <a:rPr lang="en-US" sz="2400" b="1" dirty="0">
                <a:solidFill>
                  <a:srgbClr val="FFFFFF"/>
                </a:solidFill>
                <a:latin typeface="Palatino Linotype" pitchFamily="34" charset="0"/>
                <a:ea typeface="Palatino Linotype" pitchFamily="34" charset="-122"/>
                <a:cs typeface="Palatino Linotype" pitchFamily="34" charset="-120"/>
              </a:rPr>
              <a:t>2</a:t>
            </a:r>
            <a:endParaRPr lang="en-US" sz="2400" dirty="0"/>
          </a:p>
        </p:txBody>
      </p:sp>
      <p:sp>
        <p:nvSpPr>
          <p:cNvPr id="18" name="Shape 16"/>
          <p:cNvSpPr/>
          <p:nvPr/>
        </p:nvSpPr>
        <p:spPr>
          <a:xfrm>
            <a:off x="1691640" y="2121408"/>
            <a:ext cx="1170432" cy="2468880"/>
          </a:xfrm>
          <a:prstGeom prst="rect">
            <a:avLst/>
          </a:prstGeom>
          <a:solidFill>
            <a:srgbClr val="EEF4FB"/>
          </a:solidFill>
          <a:ln w="19050">
            <a:solidFill>
              <a:srgbClr val="00B4A6"/>
            </a:solidFill>
            <a:prstDash val="solid"/>
          </a:ln>
          <a:effectLst>
            <a:outerShdw blurRad="101600" dist="25400" dir="8100000" algn="bl" rotWithShape="0">
              <a:srgbClr val="000000">
                <a:alpha val="9000"/>
              </a:srgbClr>
            </a:outerShdw>
          </a:effectLst>
        </p:spPr>
        <p:txBody>
          <a:bodyPr/>
          <a:lstStyle/>
          <a:p>
            <a:endParaRPr lang="LID4096"/>
          </a:p>
        </p:txBody>
      </p:sp>
      <p:sp>
        <p:nvSpPr>
          <p:cNvPr id="19" name="Shape 17"/>
          <p:cNvSpPr/>
          <p:nvPr/>
        </p:nvSpPr>
        <p:spPr>
          <a:xfrm>
            <a:off x="1691640" y="2121408"/>
            <a:ext cx="1170432" cy="54864"/>
          </a:xfrm>
          <a:prstGeom prst="rect">
            <a:avLst/>
          </a:prstGeom>
          <a:solidFill>
            <a:srgbClr val="00B4A6"/>
          </a:solidFill>
          <a:ln w="12700">
            <a:solidFill>
              <a:srgbClr val="00B4A6"/>
            </a:solidFill>
            <a:prstDash val="solid"/>
          </a:ln>
        </p:spPr>
        <p:txBody>
          <a:bodyPr/>
          <a:lstStyle/>
          <a:p>
            <a:endParaRPr lang="LID4096"/>
          </a:p>
        </p:txBody>
      </p:sp>
      <p:sp>
        <p:nvSpPr>
          <p:cNvPr id="20" name="Text 18"/>
          <p:cNvSpPr/>
          <p:nvPr/>
        </p:nvSpPr>
        <p:spPr>
          <a:xfrm>
            <a:off x="1728216" y="2194560"/>
            <a:ext cx="1097280" cy="566928"/>
          </a:xfrm>
          <a:prstGeom prst="rect">
            <a:avLst/>
          </a:prstGeom>
          <a:noFill/>
          <a:ln/>
        </p:spPr>
        <p:txBody>
          <a:bodyPr wrap="square" lIns="0" tIns="0" rIns="0" bIns="0" rtlCol="0" anchor="ctr"/>
          <a:lstStyle/>
          <a:p>
            <a:pPr marL="0" indent="0" algn="ctr">
              <a:lnSpc>
                <a:spcPct val="115000"/>
              </a:lnSpc>
              <a:buNone/>
            </a:pPr>
            <a:r>
              <a:rPr lang="en-US" sz="1200" b="1" dirty="0">
                <a:solidFill>
                  <a:srgbClr val="00B4A6"/>
                </a:solidFill>
                <a:latin typeface="Palatino Linotype" pitchFamily="34" charset="0"/>
                <a:ea typeface="Palatino Linotype" pitchFamily="34" charset="-122"/>
                <a:cs typeface="Palatino Linotype" pitchFamily="34" charset="-120"/>
              </a:rPr>
              <a:t>Ring</a:t>
            </a:r>
            <a:endParaRPr lang="en-US" sz="1200" dirty="0"/>
          </a:p>
          <a:p>
            <a:pPr marL="0" indent="0" algn="ctr">
              <a:lnSpc>
                <a:spcPct val="115000"/>
              </a:lnSpc>
              <a:buNone/>
            </a:pPr>
            <a:r>
              <a:rPr lang="en-US" sz="1200" b="1" dirty="0">
                <a:solidFill>
                  <a:srgbClr val="00B4A6"/>
                </a:solidFill>
                <a:latin typeface="Palatino Linotype" pitchFamily="34" charset="0"/>
                <a:ea typeface="Palatino Linotype" pitchFamily="34" charset="-122"/>
                <a:cs typeface="Palatino Linotype" pitchFamily="34" charset="-120"/>
              </a:rPr>
              <a:t>Buffer</a:t>
            </a:r>
            <a:endParaRPr lang="en-US" sz="1200" dirty="0"/>
          </a:p>
        </p:txBody>
      </p:sp>
      <p:sp>
        <p:nvSpPr>
          <p:cNvPr id="21" name="Text 19"/>
          <p:cNvSpPr/>
          <p:nvPr/>
        </p:nvSpPr>
        <p:spPr>
          <a:xfrm>
            <a:off x="1728216" y="2898648"/>
            <a:ext cx="1097280" cy="914400"/>
          </a:xfrm>
          <a:prstGeom prst="rect">
            <a:avLst/>
          </a:prstGeom>
          <a:noFill/>
          <a:ln/>
        </p:spPr>
        <p:txBody>
          <a:bodyPr wrap="square" lIns="0" tIns="0" rIns="0" bIns="0" rtlCol="0" anchor="ctr"/>
          <a:lstStyle/>
          <a:p>
            <a:pPr marL="0" indent="0" algn="ctr">
              <a:lnSpc>
                <a:spcPct val="135000"/>
              </a:lnSpc>
              <a:buNone/>
            </a:pPr>
            <a:r>
              <a:rPr lang="en-US" sz="1400" dirty="0">
                <a:solidFill>
                  <a:srgbClr val="1A202C"/>
                </a:solidFill>
                <a:latin typeface="Garamond" pitchFamily="34" charset="0"/>
                <a:ea typeface="Garamond" pitchFamily="34" charset="-122"/>
                <a:cs typeface="Garamond" pitchFamily="34" charset="-120"/>
              </a:rPr>
              <a:t>Append row to deque</a:t>
            </a:r>
            <a:endParaRPr lang="en-US" sz="1400" dirty="0"/>
          </a:p>
          <a:p>
            <a:pPr marL="0" indent="0" algn="ctr">
              <a:lnSpc>
                <a:spcPct val="135000"/>
              </a:lnSpc>
              <a:buNone/>
            </a:pPr>
            <a:r>
              <a:rPr lang="en-US" sz="1400" dirty="0">
                <a:solidFill>
                  <a:srgbClr val="1A202C"/>
                </a:solidFill>
                <a:latin typeface="Garamond" pitchFamily="34" charset="0"/>
                <a:ea typeface="Garamond" pitchFamily="34" charset="-122"/>
                <a:cs typeface="Garamond" pitchFamily="34" charset="-120"/>
              </a:rPr>
              <a:t>(O(1) push, maxlen=60)</a:t>
            </a:r>
            <a:endParaRPr lang="en-US" sz="1400" dirty="0"/>
          </a:p>
        </p:txBody>
      </p:sp>
      <p:sp>
        <p:nvSpPr>
          <p:cNvPr id="22" name="Shape 20"/>
          <p:cNvSpPr/>
          <p:nvPr/>
        </p:nvSpPr>
        <p:spPr>
          <a:xfrm>
            <a:off x="3282696" y="1188720"/>
            <a:ext cx="768096" cy="768096"/>
          </a:xfrm>
          <a:prstGeom prst="ellipse">
            <a:avLst/>
          </a:prstGeom>
          <a:solidFill>
            <a:srgbClr val="2DC653"/>
          </a:solidFill>
          <a:ln w="12700">
            <a:solidFill>
              <a:srgbClr val="2DC653"/>
            </a:solidFill>
            <a:prstDash val="solid"/>
          </a:ln>
          <a:effectLst>
            <a:outerShdw blurRad="101600" dist="25400" dir="8100000" algn="bl" rotWithShape="0">
              <a:srgbClr val="000000">
                <a:alpha val="9000"/>
              </a:srgbClr>
            </a:outerShdw>
          </a:effectLst>
        </p:spPr>
        <p:txBody>
          <a:bodyPr/>
          <a:lstStyle/>
          <a:p>
            <a:endParaRPr lang="LID4096"/>
          </a:p>
        </p:txBody>
      </p:sp>
      <p:sp>
        <p:nvSpPr>
          <p:cNvPr id="23" name="Text 21"/>
          <p:cNvSpPr/>
          <p:nvPr/>
        </p:nvSpPr>
        <p:spPr>
          <a:xfrm>
            <a:off x="3282696" y="1197864"/>
            <a:ext cx="768096" cy="749808"/>
          </a:xfrm>
          <a:prstGeom prst="rect">
            <a:avLst/>
          </a:prstGeom>
          <a:noFill/>
          <a:ln/>
        </p:spPr>
        <p:txBody>
          <a:bodyPr wrap="square" lIns="0" tIns="0" rIns="0" bIns="0" rtlCol="0" anchor="ctr"/>
          <a:lstStyle/>
          <a:p>
            <a:pPr marL="0" indent="0" algn="ctr">
              <a:buNone/>
            </a:pPr>
            <a:r>
              <a:rPr lang="en-US" sz="2400" b="1" dirty="0">
                <a:solidFill>
                  <a:srgbClr val="FFFFFF"/>
                </a:solidFill>
                <a:latin typeface="Palatino Linotype" pitchFamily="34" charset="0"/>
                <a:ea typeface="Palatino Linotype" pitchFamily="34" charset="-122"/>
                <a:cs typeface="Palatino Linotype" pitchFamily="34" charset="-120"/>
              </a:rPr>
              <a:t>3</a:t>
            </a:r>
            <a:endParaRPr lang="en-US" sz="2400" dirty="0"/>
          </a:p>
        </p:txBody>
      </p:sp>
      <p:sp>
        <p:nvSpPr>
          <p:cNvPr id="24" name="Shape 22"/>
          <p:cNvSpPr/>
          <p:nvPr/>
        </p:nvSpPr>
        <p:spPr>
          <a:xfrm>
            <a:off x="3081528" y="2121408"/>
            <a:ext cx="1170432" cy="2468880"/>
          </a:xfrm>
          <a:prstGeom prst="rect">
            <a:avLst/>
          </a:prstGeom>
          <a:solidFill>
            <a:srgbClr val="EEF4FB"/>
          </a:solidFill>
          <a:ln w="19050">
            <a:solidFill>
              <a:srgbClr val="2DC653"/>
            </a:solidFill>
            <a:prstDash val="solid"/>
          </a:ln>
          <a:effectLst>
            <a:outerShdw blurRad="101600" dist="25400" dir="8100000" algn="bl" rotWithShape="0">
              <a:srgbClr val="000000">
                <a:alpha val="9000"/>
              </a:srgbClr>
            </a:outerShdw>
          </a:effectLst>
        </p:spPr>
        <p:txBody>
          <a:bodyPr/>
          <a:lstStyle/>
          <a:p>
            <a:endParaRPr lang="LID4096"/>
          </a:p>
        </p:txBody>
      </p:sp>
      <p:sp>
        <p:nvSpPr>
          <p:cNvPr id="25" name="Shape 23"/>
          <p:cNvSpPr/>
          <p:nvPr/>
        </p:nvSpPr>
        <p:spPr>
          <a:xfrm>
            <a:off x="3081528" y="2121408"/>
            <a:ext cx="1170432" cy="54864"/>
          </a:xfrm>
          <a:prstGeom prst="rect">
            <a:avLst/>
          </a:prstGeom>
          <a:solidFill>
            <a:srgbClr val="2DC653"/>
          </a:solidFill>
          <a:ln w="12700">
            <a:solidFill>
              <a:srgbClr val="2DC653"/>
            </a:solidFill>
            <a:prstDash val="solid"/>
          </a:ln>
        </p:spPr>
        <p:txBody>
          <a:bodyPr/>
          <a:lstStyle/>
          <a:p>
            <a:endParaRPr lang="LID4096"/>
          </a:p>
        </p:txBody>
      </p:sp>
      <p:sp>
        <p:nvSpPr>
          <p:cNvPr id="26" name="Text 24"/>
          <p:cNvSpPr/>
          <p:nvPr/>
        </p:nvSpPr>
        <p:spPr>
          <a:xfrm>
            <a:off x="3118104" y="2194560"/>
            <a:ext cx="1097280" cy="566928"/>
          </a:xfrm>
          <a:prstGeom prst="rect">
            <a:avLst/>
          </a:prstGeom>
          <a:noFill/>
          <a:ln/>
        </p:spPr>
        <p:txBody>
          <a:bodyPr wrap="square" lIns="0" tIns="0" rIns="0" bIns="0" rtlCol="0" anchor="ctr"/>
          <a:lstStyle/>
          <a:p>
            <a:pPr marL="0" indent="0" algn="ctr">
              <a:lnSpc>
                <a:spcPct val="115000"/>
              </a:lnSpc>
              <a:buNone/>
            </a:pPr>
            <a:r>
              <a:rPr lang="en-US" sz="1200" b="1" dirty="0">
                <a:solidFill>
                  <a:srgbClr val="2DC653"/>
                </a:solidFill>
                <a:latin typeface="Palatino Linotype" pitchFamily="34" charset="0"/>
                <a:ea typeface="Palatino Linotype" pitchFamily="34" charset="-122"/>
                <a:cs typeface="Palatino Linotype" pitchFamily="34" charset="-120"/>
              </a:rPr>
              <a:t>Build</a:t>
            </a:r>
            <a:endParaRPr lang="en-US" sz="1200" dirty="0"/>
          </a:p>
          <a:p>
            <a:pPr marL="0" indent="0" algn="ctr">
              <a:lnSpc>
                <a:spcPct val="115000"/>
              </a:lnSpc>
              <a:buNone/>
            </a:pPr>
            <a:r>
              <a:rPr lang="en-US" sz="1200" b="1" dirty="0">
                <a:solidFill>
                  <a:srgbClr val="2DC653"/>
                </a:solidFill>
                <a:latin typeface="Palatino Linotype" pitchFamily="34" charset="0"/>
                <a:ea typeface="Palatino Linotype" pitchFamily="34" charset="-122"/>
                <a:cs typeface="Palatino Linotype" pitchFamily="34" charset="-120"/>
              </a:rPr>
              <a:t>Features</a:t>
            </a:r>
            <a:endParaRPr lang="en-US" sz="1200" dirty="0"/>
          </a:p>
        </p:txBody>
      </p:sp>
      <p:sp>
        <p:nvSpPr>
          <p:cNvPr id="27" name="Text 25"/>
          <p:cNvSpPr/>
          <p:nvPr/>
        </p:nvSpPr>
        <p:spPr>
          <a:xfrm>
            <a:off x="3081528" y="2898648"/>
            <a:ext cx="1097280" cy="914400"/>
          </a:xfrm>
          <a:prstGeom prst="rect">
            <a:avLst/>
          </a:prstGeom>
          <a:noFill/>
          <a:ln/>
        </p:spPr>
        <p:txBody>
          <a:bodyPr wrap="square" lIns="0" tIns="0" rIns="0" bIns="0" rtlCol="0" anchor="ctr"/>
          <a:lstStyle/>
          <a:p>
            <a:pPr marL="0" indent="0" algn="ctr">
              <a:lnSpc>
                <a:spcPct val="135000"/>
              </a:lnSpc>
              <a:buNone/>
            </a:pPr>
            <a:r>
              <a:rPr lang="en-US" sz="1400" dirty="0">
                <a:solidFill>
                  <a:srgbClr val="1A202C"/>
                </a:solidFill>
                <a:latin typeface="Garamond" pitchFamily="34" charset="0"/>
                <a:ea typeface="Garamond" pitchFamily="34" charset="-122"/>
                <a:cs typeface="Garamond" pitchFamily="34" charset="-120"/>
              </a:rPr>
              <a:t>NumPy feature vector</a:t>
            </a:r>
            <a:endParaRPr lang="en-US" sz="1400" dirty="0"/>
          </a:p>
          <a:p>
            <a:pPr marL="0" indent="0" algn="ctr">
              <a:lnSpc>
                <a:spcPct val="135000"/>
              </a:lnSpc>
              <a:buNone/>
            </a:pPr>
            <a:r>
              <a:rPr lang="en-US" sz="1400" dirty="0">
                <a:solidFill>
                  <a:srgbClr val="1A202C"/>
                </a:solidFill>
                <a:latin typeface="Garamond" pitchFamily="34" charset="0"/>
                <a:ea typeface="Garamond" pitchFamily="34" charset="-122"/>
                <a:cs typeface="Garamond" pitchFamily="34" charset="-120"/>
              </a:rPr>
              <a:t>from buffer window</a:t>
            </a:r>
            <a:endParaRPr lang="en-US" sz="1400" dirty="0"/>
          </a:p>
        </p:txBody>
      </p:sp>
      <p:sp>
        <p:nvSpPr>
          <p:cNvPr id="28" name="Shape 26"/>
          <p:cNvSpPr/>
          <p:nvPr/>
        </p:nvSpPr>
        <p:spPr>
          <a:xfrm>
            <a:off x="4672584" y="1188720"/>
            <a:ext cx="768096" cy="768096"/>
          </a:xfrm>
          <a:prstGeom prst="ellipse">
            <a:avLst/>
          </a:prstGeom>
          <a:solidFill>
            <a:srgbClr val="F6AD55"/>
          </a:solidFill>
          <a:ln w="12700">
            <a:solidFill>
              <a:srgbClr val="F6AD55"/>
            </a:solidFill>
            <a:prstDash val="solid"/>
          </a:ln>
          <a:effectLst>
            <a:outerShdw blurRad="101600" dist="25400" dir="8100000" algn="bl" rotWithShape="0">
              <a:srgbClr val="000000">
                <a:alpha val="9000"/>
              </a:srgbClr>
            </a:outerShdw>
          </a:effectLst>
        </p:spPr>
        <p:txBody>
          <a:bodyPr/>
          <a:lstStyle/>
          <a:p>
            <a:endParaRPr lang="LID4096"/>
          </a:p>
        </p:txBody>
      </p:sp>
      <p:sp>
        <p:nvSpPr>
          <p:cNvPr id="29" name="Text 27"/>
          <p:cNvSpPr/>
          <p:nvPr/>
        </p:nvSpPr>
        <p:spPr>
          <a:xfrm>
            <a:off x="4672584" y="1197864"/>
            <a:ext cx="768096" cy="749808"/>
          </a:xfrm>
          <a:prstGeom prst="rect">
            <a:avLst/>
          </a:prstGeom>
          <a:noFill/>
          <a:ln/>
        </p:spPr>
        <p:txBody>
          <a:bodyPr wrap="square" lIns="0" tIns="0" rIns="0" bIns="0" rtlCol="0" anchor="ctr"/>
          <a:lstStyle/>
          <a:p>
            <a:pPr marL="0" indent="0" algn="ctr">
              <a:buNone/>
            </a:pPr>
            <a:r>
              <a:rPr lang="en-US" sz="2400" b="1" dirty="0">
                <a:solidFill>
                  <a:srgbClr val="FFFFFF"/>
                </a:solidFill>
                <a:latin typeface="Palatino Linotype" pitchFamily="34" charset="0"/>
                <a:ea typeface="Palatino Linotype" pitchFamily="34" charset="-122"/>
                <a:cs typeface="Palatino Linotype" pitchFamily="34" charset="-120"/>
              </a:rPr>
              <a:t>4</a:t>
            </a:r>
            <a:endParaRPr lang="en-US" sz="2400" dirty="0"/>
          </a:p>
        </p:txBody>
      </p:sp>
      <p:sp>
        <p:nvSpPr>
          <p:cNvPr id="30" name="Shape 28"/>
          <p:cNvSpPr/>
          <p:nvPr/>
        </p:nvSpPr>
        <p:spPr>
          <a:xfrm>
            <a:off x="4471416" y="2121408"/>
            <a:ext cx="1170432" cy="2468880"/>
          </a:xfrm>
          <a:prstGeom prst="rect">
            <a:avLst/>
          </a:prstGeom>
          <a:solidFill>
            <a:srgbClr val="EEF4FB"/>
          </a:solidFill>
          <a:ln w="19050">
            <a:solidFill>
              <a:srgbClr val="F6AD55"/>
            </a:solidFill>
            <a:prstDash val="solid"/>
          </a:ln>
          <a:effectLst>
            <a:outerShdw blurRad="101600" dist="25400" dir="8100000" algn="bl" rotWithShape="0">
              <a:srgbClr val="000000">
                <a:alpha val="9000"/>
              </a:srgbClr>
            </a:outerShdw>
          </a:effectLst>
        </p:spPr>
        <p:txBody>
          <a:bodyPr/>
          <a:lstStyle/>
          <a:p>
            <a:endParaRPr lang="LID4096"/>
          </a:p>
        </p:txBody>
      </p:sp>
      <p:sp>
        <p:nvSpPr>
          <p:cNvPr id="31" name="Shape 29"/>
          <p:cNvSpPr/>
          <p:nvPr/>
        </p:nvSpPr>
        <p:spPr>
          <a:xfrm>
            <a:off x="4471416" y="2121408"/>
            <a:ext cx="1170432" cy="54864"/>
          </a:xfrm>
          <a:prstGeom prst="rect">
            <a:avLst/>
          </a:prstGeom>
          <a:solidFill>
            <a:srgbClr val="F6AD55"/>
          </a:solidFill>
          <a:ln w="12700">
            <a:solidFill>
              <a:srgbClr val="F6AD55"/>
            </a:solidFill>
            <a:prstDash val="solid"/>
          </a:ln>
        </p:spPr>
        <p:txBody>
          <a:bodyPr/>
          <a:lstStyle/>
          <a:p>
            <a:endParaRPr lang="LID4096"/>
          </a:p>
        </p:txBody>
      </p:sp>
      <p:sp>
        <p:nvSpPr>
          <p:cNvPr id="32" name="Text 30"/>
          <p:cNvSpPr/>
          <p:nvPr/>
        </p:nvSpPr>
        <p:spPr>
          <a:xfrm>
            <a:off x="4507992" y="2194560"/>
            <a:ext cx="1097280" cy="566928"/>
          </a:xfrm>
          <a:prstGeom prst="rect">
            <a:avLst/>
          </a:prstGeom>
          <a:noFill/>
          <a:ln/>
        </p:spPr>
        <p:txBody>
          <a:bodyPr wrap="square" lIns="0" tIns="0" rIns="0" bIns="0" rtlCol="0" anchor="ctr"/>
          <a:lstStyle/>
          <a:p>
            <a:pPr marL="0" indent="0" algn="ctr">
              <a:lnSpc>
                <a:spcPct val="115000"/>
              </a:lnSpc>
              <a:buNone/>
            </a:pPr>
            <a:r>
              <a:rPr lang="en-US" sz="1200" b="1" dirty="0">
                <a:solidFill>
                  <a:srgbClr val="F6AD55"/>
                </a:solidFill>
                <a:latin typeface="Palatino Linotype" pitchFamily="34" charset="0"/>
                <a:ea typeface="Palatino Linotype" pitchFamily="34" charset="-122"/>
                <a:cs typeface="Palatino Linotype" pitchFamily="34" charset="-120"/>
              </a:rPr>
              <a:t>Score</a:t>
            </a:r>
            <a:endParaRPr lang="en-US" sz="1200" dirty="0"/>
          </a:p>
          <a:p>
            <a:pPr marL="0" indent="0" algn="ctr">
              <a:lnSpc>
                <a:spcPct val="115000"/>
              </a:lnSpc>
              <a:buNone/>
            </a:pPr>
            <a:r>
              <a:rPr lang="en-US" sz="1200" b="1" dirty="0">
                <a:solidFill>
                  <a:srgbClr val="F6AD55"/>
                </a:solidFill>
                <a:latin typeface="Palatino Linotype" pitchFamily="34" charset="0"/>
                <a:ea typeface="Palatino Linotype" pitchFamily="34" charset="-122"/>
                <a:cs typeface="Palatino Linotype" pitchFamily="34" charset="-120"/>
              </a:rPr>
              <a:t>Window</a:t>
            </a:r>
            <a:endParaRPr lang="en-US" sz="1200" dirty="0"/>
          </a:p>
        </p:txBody>
      </p:sp>
      <p:sp>
        <p:nvSpPr>
          <p:cNvPr id="33" name="Text 31"/>
          <p:cNvSpPr/>
          <p:nvPr/>
        </p:nvSpPr>
        <p:spPr>
          <a:xfrm>
            <a:off x="4507992" y="2920323"/>
            <a:ext cx="1097280" cy="914400"/>
          </a:xfrm>
          <a:prstGeom prst="rect">
            <a:avLst/>
          </a:prstGeom>
          <a:noFill/>
          <a:ln/>
        </p:spPr>
        <p:txBody>
          <a:bodyPr wrap="square" lIns="0" tIns="0" rIns="0" bIns="0" rtlCol="0" anchor="ctr"/>
          <a:lstStyle/>
          <a:p>
            <a:pPr marL="0" indent="0" algn="ctr">
              <a:lnSpc>
                <a:spcPct val="135000"/>
              </a:lnSpc>
              <a:buNone/>
            </a:pPr>
            <a:r>
              <a:rPr lang="en-US" sz="1400" dirty="0">
                <a:solidFill>
                  <a:srgbClr val="1A202C"/>
                </a:solidFill>
                <a:latin typeface="Garamond" pitchFamily="34" charset="0"/>
                <a:ea typeface="Garamond" pitchFamily="34" charset="-122"/>
                <a:cs typeface="Garamond" pitchFamily="34" charset="-120"/>
              </a:rPr>
              <a:t>Apply saved model</a:t>
            </a:r>
          </a:p>
          <a:p>
            <a:pPr marL="0" indent="0" algn="ctr">
              <a:lnSpc>
                <a:spcPct val="135000"/>
              </a:lnSpc>
              <a:buNone/>
            </a:pPr>
            <a:r>
              <a:rPr lang="en-US" sz="1400" dirty="0">
                <a:solidFill>
                  <a:srgbClr val="1A202C"/>
                </a:solidFill>
                <a:latin typeface="Garamond" pitchFamily="34" charset="0"/>
                <a:ea typeface="Garamond" pitchFamily="34" charset="-122"/>
                <a:cs typeface="Garamond" pitchFamily="34" charset="-120"/>
              </a:rPr>
              <a:t>&amp; scaler locally</a:t>
            </a:r>
            <a:endParaRPr lang="en-US" sz="1400" dirty="0"/>
          </a:p>
        </p:txBody>
      </p:sp>
      <p:sp>
        <p:nvSpPr>
          <p:cNvPr id="34" name="Shape 32"/>
          <p:cNvSpPr/>
          <p:nvPr/>
        </p:nvSpPr>
        <p:spPr>
          <a:xfrm>
            <a:off x="6062472" y="1188720"/>
            <a:ext cx="768096" cy="768096"/>
          </a:xfrm>
          <a:prstGeom prst="ellipse">
            <a:avLst/>
          </a:prstGeom>
          <a:solidFill>
            <a:srgbClr val="F4844C"/>
          </a:solidFill>
          <a:ln w="12700">
            <a:solidFill>
              <a:srgbClr val="F4844C"/>
            </a:solidFill>
            <a:prstDash val="solid"/>
          </a:ln>
          <a:effectLst>
            <a:outerShdw blurRad="101600" dist="25400" dir="8100000" algn="bl" rotWithShape="0">
              <a:srgbClr val="000000">
                <a:alpha val="9000"/>
              </a:srgbClr>
            </a:outerShdw>
          </a:effectLst>
        </p:spPr>
        <p:txBody>
          <a:bodyPr/>
          <a:lstStyle/>
          <a:p>
            <a:endParaRPr lang="LID4096"/>
          </a:p>
        </p:txBody>
      </p:sp>
      <p:sp>
        <p:nvSpPr>
          <p:cNvPr id="35" name="Text 33"/>
          <p:cNvSpPr/>
          <p:nvPr/>
        </p:nvSpPr>
        <p:spPr>
          <a:xfrm>
            <a:off x="6062472" y="1197864"/>
            <a:ext cx="768096" cy="749808"/>
          </a:xfrm>
          <a:prstGeom prst="rect">
            <a:avLst/>
          </a:prstGeom>
          <a:noFill/>
          <a:ln/>
        </p:spPr>
        <p:txBody>
          <a:bodyPr wrap="square" lIns="0" tIns="0" rIns="0" bIns="0" rtlCol="0" anchor="ctr"/>
          <a:lstStyle/>
          <a:p>
            <a:pPr marL="0" indent="0" algn="ctr">
              <a:buNone/>
            </a:pPr>
            <a:r>
              <a:rPr lang="en-US" sz="2400" b="1" dirty="0">
                <a:solidFill>
                  <a:srgbClr val="FFFFFF"/>
                </a:solidFill>
                <a:latin typeface="Palatino Linotype" pitchFamily="34" charset="0"/>
                <a:ea typeface="Palatino Linotype" pitchFamily="34" charset="-122"/>
                <a:cs typeface="Palatino Linotype" pitchFamily="34" charset="-120"/>
              </a:rPr>
              <a:t>5</a:t>
            </a:r>
            <a:endParaRPr lang="en-US" sz="2400" dirty="0"/>
          </a:p>
        </p:txBody>
      </p:sp>
      <p:sp>
        <p:nvSpPr>
          <p:cNvPr id="36" name="Shape 34"/>
          <p:cNvSpPr/>
          <p:nvPr/>
        </p:nvSpPr>
        <p:spPr>
          <a:xfrm>
            <a:off x="5861304" y="2121408"/>
            <a:ext cx="1170432" cy="2468880"/>
          </a:xfrm>
          <a:prstGeom prst="rect">
            <a:avLst/>
          </a:prstGeom>
          <a:solidFill>
            <a:srgbClr val="EEF4FB"/>
          </a:solidFill>
          <a:ln w="19050">
            <a:solidFill>
              <a:srgbClr val="F4844C"/>
            </a:solidFill>
            <a:prstDash val="solid"/>
          </a:ln>
          <a:effectLst>
            <a:outerShdw blurRad="101600" dist="25400" dir="8100000" algn="bl" rotWithShape="0">
              <a:srgbClr val="000000">
                <a:alpha val="9000"/>
              </a:srgbClr>
            </a:outerShdw>
          </a:effectLst>
        </p:spPr>
        <p:txBody>
          <a:bodyPr/>
          <a:lstStyle/>
          <a:p>
            <a:endParaRPr lang="LID4096"/>
          </a:p>
        </p:txBody>
      </p:sp>
      <p:sp>
        <p:nvSpPr>
          <p:cNvPr id="37" name="Shape 35"/>
          <p:cNvSpPr/>
          <p:nvPr/>
        </p:nvSpPr>
        <p:spPr>
          <a:xfrm>
            <a:off x="5861304" y="2121408"/>
            <a:ext cx="1170432" cy="54864"/>
          </a:xfrm>
          <a:prstGeom prst="rect">
            <a:avLst/>
          </a:prstGeom>
          <a:solidFill>
            <a:srgbClr val="F4844C"/>
          </a:solidFill>
          <a:ln w="12700">
            <a:solidFill>
              <a:srgbClr val="F4844C"/>
            </a:solidFill>
            <a:prstDash val="solid"/>
          </a:ln>
        </p:spPr>
        <p:txBody>
          <a:bodyPr/>
          <a:lstStyle/>
          <a:p>
            <a:endParaRPr lang="LID4096"/>
          </a:p>
        </p:txBody>
      </p:sp>
      <p:sp>
        <p:nvSpPr>
          <p:cNvPr id="38" name="Text 36"/>
          <p:cNvSpPr/>
          <p:nvPr/>
        </p:nvSpPr>
        <p:spPr>
          <a:xfrm>
            <a:off x="5897880" y="2194560"/>
            <a:ext cx="1097280" cy="566928"/>
          </a:xfrm>
          <a:prstGeom prst="rect">
            <a:avLst/>
          </a:prstGeom>
          <a:noFill/>
          <a:ln/>
        </p:spPr>
        <p:txBody>
          <a:bodyPr wrap="square" lIns="0" tIns="0" rIns="0" bIns="0" rtlCol="0" anchor="ctr"/>
          <a:lstStyle/>
          <a:p>
            <a:pPr marL="0" indent="0" algn="ctr">
              <a:lnSpc>
                <a:spcPct val="115000"/>
              </a:lnSpc>
              <a:buNone/>
            </a:pPr>
            <a:r>
              <a:rPr lang="en-US" sz="1200" b="1" dirty="0">
                <a:solidFill>
                  <a:srgbClr val="F4844C"/>
                </a:solidFill>
                <a:latin typeface="Palatino Linotype" pitchFamily="34" charset="0"/>
                <a:ea typeface="Palatino Linotype" pitchFamily="34" charset="-122"/>
                <a:cs typeface="Palatino Linotype" pitchFamily="34" charset="-120"/>
              </a:rPr>
              <a:t>Threshold</a:t>
            </a:r>
            <a:endParaRPr lang="en-US" sz="1200" dirty="0"/>
          </a:p>
          <a:p>
            <a:pPr marL="0" indent="0" algn="ctr">
              <a:lnSpc>
                <a:spcPct val="115000"/>
              </a:lnSpc>
              <a:buNone/>
            </a:pPr>
            <a:r>
              <a:rPr lang="en-US" sz="1200" b="1" dirty="0">
                <a:solidFill>
                  <a:srgbClr val="F4844C"/>
                </a:solidFill>
                <a:latin typeface="Palatino Linotype" pitchFamily="34" charset="0"/>
                <a:ea typeface="Palatino Linotype" pitchFamily="34" charset="-122"/>
                <a:cs typeface="Palatino Linotype" pitchFamily="34" charset="-120"/>
              </a:rPr>
              <a:t>Check</a:t>
            </a:r>
            <a:endParaRPr lang="en-US" sz="1200" dirty="0"/>
          </a:p>
        </p:txBody>
      </p:sp>
      <p:sp>
        <p:nvSpPr>
          <p:cNvPr id="39" name="Text 37"/>
          <p:cNvSpPr/>
          <p:nvPr/>
        </p:nvSpPr>
        <p:spPr>
          <a:xfrm>
            <a:off x="5897880" y="2898648"/>
            <a:ext cx="1097280" cy="914400"/>
          </a:xfrm>
          <a:prstGeom prst="rect">
            <a:avLst/>
          </a:prstGeom>
          <a:noFill/>
          <a:ln/>
        </p:spPr>
        <p:txBody>
          <a:bodyPr wrap="square" lIns="0" tIns="0" rIns="0" bIns="0" rtlCol="0" anchor="ctr"/>
          <a:lstStyle/>
          <a:p>
            <a:pPr marL="0" indent="0" algn="ctr">
              <a:lnSpc>
                <a:spcPct val="135000"/>
              </a:lnSpc>
              <a:buNone/>
            </a:pPr>
            <a:r>
              <a:rPr lang="en-US" sz="1400" dirty="0">
                <a:solidFill>
                  <a:srgbClr val="1A202C"/>
                </a:solidFill>
                <a:latin typeface="Garamond" pitchFamily="34" charset="0"/>
                <a:ea typeface="Garamond" pitchFamily="34" charset="-122"/>
                <a:cs typeface="Garamond" pitchFamily="34" charset="-120"/>
              </a:rPr>
              <a:t>Compare score vs</a:t>
            </a:r>
            <a:endParaRPr lang="en-US" sz="1400" dirty="0"/>
          </a:p>
          <a:p>
            <a:pPr marL="0" indent="0" algn="ctr">
              <a:lnSpc>
                <a:spcPct val="135000"/>
              </a:lnSpc>
              <a:buNone/>
            </a:pPr>
            <a:r>
              <a:rPr lang="en-US" sz="1400" dirty="0">
                <a:solidFill>
                  <a:srgbClr val="1A202C"/>
                </a:solidFill>
                <a:latin typeface="Garamond" pitchFamily="34" charset="0"/>
                <a:ea typeface="Garamond" pitchFamily="34" charset="-122"/>
                <a:cs typeface="Garamond" pitchFamily="34" charset="-120"/>
              </a:rPr>
              <a:t>effective threshold</a:t>
            </a:r>
            <a:endParaRPr lang="en-US" sz="1400" dirty="0"/>
          </a:p>
        </p:txBody>
      </p:sp>
      <p:sp>
        <p:nvSpPr>
          <p:cNvPr id="40" name="Shape 38"/>
          <p:cNvSpPr/>
          <p:nvPr/>
        </p:nvSpPr>
        <p:spPr>
          <a:xfrm>
            <a:off x="7452360" y="1188720"/>
            <a:ext cx="768096" cy="768096"/>
          </a:xfrm>
          <a:prstGeom prst="ellipse">
            <a:avLst/>
          </a:prstGeom>
          <a:solidFill>
            <a:srgbClr val="E53E3E"/>
          </a:solidFill>
          <a:ln w="12700">
            <a:solidFill>
              <a:srgbClr val="E53E3E"/>
            </a:solidFill>
            <a:prstDash val="solid"/>
          </a:ln>
          <a:effectLst>
            <a:outerShdw blurRad="101600" dist="25400" dir="8100000" algn="bl" rotWithShape="0">
              <a:srgbClr val="000000">
                <a:alpha val="9000"/>
              </a:srgbClr>
            </a:outerShdw>
          </a:effectLst>
        </p:spPr>
        <p:txBody>
          <a:bodyPr/>
          <a:lstStyle/>
          <a:p>
            <a:endParaRPr lang="LID4096"/>
          </a:p>
        </p:txBody>
      </p:sp>
      <p:sp>
        <p:nvSpPr>
          <p:cNvPr id="41" name="Text 39"/>
          <p:cNvSpPr/>
          <p:nvPr/>
        </p:nvSpPr>
        <p:spPr>
          <a:xfrm>
            <a:off x="7452360" y="1197864"/>
            <a:ext cx="768096" cy="749808"/>
          </a:xfrm>
          <a:prstGeom prst="rect">
            <a:avLst/>
          </a:prstGeom>
          <a:noFill/>
          <a:ln/>
        </p:spPr>
        <p:txBody>
          <a:bodyPr wrap="square" lIns="0" tIns="0" rIns="0" bIns="0" rtlCol="0" anchor="ctr"/>
          <a:lstStyle/>
          <a:p>
            <a:pPr marL="0" indent="0" algn="ctr">
              <a:buNone/>
            </a:pPr>
            <a:r>
              <a:rPr lang="en-US" sz="2400" b="1" dirty="0">
                <a:solidFill>
                  <a:srgbClr val="FFFFFF"/>
                </a:solidFill>
                <a:latin typeface="Palatino Linotype" pitchFamily="34" charset="0"/>
                <a:ea typeface="Palatino Linotype" pitchFamily="34" charset="-122"/>
                <a:cs typeface="Palatino Linotype" pitchFamily="34" charset="-120"/>
              </a:rPr>
              <a:t>6</a:t>
            </a:r>
            <a:endParaRPr lang="en-US" sz="2400" dirty="0"/>
          </a:p>
        </p:txBody>
      </p:sp>
      <p:sp>
        <p:nvSpPr>
          <p:cNvPr id="42" name="Shape 40"/>
          <p:cNvSpPr/>
          <p:nvPr/>
        </p:nvSpPr>
        <p:spPr>
          <a:xfrm>
            <a:off x="7251192" y="2121408"/>
            <a:ext cx="1170432" cy="2468880"/>
          </a:xfrm>
          <a:prstGeom prst="rect">
            <a:avLst/>
          </a:prstGeom>
          <a:solidFill>
            <a:srgbClr val="EEF4FB"/>
          </a:solidFill>
          <a:ln w="19050">
            <a:solidFill>
              <a:srgbClr val="E53E3E"/>
            </a:solidFill>
            <a:prstDash val="solid"/>
          </a:ln>
          <a:effectLst>
            <a:outerShdw blurRad="101600" dist="25400" dir="8100000" algn="bl" rotWithShape="0">
              <a:srgbClr val="000000">
                <a:alpha val="9000"/>
              </a:srgbClr>
            </a:outerShdw>
          </a:effectLst>
        </p:spPr>
        <p:txBody>
          <a:bodyPr/>
          <a:lstStyle/>
          <a:p>
            <a:endParaRPr lang="LID4096"/>
          </a:p>
        </p:txBody>
      </p:sp>
      <p:sp>
        <p:nvSpPr>
          <p:cNvPr id="43" name="Shape 41"/>
          <p:cNvSpPr/>
          <p:nvPr/>
        </p:nvSpPr>
        <p:spPr>
          <a:xfrm>
            <a:off x="7251192" y="2121408"/>
            <a:ext cx="1170432" cy="54864"/>
          </a:xfrm>
          <a:prstGeom prst="rect">
            <a:avLst/>
          </a:prstGeom>
          <a:solidFill>
            <a:srgbClr val="E53E3E"/>
          </a:solidFill>
          <a:ln w="12700">
            <a:solidFill>
              <a:srgbClr val="E53E3E"/>
            </a:solidFill>
            <a:prstDash val="solid"/>
          </a:ln>
        </p:spPr>
        <p:txBody>
          <a:bodyPr/>
          <a:lstStyle/>
          <a:p>
            <a:endParaRPr lang="LID4096"/>
          </a:p>
        </p:txBody>
      </p:sp>
      <p:sp>
        <p:nvSpPr>
          <p:cNvPr id="44" name="Text 42"/>
          <p:cNvSpPr/>
          <p:nvPr/>
        </p:nvSpPr>
        <p:spPr>
          <a:xfrm>
            <a:off x="7287768" y="2194560"/>
            <a:ext cx="1097280" cy="566928"/>
          </a:xfrm>
          <a:prstGeom prst="rect">
            <a:avLst/>
          </a:prstGeom>
          <a:noFill/>
          <a:ln/>
        </p:spPr>
        <p:txBody>
          <a:bodyPr wrap="square" lIns="0" tIns="0" rIns="0" bIns="0" rtlCol="0" anchor="ctr"/>
          <a:lstStyle/>
          <a:p>
            <a:pPr marL="0" indent="0" algn="ctr">
              <a:lnSpc>
                <a:spcPct val="115000"/>
              </a:lnSpc>
              <a:buNone/>
            </a:pPr>
            <a:r>
              <a:rPr lang="en-US" sz="1200" b="1" dirty="0">
                <a:solidFill>
                  <a:srgbClr val="E53E3E"/>
                </a:solidFill>
                <a:latin typeface="Palatino Linotype" pitchFamily="34" charset="0"/>
                <a:ea typeface="Palatino Linotype" pitchFamily="34" charset="-122"/>
                <a:cs typeface="Palatino Linotype" pitchFamily="34" charset="-120"/>
              </a:rPr>
              <a:t>Log</a:t>
            </a:r>
            <a:endParaRPr lang="en-US" sz="1200" dirty="0"/>
          </a:p>
          <a:p>
            <a:pPr marL="0" indent="0" algn="ctr">
              <a:lnSpc>
                <a:spcPct val="115000"/>
              </a:lnSpc>
              <a:buNone/>
            </a:pPr>
            <a:r>
              <a:rPr lang="en-US" sz="1200" b="1" dirty="0">
                <a:solidFill>
                  <a:srgbClr val="E53E3E"/>
                </a:solidFill>
                <a:latin typeface="Palatino Linotype" pitchFamily="34" charset="0"/>
                <a:ea typeface="Palatino Linotype" pitchFamily="34" charset="-122"/>
                <a:cs typeface="Palatino Linotype" pitchFamily="34" charset="-120"/>
              </a:rPr>
              <a:t>Alert</a:t>
            </a:r>
            <a:endParaRPr lang="en-US" sz="1200" dirty="0"/>
          </a:p>
        </p:txBody>
      </p:sp>
      <p:sp>
        <p:nvSpPr>
          <p:cNvPr id="45" name="Text 43"/>
          <p:cNvSpPr/>
          <p:nvPr/>
        </p:nvSpPr>
        <p:spPr>
          <a:xfrm>
            <a:off x="7287768" y="2898648"/>
            <a:ext cx="1097280" cy="914400"/>
          </a:xfrm>
          <a:prstGeom prst="rect">
            <a:avLst/>
          </a:prstGeom>
          <a:noFill/>
          <a:ln/>
        </p:spPr>
        <p:txBody>
          <a:bodyPr wrap="square" lIns="0" tIns="0" rIns="0" bIns="0" rtlCol="0" anchor="ctr"/>
          <a:lstStyle/>
          <a:p>
            <a:pPr marL="0" indent="0" algn="ctr">
              <a:lnSpc>
                <a:spcPct val="135000"/>
              </a:lnSpc>
              <a:buNone/>
            </a:pPr>
            <a:r>
              <a:rPr lang="en-US" sz="1400" dirty="0">
                <a:solidFill>
                  <a:srgbClr val="1A202C"/>
                </a:solidFill>
                <a:latin typeface="Garamond" pitchFamily="34" charset="0"/>
                <a:ea typeface="Garamond" pitchFamily="34" charset="-122"/>
                <a:cs typeface="Garamond" pitchFamily="34" charset="-120"/>
              </a:rPr>
              <a:t>Append CSV row</a:t>
            </a:r>
            <a:endParaRPr lang="en-US" sz="1400" dirty="0"/>
          </a:p>
          <a:p>
            <a:pPr marL="0" indent="0" algn="ctr">
              <a:lnSpc>
                <a:spcPct val="135000"/>
              </a:lnSpc>
              <a:buNone/>
            </a:pPr>
            <a:r>
              <a:rPr lang="en-US" sz="1400" dirty="0">
                <a:solidFill>
                  <a:srgbClr val="1A202C"/>
                </a:solidFill>
                <a:latin typeface="Garamond" pitchFamily="34" charset="0"/>
                <a:ea typeface="Garamond" pitchFamily="34" charset="-122"/>
                <a:cs typeface="Garamond" pitchFamily="34" charset="-120"/>
              </a:rPr>
              <a:t>with timestamp</a:t>
            </a:r>
            <a:endParaRPr lang="en-US" sz="1400" dirty="0"/>
          </a:p>
        </p:txBody>
      </p:sp>
      <p:sp>
        <p:nvSpPr>
          <p:cNvPr id="46" name="Shape 44"/>
          <p:cNvSpPr/>
          <p:nvPr/>
        </p:nvSpPr>
        <p:spPr>
          <a:xfrm>
            <a:off x="365760" y="4663440"/>
            <a:ext cx="8412480" cy="347472"/>
          </a:xfrm>
          <a:prstGeom prst="rect">
            <a:avLst/>
          </a:prstGeom>
          <a:solidFill>
            <a:srgbClr val="EEF4FB"/>
          </a:solidFill>
          <a:ln w="12700">
            <a:solidFill>
              <a:srgbClr val="29ABE2"/>
            </a:solidFill>
            <a:prstDash val="solid"/>
          </a:ln>
          <a:effectLst>
            <a:outerShdw blurRad="101600" dist="25400" dir="8100000" algn="bl" rotWithShape="0">
              <a:srgbClr val="000000">
                <a:alpha val="9000"/>
              </a:srgbClr>
            </a:outerShdw>
          </a:effectLst>
        </p:spPr>
        <p:txBody>
          <a:bodyPr/>
          <a:lstStyle/>
          <a:p>
            <a:endParaRPr lang="LID4096"/>
          </a:p>
        </p:txBody>
      </p:sp>
      <p:sp>
        <p:nvSpPr>
          <p:cNvPr id="47" name="Text 45"/>
          <p:cNvSpPr/>
          <p:nvPr/>
        </p:nvSpPr>
        <p:spPr>
          <a:xfrm>
            <a:off x="548640" y="4700016"/>
            <a:ext cx="8138160" cy="274320"/>
          </a:xfrm>
          <a:prstGeom prst="rect">
            <a:avLst/>
          </a:prstGeom>
          <a:noFill/>
          <a:ln/>
        </p:spPr>
        <p:txBody>
          <a:bodyPr wrap="square" lIns="0" tIns="0" rIns="0" bIns="0" rtlCol="0" anchor="ctr"/>
          <a:lstStyle/>
          <a:p>
            <a:pPr marL="0" indent="0">
              <a:buNone/>
            </a:pPr>
            <a:r>
              <a:rPr lang="en-US" sz="1200" b="1" dirty="0">
                <a:solidFill>
                  <a:srgbClr val="1A6FC4"/>
                </a:solidFill>
                <a:latin typeface="Garamond" pitchFamily="34" charset="0"/>
                <a:ea typeface="Garamond" pitchFamily="34" charset="-122"/>
                <a:cs typeface="Garamond" pitchFamily="34" charset="-120"/>
              </a:rPr>
              <a:t>--tui flag:</a:t>
            </a:r>
            <a:r>
              <a:rPr lang="en-US" sz="1200" dirty="0">
                <a:solidFill>
                  <a:srgbClr val="1A202C"/>
                </a:solidFill>
                <a:latin typeface="Garamond" pitchFamily="34" charset="0"/>
                <a:ea typeface="Garamond" pitchFamily="34" charset="-122"/>
                <a:cs typeface="Garamond" pitchFamily="34" charset="-120"/>
              </a:rPr>
              <a:t>  Live terminal dashboard via rich library — progress bar, anomaly score, effective threshold, alert count, calibration status and ETA.</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28600"/>
            <a:ext cx="64008" cy="530352"/>
          </a:xfrm>
          <a:prstGeom prst="rect">
            <a:avLst/>
          </a:prstGeom>
          <a:solidFill>
            <a:srgbClr val="29ABE2"/>
          </a:solidFill>
          <a:ln w="12700">
            <a:solidFill>
              <a:srgbClr val="29ABE2"/>
            </a:solidFill>
            <a:prstDash val="solid"/>
          </a:ln>
        </p:spPr>
        <p:txBody>
          <a:bodyPr/>
          <a:lstStyle/>
          <a:p>
            <a:endParaRPr lang="LID4096"/>
          </a:p>
        </p:txBody>
      </p:sp>
      <p:sp>
        <p:nvSpPr>
          <p:cNvPr id="3" name="Text 1"/>
          <p:cNvSpPr/>
          <p:nvPr/>
        </p:nvSpPr>
        <p:spPr>
          <a:xfrm>
            <a:off x="566928" y="173736"/>
            <a:ext cx="8321040" cy="548640"/>
          </a:xfrm>
          <a:prstGeom prst="rect">
            <a:avLst/>
          </a:prstGeom>
          <a:noFill/>
          <a:ln/>
        </p:spPr>
        <p:txBody>
          <a:bodyPr wrap="square" lIns="0" tIns="0" rIns="0" bIns="0" rtlCol="0" anchor="ctr"/>
          <a:lstStyle/>
          <a:p>
            <a:pPr marL="0" indent="0">
              <a:buNone/>
            </a:pPr>
            <a:r>
              <a:rPr lang="en-US" sz="2600" b="1" dirty="0">
                <a:solidFill>
                  <a:srgbClr val="0A2342"/>
                </a:solidFill>
                <a:latin typeface="Palatino Linotype" pitchFamily="34" charset="0"/>
                <a:ea typeface="Palatino Linotype" pitchFamily="34" charset="-122"/>
                <a:cs typeface="Palatino Linotype" pitchFamily="34" charset="-120"/>
              </a:rPr>
              <a:t>Results at a Glance</a:t>
            </a:r>
            <a:endParaRPr lang="en-US" sz="2600" dirty="0"/>
          </a:p>
        </p:txBody>
      </p:sp>
      <p:sp>
        <p:nvSpPr>
          <p:cNvPr id="4" name="Text 2"/>
          <p:cNvSpPr/>
          <p:nvPr/>
        </p:nvSpPr>
        <p:spPr>
          <a:xfrm>
            <a:off x="566928" y="731520"/>
            <a:ext cx="8046720" cy="274320"/>
          </a:xfrm>
          <a:prstGeom prst="rect">
            <a:avLst/>
          </a:prstGeom>
          <a:noFill/>
          <a:ln/>
        </p:spPr>
        <p:txBody>
          <a:bodyPr wrap="square" lIns="0" tIns="0" rIns="0" bIns="0" rtlCol="0" anchor="ctr"/>
          <a:lstStyle/>
          <a:p>
            <a:pPr marL="0" indent="0">
              <a:buNone/>
            </a:pPr>
            <a:r>
              <a:rPr lang="en-US" sz="1250" dirty="0">
                <a:solidFill>
                  <a:srgbClr val="64748B"/>
                </a:solidFill>
                <a:latin typeface="Garamond" pitchFamily="34" charset="0"/>
                <a:ea typeface="Garamond" pitchFamily="34" charset="-122"/>
                <a:cs typeface="Garamond" pitchFamily="34" charset="-120"/>
              </a:rPr>
              <a:t>Key performance highlights across 4 datasets · 4 models · 3 metric layers</a:t>
            </a:r>
            <a:endParaRPr lang="en-US" sz="1250" dirty="0"/>
          </a:p>
        </p:txBody>
      </p:sp>
      <p:sp>
        <p:nvSpPr>
          <p:cNvPr id="5" name="Shape 3"/>
          <p:cNvSpPr/>
          <p:nvPr/>
        </p:nvSpPr>
        <p:spPr>
          <a:xfrm>
            <a:off x="365760" y="1143000"/>
            <a:ext cx="1938528" cy="3520440"/>
          </a:xfrm>
          <a:prstGeom prst="rect">
            <a:avLst/>
          </a:prstGeom>
          <a:solidFill>
            <a:srgbClr val="EEF4FB"/>
          </a:solidFill>
          <a:ln w="25400">
            <a:solidFill>
              <a:srgbClr val="1A6FC4"/>
            </a:solidFill>
            <a:prstDash val="solid"/>
          </a:ln>
          <a:effectLst>
            <a:outerShdw blurRad="101600" dist="25400" dir="8100000" algn="bl" rotWithShape="0">
              <a:srgbClr val="000000">
                <a:alpha val="9000"/>
              </a:srgbClr>
            </a:outerShdw>
          </a:effectLst>
        </p:spPr>
        <p:txBody>
          <a:bodyPr/>
          <a:lstStyle/>
          <a:p>
            <a:endParaRPr lang="LID4096"/>
          </a:p>
        </p:txBody>
      </p:sp>
      <p:sp>
        <p:nvSpPr>
          <p:cNvPr id="6" name="Shape 4"/>
          <p:cNvSpPr/>
          <p:nvPr/>
        </p:nvSpPr>
        <p:spPr>
          <a:xfrm>
            <a:off x="365760" y="1143000"/>
            <a:ext cx="1938528" cy="64008"/>
          </a:xfrm>
          <a:prstGeom prst="rect">
            <a:avLst/>
          </a:prstGeom>
          <a:solidFill>
            <a:srgbClr val="1A6FC4"/>
          </a:solidFill>
          <a:ln w="12700">
            <a:solidFill>
              <a:srgbClr val="1A6FC4"/>
            </a:solidFill>
            <a:prstDash val="solid"/>
          </a:ln>
        </p:spPr>
        <p:txBody>
          <a:bodyPr/>
          <a:lstStyle/>
          <a:p>
            <a:endParaRPr lang="LID4096"/>
          </a:p>
        </p:txBody>
      </p:sp>
      <p:sp>
        <p:nvSpPr>
          <p:cNvPr id="7" name="Text 5"/>
          <p:cNvSpPr/>
          <p:nvPr/>
        </p:nvSpPr>
        <p:spPr>
          <a:xfrm>
            <a:off x="365760" y="1325880"/>
            <a:ext cx="1938528" cy="1005840"/>
          </a:xfrm>
          <a:prstGeom prst="rect">
            <a:avLst/>
          </a:prstGeom>
          <a:noFill/>
          <a:ln/>
        </p:spPr>
        <p:txBody>
          <a:bodyPr wrap="square" lIns="0" tIns="0" rIns="0" bIns="0" rtlCol="0" anchor="ctr"/>
          <a:lstStyle/>
          <a:p>
            <a:pPr marL="0" indent="0" algn="ctr">
              <a:buNone/>
            </a:pPr>
            <a:r>
              <a:rPr lang="en-US" sz="5000" b="1" dirty="0">
                <a:solidFill>
                  <a:srgbClr val="1A6FC4"/>
                </a:solidFill>
                <a:latin typeface="Palatino Linotype" pitchFamily="34" charset="0"/>
                <a:ea typeface="Palatino Linotype" pitchFamily="34" charset="-122"/>
                <a:cs typeface="Palatino Linotype" pitchFamily="34" charset="-120"/>
              </a:rPr>
              <a:t>1.000</a:t>
            </a:r>
            <a:endParaRPr lang="en-US" sz="5000" dirty="0"/>
          </a:p>
        </p:txBody>
      </p:sp>
      <p:sp>
        <p:nvSpPr>
          <p:cNvPr id="8" name="Text 6"/>
          <p:cNvSpPr/>
          <p:nvPr/>
        </p:nvSpPr>
        <p:spPr>
          <a:xfrm>
            <a:off x="457200" y="2395728"/>
            <a:ext cx="1755648" cy="347472"/>
          </a:xfrm>
          <a:prstGeom prst="rect">
            <a:avLst/>
          </a:prstGeom>
          <a:noFill/>
          <a:ln/>
        </p:spPr>
        <p:txBody>
          <a:bodyPr wrap="square" lIns="0" tIns="0" rIns="0" bIns="0" rtlCol="0" anchor="ctr"/>
          <a:lstStyle/>
          <a:p>
            <a:pPr marL="0" indent="0" algn="ctr">
              <a:buNone/>
            </a:pPr>
            <a:r>
              <a:rPr lang="en-US" sz="1250" b="1" dirty="0">
                <a:solidFill>
                  <a:srgbClr val="0A2342"/>
                </a:solidFill>
                <a:latin typeface="Palatino Linotype" pitchFamily="34" charset="0"/>
                <a:ea typeface="Palatino Linotype" pitchFamily="34" charset="-122"/>
                <a:cs typeface="Palatino Linotype" pitchFamily="34" charset="-120"/>
              </a:rPr>
              <a:t>Event-Level F1</a:t>
            </a:r>
            <a:endParaRPr lang="en-US" sz="1250" dirty="0"/>
          </a:p>
        </p:txBody>
      </p:sp>
      <p:sp>
        <p:nvSpPr>
          <p:cNvPr id="9" name="Shape 7"/>
          <p:cNvSpPr/>
          <p:nvPr/>
        </p:nvSpPr>
        <p:spPr>
          <a:xfrm>
            <a:off x="594360" y="2807208"/>
            <a:ext cx="1463040" cy="18288"/>
          </a:xfrm>
          <a:prstGeom prst="rect">
            <a:avLst/>
          </a:prstGeom>
          <a:solidFill>
            <a:srgbClr val="CBD5E0"/>
          </a:solidFill>
          <a:ln w="12700">
            <a:solidFill>
              <a:srgbClr val="CBD5E0"/>
            </a:solidFill>
            <a:prstDash val="solid"/>
          </a:ln>
        </p:spPr>
        <p:txBody>
          <a:bodyPr/>
          <a:lstStyle/>
          <a:p>
            <a:endParaRPr lang="LID4096"/>
          </a:p>
        </p:txBody>
      </p:sp>
      <p:sp>
        <p:nvSpPr>
          <p:cNvPr id="10" name="Text 8"/>
          <p:cNvSpPr/>
          <p:nvPr/>
        </p:nvSpPr>
        <p:spPr>
          <a:xfrm>
            <a:off x="457200" y="2880360"/>
            <a:ext cx="1755648" cy="822960"/>
          </a:xfrm>
          <a:prstGeom prst="rect">
            <a:avLst/>
          </a:prstGeom>
          <a:noFill/>
          <a:ln/>
        </p:spPr>
        <p:txBody>
          <a:bodyPr wrap="square" lIns="0" tIns="0" rIns="0" bIns="0" rtlCol="0" anchor="ctr"/>
          <a:lstStyle/>
          <a:p>
            <a:pPr marL="0" indent="0" algn="ctr">
              <a:lnSpc>
                <a:spcPct val="135000"/>
              </a:lnSpc>
              <a:buNone/>
            </a:pPr>
            <a:r>
              <a:rPr lang="en-US" sz="1400" dirty="0">
                <a:solidFill>
                  <a:srgbClr val="64748B"/>
                </a:solidFill>
                <a:latin typeface="Garamond" pitchFamily="34" charset="0"/>
                <a:ea typeface="Garamond" pitchFamily="34" charset="-122"/>
                <a:cs typeface="Garamond" pitchFamily="34" charset="-120"/>
              </a:rPr>
              <a:t>Z-score on SKAB valve1/1</a:t>
            </a:r>
            <a:endParaRPr lang="en-US" sz="1400" dirty="0"/>
          </a:p>
          <a:p>
            <a:pPr marL="0" indent="0" algn="ctr">
              <a:lnSpc>
                <a:spcPct val="135000"/>
              </a:lnSpc>
              <a:buNone/>
            </a:pPr>
            <a:r>
              <a:rPr lang="en-US" sz="1400" dirty="0">
                <a:solidFill>
                  <a:srgbClr val="64748B"/>
                </a:solidFill>
                <a:latin typeface="Garamond" pitchFamily="34" charset="0"/>
                <a:ea typeface="Garamond" pitchFamily="34" charset="-122"/>
                <a:cs typeface="Garamond" pitchFamily="34" charset="-120"/>
              </a:rPr>
              <a:t>Perfect alert coherence</a:t>
            </a:r>
            <a:endParaRPr lang="en-US" sz="1400" dirty="0"/>
          </a:p>
        </p:txBody>
      </p:sp>
      <p:sp>
        <p:nvSpPr>
          <p:cNvPr id="11" name="Shape 9"/>
          <p:cNvSpPr/>
          <p:nvPr/>
        </p:nvSpPr>
        <p:spPr>
          <a:xfrm>
            <a:off x="2487168" y="1143000"/>
            <a:ext cx="1938528" cy="3520440"/>
          </a:xfrm>
          <a:prstGeom prst="rect">
            <a:avLst/>
          </a:prstGeom>
          <a:solidFill>
            <a:srgbClr val="E8F8F5"/>
          </a:solidFill>
          <a:ln w="25400">
            <a:solidFill>
              <a:srgbClr val="00B4A6"/>
            </a:solidFill>
            <a:prstDash val="solid"/>
          </a:ln>
          <a:effectLst>
            <a:outerShdw blurRad="101600" dist="25400" dir="8100000" algn="bl" rotWithShape="0">
              <a:srgbClr val="000000">
                <a:alpha val="9000"/>
              </a:srgbClr>
            </a:outerShdw>
          </a:effectLst>
        </p:spPr>
        <p:txBody>
          <a:bodyPr/>
          <a:lstStyle/>
          <a:p>
            <a:endParaRPr lang="LID4096"/>
          </a:p>
        </p:txBody>
      </p:sp>
      <p:sp>
        <p:nvSpPr>
          <p:cNvPr id="12" name="Shape 10"/>
          <p:cNvSpPr/>
          <p:nvPr/>
        </p:nvSpPr>
        <p:spPr>
          <a:xfrm>
            <a:off x="2487168" y="1143000"/>
            <a:ext cx="1938528" cy="64008"/>
          </a:xfrm>
          <a:prstGeom prst="rect">
            <a:avLst/>
          </a:prstGeom>
          <a:solidFill>
            <a:srgbClr val="00B4A6"/>
          </a:solidFill>
          <a:ln w="12700">
            <a:solidFill>
              <a:srgbClr val="00B4A6"/>
            </a:solidFill>
            <a:prstDash val="solid"/>
          </a:ln>
        </p:spPr>
        <p:txBody>
          <a:bodyPr/>
          <a:lstStyle/>
          <a:p>
            <a:endParaRPr lang="LID4096"/>
          </a:p>
        </p:txBody>
      </p:sp>
      <p:sp>
        <p:nvSpPr>
          <p:cNvPr id="13" name="Text 11"/>
          <p:cNvSpPr/>
          <p:nvPr/>
        </p:nvSpPr>
        <p:spPr>
          <a:xfrm>
            <a:off x="2487168" y="1325880"/>
            <a:ext cx="1938528" cy="1005840"/>
          </a:xfrm>
          <a:prstGeom prst="rect">
            <a:avLst/>
          </a:prstGeom>
          <a:noFill/>
          <a:ln/>
        </p:spPr>
        <p:txBody>
          <a:bodyPr wrap="square" lIns="0" tIns="0" rIns="0" bIns="0" rtlCol="0" anchor="ctr"/>
          <a:lstStyle/>
          <a:p>
            <a:pPr marL="0" indent="0" algn="ctr">
              <a:buNone/>
            </a:pPr>
            <a:r>
              <a:rPr lang="en-US" sz="5000" b="1" dirty="0">
                <a:solidFill>
                  <a:srgbClr val="00B4A6"/>
                </a:solidFill>
                <a:latin typeface="Palatino Linotype" pitchFamily="34" charset="0"/>
                <a:ea typeface="Palatino Linotype" pitchFamily="34" charset="-122"/>
                <a:cs typeface="Palatino Linotype" pitchFamily="34" charset="-120"/>
              </a:rPr>
              <a:t>0.950</a:t>
            </a:r>
            <a:endParaRPr lang="en-US" sz="5000" dirty="0"/>
          </a:p>
        </p:txBody>
      </p:sp>
      <p:sp>
        <p:nvSpPr>
          <p:cNvPr id="14" name="Text 12"/>
          <p:cNvSpPr/>
          <p:nvPr/>
        </p:nvSpPr>
        <p:spPr>
          <a:xfrm>
            <a:off x="2578608" y="2395728"/>
            <a:ext cx="1755648" cy="347472"/>
          </a:xfrm>
          <a:prstGeom prst="rect">
            <a:avLst/>
          </a:prstGeom>
          <a:noFill/>
          <a:ln/>
        </p:spPr>
        <p:txBody>
          <a:bodyPr wrap="square" lIns="0" tIns="0" rIns="0" bIns="0" rtlCol="0" anchor="ctr"/>
          <a:lstStyle/>
          <a:p>
            <a:pPr marL="0" indent="0" algn="ctr">
              <a:buNone/>
            </a:pPr>
            <a:r>
              <a:rPr lang="en-US" sz="1250" b="1" dirty="0">
                <a:solidFill>
                  <a:srgbClr val="0A2342"/>
                </a:solidFill>
                <a:latin typeface="Palatino Linotype" pitchFamily="34" charset="0"/>
                <a:ea typeface="Palatino Linotype" pitchFamily="34" charset="-122"/>
                <a:cs typeface="Palatino Linotype" pitchFamily="34" charset="-120"/>
              </a:rPr>
              <a:t>PR-AUC</a:t>
            </a:r>
            <a:endParaRPr lang="en-US" sz="1250" dirty="0"/>
          </a:p>
        </p:txBody>
      </p:sp>
      <p:sp>
        <p:nvSpPr>
          <p:cNvPr id="15" name="Shape 13"/>
          <p:cNvSpPr/>
          <p:nvPr/>
        </p:nvSpPr>
        <p:spPr>
          <a:xfrm>
            <a:off x="2715768" y="2807208"/>
            <a:ext cx="1463040" cy="18288"/>
          </a:xfrm>
          <a:prstGeom prst="rect">
            <a:avLst/>
          </a:prstGeom>
          <a:solidFill>
            <a:srgbClr val="CBD5E0"/>
          </a:solidFill>
          <a:ln w="12700">
            <a:solidFill>
              <a:srgbClr val="CBD5E0"/>
            </a:solidFill>
            <a:prstDash val="solid"/>
          </a:ln>
        </p:spPr>
        <p:txBody>
          <a:bodyPr/>
          <a:lstStyle/>
          <a:p>
            <a:endParaRPr lang="LID4096"/>
          </a:p>
        </p:txBody>
      </p:sp>
      <p:sp>
        <p:nvSpPr>
          <p:cNvPr id="16" name="Text 14"/>
          <p:cNvSpPr/>
          <p:nvPr/>
        </p:nvSpPr>
        <p:spPr>
          <a:xfrm>
            <a:off x="2578608" y="2880360"/>
            <a:ext cx="1755648" cy="822960"/>
          </a:xfrm>
          <a:prstGeom prst="rect">
            <a:avLst/>
          </a:prstGeom>
          <a:noFill/>
          <a:ln/>
        </p:spPr>
        <p:txBody>
          <a:bodyPr wrap="square" lIns="0" tIns="0" rIns="0" bIns="0" rtlCol="0" anchor="ctr"/>
          <a:lstStyle/>
          <a:p>
            <a:pPr marL="0" indent="0" algn="ctr">
              <a:lnSpc>
                <a:spcPct val="135000"/>
              </a:lnSpc>
              <a:buNone/>
            </a:pPr>
            <a:r>
              <a:rPr lang="en-US" sz="1400" dirty="0">
                <a:solidFill>
                  <a:srgbClr val="64748B"/>
                </a:solidFill>
                <a:latin typeface="Garamond" pitchFamily="34" charset="0"/>
                <a:ea typeface="Garamond" pitchFamily="34" charset="-122"/>
                <a:cs typeface="Garamond" pitchFamily="34" charset="-120"/>
              </a:rPr>
              <a:t>LSTM-AE on NAB ec2_network</a:t>
            </a:r>
            <a:endParaRPr lang="en-US" sz="1400" dirty="0"/>
          </a:p>
          <a:p>
            <a:pPr marL="0" indent="0" algn="ctr">
              <a:lnSpc>
                <a:spcPct val="135000"/>
              </a:lnSpc>
              <a:buNone/>
            </a:pPr>
            <a:r>
              <a:rPr lang="en-US" sz="1400" dirty="0">
                <a:solidFill>
                  <a:srgbClr val="64748B"/>
                </a:solidFill>
                <a:latin typeface="Garamond" pitchFamily="34" charset="0"/>
                <a:ea typeface="Garamond" pitchFamily="34" charset="-122"/>
                <a:cs typeface="Garamond" pitchFamily="34" charset="-120"/>
              </a:rPr>
              <a:t>Best ranking quality</a:t>
            </a:r>
            <a:endParaRPr lang="en-US" sz="1400" dirty="0"/>
          </a:p>
        </p:txBody>
      </p:sp>
      <p:sp>
        <p:nvSpPr>
          <p:cNvPr id="17" name="Shape 15"/>
          <p:cNvSpPr/>
          <p:nvPr/>
        </p:nvSpPr>
        <p:spPr>
          <a:xfrm>
            <a:off x="4608576" y="1143000"/>
            <a:ext cx="1938528" cy="3520440"/>
          </a:xfrm>
          <a:prstGeom prst="rect">
            <a:avLst/>
          </a:prstGeom>
          <a:solidFill>
            <a:srgbClr val="F0FDF4"/>
          </a:solidFill>
          <a:ln w="25400">
            <a:solidFill>
              <a:srgbClr val="2DC653"/>
            </a:solidFill>
            <a:prstDash val="solid"/>
          </a:ln>
          <a:effectLst>
            <a:outerShdw blurRad="101600" dist="25400" dir="8100000" algn="bl" rotWithShape="0">
              <a:srgbClr val="000000">
                <a:alpha val="9000"/>
              </a:srgbClr>
            </a:outerShdw>
          </a:effectLst>
        </p:spPr>
        <p:txBody>
          <a:bodyPr/>
          <a:lstStyle/>
          <a:p>
            <a:endParaRPr lang="LID4096"/>
          </a:p>
        </p:txBody>
      </p:sp>
      <p:sp>
        <p:nvSpPr>
          <p:cNvPr id="18" name="Shape 16"/>
          <p:cNvSpPr/>
          <p:nvPr/>
        </p:nvSpPr>
        <p:spPr>
          <a:xfrm>
            <a:off x="4608576" y="1143000"/>
            <a:ext cx="1938528" cy="64008"/>
          </a:xfrm>
          <a:prstGeom prst="rect">
            <a:avLst/>
          </a:prstGeom>
          <a:solidFill>
            <a:srgbClr val="2DC653"/>
          </a:solidFill>
          <a:ln w="12700">
            <a:solidFill>
              <a:srgbClr val="2DC653"/>
            </a:solidFill>
            <a:prstDash val="solid"/>
          </a:ln>
        </p:spPr>
        <p:txBody>
          <a:bodyPr/>
          <a:lstStyle/>
          <a:p>
            <a:endParaRPr lang="LID4096"/>
          </a:p>
        </p:txBody>
      </p:sp>
      <p:sp>
        <p:nvSpPr>
          <p:cNvPr id="19" name="Text 17"/>
          <p:cNvSpPr/>
          <p:nvPr/>
        </p:nvSpPr>
        <p:spPr>
          <a:xfrm>
            <a:off x="4608576" y="1325880"/>
            <a:ext cx="1938528" cy="1005840"/>
          </a:xfrm>
          <a:prstGeom prst="rect">
            <a:avLst/>
          </a:prstGeom>
          <a:noFill/>
          <a:ln/>
        </p:spPr>
        <p:txBody>
          <a:bodyPr wrap="square" lIns="0" tIns="0" rIns="0" bIns="0" rtlCol="0" anchor="ctr"/>
          <a:lstStyle/>
          <a:p>
            <a:pPr marL="0" indent="0" algn="ctr">
              <a:buNone/>
            </a:pPr>
            <a:r>
              <a:rPr lang="en-US" sz="5000" b="1" dirty="0">
                <a:solidFill>
                  <a:srgbClr val="2DC653"/>
                </a:solidFill>
                <a:latin typeface="Palatino Linotype" pitchFamily="34" charset="0"/>
                <a:ea typeface="Palatino Linotype" pitchFamily="34" charset="-122"/>
                <a:cs typeface="Palatino Linotype" pitchFamily="34" charset="-120"/>
              </a:rPr>
              <a:t>1.000</a:t>
            </a:r>
            <a:endParaRPr lang="en-US" sz="5000" dirty="0"/>
          </a:p>
        </p:txBody>
      </p:sp>
      <p:sp>
        <p:nvSpPr>
          <p:cNvPr id="20" name="Text 18"/>
          <p:cNvSpPr/>
          <p:nvPr/>
        </p:nvSpPr>
        <p:spPr>
          <a:xfrm>
            <a:off x="4700016" y="2395728"/>
            <a:ext cx="1755648" cy="347472"/>
          </a:xfrm>
          <a:prstGeom prst="rect">
            <a:avLst/>
          </a:prstGeom>
          <a:noFill/>
          <a:ln/>
        </p:spPr>
        <p:txBody>
          <a:bodyPr wrap="square" lIns="0" tIns="0" rIns="0" bIns="0" rtlCol="0" anchor="ctr"/>
          <a:lstStyle/>
          <a:p>
            <a:pPr marL="0" indent="0" algn="ctr">
              <a:buNone/>
            </a:pPr>
            <a:r>
              <a:rPr lang="en-US" sz="1250" b="1" dirty="0">
                <a:solidFill>
                  <a:srgbClr val="0A2342"/>
                </a:solidFill>
                <a:latin typeface="Palatino Linotype" pitchFamily="34" charset="0"/>
                <a:ea typeface="Palatino Linotype" pitchFamily="34" charset="-122"/>
                <a:cs typeface="Palatino Linotype" pitchFamily="34" charset="-120"/>
              </a:rPr>
              <a:t>Event-Level F1</a:t>
            </a:r>
            <a:endParaRPr lang="en-US" sz="1250" dirty="0"/>
          </a:p>
        </p:txBody>
      </p:sp>
      <p:sp>
        <p:nvSpPr>
          <p:cNvPr id="21" name="Shape 19"/>
          <p:cNvSpPr/>
          <p:nvPr/>
        </p:nvSpPr>
        <p:spPr>
          <a:xfrm>
            <a:off x="4837176" y="2807208"/>
            <a:ext cx="1463040" cy="18288"/>
          </a:xfrm>
          <a:prstGeom prst="rect">
            <a:avLst/>
          </a:prstGeom>
          <a:solidFill>
            <a:srgbClr val="CBD5E0"/>
          </a:solidFill>
          <a:ln w="12700">
            <a:solidFill>
              <a:srgbClr val="CBD5E0"/>
            </a:solidFill>
            <a:prstDash val="solid"/>
          </a:ln>
        </p:spPr>
        <p:txBody>
          <a:bodyPr/>
          <a:lstStyle/>
          <a:p>
            <a:endParaRPr lang="LID4096"/>
          </a:p>
        </p:txBody>
      </p:sp>
      <p:sp>
        <p:nvSpPr>
          <p:cNvPr id="22" name="Text 20"/>
          <p:cNvSpPr/>
          <p:nvPr/>
        </p:nvSpPr>
        <p:spPr>
          <a:xfrm>
            <a:off x="4700016" y="2880360"/>
            <a:ext cx="1755648" cy="822960"/>
          </a:xfrm>
          <a:prstGeom prst="rect">
            <a:avLst/>
          </a:prstGeom>
          <a:noFill/>
          <a:ln/>
        </p:spPr>
        <p:txBody>
          <a:bodyPr wrap="square" lIns="0" tIns="0" rIns="0" bIns="0" rtlCol="0" anchor="ctr"/>
          <a:lstStyle/>
          <a:p>
            <a:pPr marL="0" indent="0" algn="ctr">
              <a:lnSpc>
                <a:spcPct val="135000"/>
              </a:lnSpc>
              <a:buNone/>
            </a:pPr>
            <a:r>
              <a:rPr lang="en-US" sz="1400" dirty="0">
                <a:solidFill>
                  <a:srgbClr val="64748B"/>
                </a:solidFill>
                <a:latin typeface="Garamond" pitchFamily="34" charset="0"/>
                <a:ea typeface="Garamond" pitchFamily="34" charset="-122"/>
                <a:cs typeface="Garamond" pitchFamily="34" charset="-120"/>
              </a:rPr>
              <a:t>LSTM-AE on NAB ec2_network</a:t>
            </a:r>
            <a:endParaRPr lang="en-US" sz="1400" dirty="0"/>
          </a:p>
          <a:p>
            <a:pPr marL="0" indent="0" algn="ctr">
              <a:lnSpc>
                <a:spcPct val="135000"/>
              </a:lnSpc>
              <a:buNone/>
            </a:pPr>
            <a:r>
              <a:rPr lang="en-US" sz="1400" dirty="0">
                <a:solidFill>
                  <a:srgbClr val="64748B"/>
                </a:solidFill>
                <a:latin typeface="Garamond" pitchFamily="34" charset="0"/>
                <a:ea typeface="Garamond" pitchFamily="34" charset="-122"/>
                <a:cs typeface="Garamond" pitchFamily="34" charset="-120"/>
              </a:rPr>
              <a:t>0 false positive events</a:t>
            </a:r>
            <a:endParaRPr lang="en-US" sz="1400" dirty="0"/>
          </a:p>
        </p:txBody>
      </p:sp>
      <p:sp>
        <p:nvSpPr>
          <p:cNvPr id="23" name="Shape 21"/>
          <p:cNvSpPr/>
          <p:nvPr/>
        </p:nvSpPr>
        <p:spPr>
          <a:xfrm>
            <a:off x="6729984" y="1143000"/>
            <a:ext cx="1938528" cy="3520440"/>
          </a:xfrm>
          <a:prstGeom prst="rect">
            <a:avLst/>
          </a:prstGeom>
          <a:solidFill>
            <a:srgbClr val="FFF8F0"/>
          </a:solidFill>
          <a:ln w="25400">
            <a:solidFill>
              <a:srgbClr val="F4844C"/>
            </a:solidFill>
            <a:prstDash val="solid"/>
          </a:ln>
          <a:effectLst>
            <a:outerShdw blurRad="101600" dist="25400" dir="8100000" algn="bl" rotWithShape="0">
              <a:srgbClr val="000000">
                <a:alpha val="9000"/>
              </a:srgbClr>
            </a:outerShdw>
          </a:effectLst>
        </p:spPr>
        <p:txBody>
          <a:bodyPr/>
          <a:lstStyle/>
          <a:p>
            <a:endParaRPr lang="LID4096"/>
          </a:p>
        </p:txBody>
      </p:sp>
      <p:sp>
        <p:nvSpPr>
          <p:cNvPr id="24" name="Shape 22"/>
          <p:cNvSpPr/>
          <p:nvPr/>
        </p:nvSpPr>
        <p:spPr>
          <a:xfrm>
            <a:off x="6729984" y="1143000"/>
            <a:ext cx="1938528" cy="64008"/>
          </a:xfrm>
          <a:prstGeom prst="rect">
            <a:avLst/>
          </a:prstGeom>
          <a:solidFill>
            <a:srgbClr val="F4844C"/>
          </a:solidFill>
          <a:ln w="12700">
            <a:solidFill>
              <a:srgbClr val="F4844C"/>
            </a:solidFill>
            <a:prstDash val="solid"/>
          </a:ln>
        </p:spPr>
        <p:txBody>
          <a:bodyPr/>
          <a:lstStyle/>
          <a:p>
            <a:endParaRPr lang="LID4096"/>
          </a:p>
        </p:txBody>
      </p:sp>
      <p:sp>
        <p:nvSpPr>
          <p:cNvPr id="25" name="Text 23"/>
          <p:cNvSpPr/>
          <p:nvPr/>
        </p:nvSpPr>
        <p:spPr>
          <a:xfrm>
            <a:off x="6729984" y="1325880"/>
            <a:ext cx="1938528" cy="1005840"/>
          </a:xfrm>
          <a:prstGeom prst="rect">
            <a:avLst/>
          </a:prstGeom>
          <a:noFill/>
          <a:ln/>
        </p:spPr>
        <p:txBody>
          <a:bodyPr wrap="square" lIns="0" tIns="0" rIns="0" bIns="0" rtlCol="0" anchor="ctr"/>
          <a:lstStyle/>
          <a:p>
            <a:pPr marL="0" indent="0" algn="ctr">
              <a:buNone/>
            </a:pPr>
            <a:r>
              <a:rPr lang="en-US" sz="5000" b="1" dirty="0">
                <a:solidFill>
                  <a:srgbClr val="F4844C"/>
                </a:solidFill>
                <a:latin typeface="Palatino Linotype" pitchFamily="34" charset="0"/>
                <a:ea typeface="Palatino Linotype" pitchFamily="34" charset="-122"/>
                <a:cs typeface="Palatino Linotype" pitchFamily="34" charset="-120"/>
              </a:rPr>
              <a:t>0.677</a:t>
            </a:r>
            <a:endParaRPr lang="en-US" sz="5000" dirty="0"/>
          </a:p>
        </p:txBody>
      </p:sp>
      <p:sp>
        <p:nvSpPr>
          <p:cNvPr id="26" name="Text 24"/>
          <p:cNvSpPr/>
          <p:nvPr/>
        </p:nvSpPr>
        <p:spPr>
          <a:xfrm>
            <a:off x="6821424" y="2395728"/>
            <a:ext cx="1755648" cy="347472"/>
          </a:xfrm>
          <a:prstGeom prst="rect">
            <a:avLst/>
          </a:prstGeom>
          <a:noFill/>
          <a:ln/>
        </p:spPr>
        <p:txBody>
          <a:bodyPr wrap="square" lIns="0" tIns="0" rIns="0" bIns="0" rtlCol="0" anchor="ctr"/>
          <a:lstStyle/>
          <a:p>
            <a:pPr marL="0" indent="0" algn="ctr">
              <a:buNone/>
            </a:pPr>
            <a:r>
              <a:rPr lang="en-US" sz="1250" b="1" dirty="0">
                <a:solidFill>
                  <a:srgbClr val="0A2342"/>
                </a:solidFill>
                <a:latin typeface="Palatino Linotype" pitchFamily="34" charset="0"/>
                <a:ea typeface="Palatino Linotype" pitchFamily="34" charset="-122"/>
                <a:cs typeface="Palatino Linotype" pitchFamily="34" charset="-120"/>
              </a:rPr>
              <a:t>Best Point-F1</a:t>
            </a:r>
            <a:endParaRPr lang="en-US" sz="1250" dirty="0"/>
          </a:p>
        </p:txBody>
      </p:sp>
      <p:sp>
        <p:nvSpPr>
          <p:cNvPr id="27" name="Shape 25"/>
          <p:cNvSpPr/>
          <p:nvPr/>
        </p:nvSpPr>
        <p:spPr>
          <a:xfrm>
            <a:off x="6958584" y="2807208"/>
            <a:ext cx="1463040" cy="18288"/>
          </a:xfrm>
          <a:prstGeom prst="rect">
            <a:avLst/>
          </a:prstGeom>
          <a:solidFill>
            <a:srgbClr val="CBD5E0"/>
          </a:solidFill>
          <a:ln w="12700">
            <a:solidFill>
              <a:srgbClr val="CBD5E0"/>
            </a:solidFill>
            <a:prstDash val="solid"/>
          </a:ln>
        </p:spPr>
        <p:txBody>
          <a:bodyPr/>
          <a:lstStyle/>
          <a:p>
            <a:endParaRPr lang="LID4096"/>
          </a:p>
        </p:txBody>
      </p:sp>
      <p:sp>
        <p:nvSpPr>
          <p:cNvPr id="28" name="Text 26"/>
          <p:cNvSpPr/>
          <p:nvPr/>
        </p:nvSpPr>
        <p:spPr>
          <a:xfrm>
            <a:off x="6821424" y="2880360"/>
            <a:ext cx="1755648" cy="822960"/>
          </a:xfrm>
          <a:prstGeom prst="rect">
            <a:avLst/>
          </a:prstGeom>
          <a:noFill/>
          <a:ln/>
        </p:spPr>
        <p:txBody>
          <a:bodyPr wrap="square" lIns="0" tIns="0" rIns="0" bIns="0" rtlCol="0" anchor="ctr"/>
          <a:lstStyle/>
          <a:p>
            <a:pPr marL="0" indent="0" algn="ctr">
              <a:lnSpc>
                <a:spcPct val="135000"/>
              </a:lnSpc>
              <a:buNone/>
            </a:pPr>
            <a:r>
              <a:rPr lang="en-US" sz="1400" dirty="0">
                <a:solidFill>
                  <a:srgbClr val="64748B"/>
                </a:solidFill>
                <a:latin typeface="Garamond" pitchFamily="34" charset="0"/>
                <a:ea typeface="Garamond" pitchFamily="34" charset="-122"/>
                <a:cs typeface="Garamond" pitchFamily="34" charset="-120"/>
              </a:rPr>
              <a:t>Z-score leads SKAB</a:t>
            </a:r>
            <a:endParaRPr lang="en-US" sz="1400" dirty="0"/>
          </a:p>
          <a:p>
            <a:pPr marL="0" indent="0" algn="ctr">
              <a:lnSpc>
                <a:spcPct val="135000"/>
              </a:lnSpc>
              <a:buNone/>
            </a:pPr>
            <a:r>
              <a:rPr lang="en-US" sz="1400" dirty="0">
                <a:solidFill>
                  <a:srgbClr val="64748B"/>
                </a:solidFill>
                <a:latin typeface="Garamond" pitchFamily="34" charset="0"/>
                <a:ea typeface="Garamond" pitchFamily="34" charset="-122"/>
                <a:cs typeface="Garamond" pitchFamily="34" charset="-120"/>
              </a:rPr>
              <a:t>Best point precision</a:t>
            </a:r>
            <a:endParaRPr lang="en-US" sz="1400" dirty="0"/>
          </a:p>
        </p:txBody>
      </p:sp>
      <p:sp>
        <p:nvSpPr>
          <p:cNvPr id="29" name="Text 27"/>
          <p:cNvSpPr/>
          <p:nvPr/>
        </p:nvSpPr>
        <p:spPr>
          <a:xfrm>
            <a:off x="365760" y="4791456"/>
            <a:ext cx="8412480" cy="228600"/>
          </a:xfrm>
          <a:prstGeom prst="rect">
            <a:avLst/>
          </a:prstGeom>
          <a:noFill/>
          <a:ln/>
        </p:spPr>
        <p:txBody>
          <a:bodyPr wrap="square" rtlCol="0" anchor="ctr"/>
          <a:lstStyle/>
          <a:p>
            <a:pPr marL="0" indent="0" algn="ctr">
              <a:buNone/>
            </a:pPr>
            <a:r>
              <a:rPr lang="en-US" sz="1400" dirty="0">
                <a:solidFill>
                  <a:srgbClr val="64748B"/>
                </a:solidFill>
                <a:latin typeface="Garamond" pitchFamily="34" charset="0"/>
                <a:ea typeface="Garamond" pitchFamily="34" charset="-122"/>
                <a:cs typeface="Garamond" pitchFamily="34" charset="-120"/>
              </a:rPr>
              <a:t>4 models  ·  4 datasets  ·  Point F1 + Event F1 + PR-AUC + Event Classification + Operational Interpretation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28600"/>
            <a:ext cx="64008" cy="530352"/>
          </a:xfrm>
          <a:prstGeom prst="rect">
            <a:avLst/>
          </a:prstGeom>
          <a:solidFill>
            <a:srgbClr val="29ABE2"/>
          </a:solidFill>
          <a:ln w="12700">
            <a:solidFill>
              <a:srgbClr val="29ABE2"/>
            </a:solidFill>
            <a:prstDash val="solid"/>
          </a:ln>
        </p:spPr>
        <p:txBody>
          <a:bodyPr/>
          <a:lstStyle/>
          <a:p>
            <a:endParaRPr lang="LID4096"/>
          </a:p>
        </p:txBody>
      </p:sp>
      <p:sp>
        <p:nvSpPr>
          <p:cNvPr id="3" name="Text 1"/>
          <p:cNvSpPr/>
          <p:nvPr/>
        </p:nvSpPr>
        <p:spPr>
          <a:xfrm>
            <a:off x="566928" y="173736"/>
            <a:ext cx="8321040" cy="548640"/>
          </a:xfrm>
          <a:prstGeom prst="rect">
            <a:avLst/>
          </a:prstGeom>
          <a:noFill/>
          <a:ln/>
        </p:spPr>
        <p:txBody>
          <a:bodyPr wrap="square" lIns="0" tIns="0" rIns="0" bIns="0" rtlCol="0" anchor="ctr"/>
          <a:lstStyle/>
          <a:p>
            <a:pPr marL="0" indent="0">
              <a:buNone/>
            </a:pPr>
            <a:r>
              <a:rPr lang="en-US" sz="2600" b="1" dirty="0">
                <a:solidFill>
                  <a:srgbClr val="0A2342"/>
                </a:solidFill>
                <a:latin typeface="Palatino Linotype" pitchFamily="34" charset="0"/>
                <a:ea typeface="Palatino Linotype" pitchFamily="34" charset="-122"/>
                <a:cs typeface="Palatino Linotype" pitchFamily="34" charset="-120"/>
              </a:rPr>
              <a:t>Point-Level F1</a:t>
            </a:r>
            <a:endParaRPr lang="en-US" sz="2600" dirty="0"/>
          </a:p>
        </p:txBody>
      </p:sp>
      <p:sp>
        <p:nvSpPr>
          <p:cNvPr id="4" name="Text 2"/>
          <p:cNvSpPr/>
          <p:nvPr/>
        </p:nvSpPr>
        <p:spPr>
          <a:xfrm>
            <a:off x="566928" y="731520"/>
            <a:ext cx="8046720" cy="274320"/>
          </a:xfrm>
          <a:prstGeom prst="rect">
            <a:avLst/>
          </a:prstGeom>
          <a:noFill/>
          <a:ln/>
        </p:spPr>
        <p:txBody>
          <a:bodyPr wrap="square" lIns="0" tIns="0" rIns="0" bIns="0" rtlCol="0" anchor="ctr"/>
          <a:lstStyle/>
          <a:p>
            <a:pPr marL="0" indent="0">
              <a:buNone/>
            </a:pPr>
            <a:r>
              <a:rPr lang="en-US" sz="1250" dirty="0">
                <a:solidFill>
                  <a:srgbClr val="64748B"/>
                </a:solidFill>
                <a:latin typeface="Garamond" pitchFamily="34" charset="0"/>
                <a:ea typeface="Garamond" pitchFamily="34" charset="-122"/>
                <a:cs typeface="Garamond" pitchFamily="34" charset="-120"/>
              </a:rPr>
              <a:t>LSTM-AE and CNN-AE lead on most NAB splits; Z-score leads SKAB</a:t>
            </a:r>
            <a:endParaRPr lang="en-US" sz="1250" dirty="0"/>
          </a:p>
        </p:txBody>
      </p:sp>
      <p:graphicFrame>
        <p:nvGraphicFramePr>
          <p:cNvPr id="5" name="Chart 0"/>
          <p:cNvGraphicFramePr/>
          <p:nvPr/>
        </p:nvGraphicFramePr>
        <p:xfrm>
          <a:off x="365760" y="1005840"/>
          <a:ext cx="8412480" cy="38862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28600"/>
            <a:ext cx="64008" cy="530352"/>
          </a:xfrm>
          <a:prstGeom prst="rect">
            <a:avLst/>
          </a:prstGeom>
          <a:solidFill>
            <a:srgbClr val="29ABE2"/>
          </a:solidFill>
          <a:ln w="12700">
            <a:solidFill>
              <a:srgbClr val="29ABE2"/>
            </a:solidFill>
            <a:prstDash val="solid"/>
          </a:ln>
        </p:spPr>
        <p:txBody>
          <a:bodyPr/>
          <a:lstStyle/>
          <a:p>
            <a:endParaRPr lang="LID4096"/>
          </a:p>
        </p:txBody>
      </p:sp>
      <p:sp>
        <p:nvSpPr>
          <p:cNvPr id="3" name="Text 1"/>
          <p:cNvSpPr/>
          <p:nvPr/>
        </p:nvSpPr>
        <p:spPr>
          <a:xfrm>
            <a:off x="566928" y="173736"/>
            <a:ext cx="8321040" cy="548640"/>
          </a:xfrm>
          <a:prstGeom prst="rect">
            <a:avLst/>
          </a:prstGeom>
          <a:noFill/>
          <a:ln/>
        </p:spPr>
        <p:txBody>
          <a:bodyPr wrap="square" lIns="0" tIns="0" rIns="0" bIns="0" rtlCol="0" anchor="ctr"/>
          <a:lstStyle/>
          <a:p>
            <a:pPr marL="0" indent="0">
              <a:buNone/>
            </a:pPr>
            <a:r>
              <a:rPr lang="en-US" sz="2600" b="1" dirty="0">
                <a:solidFill>
                  <a:srgbClr val="0A2342"/>
                </a:solidFill>
                <a:latin typeface="Palatino Linotype" pitchFamily="34" charset="0"/>
                <a:ea typeface="Palatino Linotype" pitchFamily="34" charset="-122"/>
                <a:cs typeface="Palatino Linotype" pitchFamily="34" charset="-120"/>
              </a:rPr>
              <a:t>Event-Level F1</a:t>
            </a:r>
            <a:endParaRPr lang="en-US" sz="2600" dirty="0"/>
          </a:p>
        </p:txBody>
      </p:sp>
      <p:sp>
        <p:nvSpPr>
          <p:cNvPr id="4" name="Text 2"/>
          <p:cNvSpPr/>
          <p:nvPr/>
        </p:nvSpPr>
        <p:spPr>
          <a:xfrm>
            <a:off x="566928" y="731520"/>
            <a:ext cx="8046720" cy="274320"/>
          </a:xfrm>
          <a:prstGeom prst="rect">
            <a:avLst/>
          </a:prstGeom>
          <a:noFill/>
          <a:ln/>
        </p:spPr>
        <p:txBody>
          <a:bodyPr wrap="square" lIns="0" tIns="0" rIns="0" bIns="0" rtlCol="0" anchor="ctr"/>
          <a:lstStyle/>
          <a:p>
            <a:pPr marL="0" indent="0">
              <a:buNone/>
            </a:pPr>
            <a:r>
              <a:rPr lang="en-US" sz="1250" i="1" dirty="0">
                <a:solidFill>
                  <a:srgbClr val="64748B"/>
                </a:solidFill>
                <a:latin typeface="Garamond" pitchFamily="34" charset="0"/>
                <a:ea typeface="Garamond" pitchFamily="34" charset="-122"/>
                <a:cs typeface="Garamond" pitchFamily="34" charset="-120"/>
              </a:rPr>
              <a:t>Measures alert coherence — penalises fragmented bursts</a:t>
            </a:r>
            <a:endParaRPr lang="en-US" sz="1250" dirty="0"/>
          </a:p>
        </p:txBody>
      </p:sp>
      <p:graphicFrame>
        <p:nvGraphicFramePr>
          <p:cNvPr id="5" name="Chart 0"/>
          <p:cNvGraphicFramePr/>
          <p:nvPr/>
        </p:nvGraphicFramePr>
        <p:xfrm>
          <a:off x="365760" y="1005840"/>
          <a:ext cx="841248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365759" y="4546600"/>
            <a:ext cx="8583507" cy="464312"/>
          </a:xfrm>
          <a:prstGeom prst="rect">
            <a:avLst/>
          </a:prstGeom>
          <a:solidFill>
            <a:srgbClr val="FFF3E0"/>
          </a:solidFill>
          <a:ln w="12700">
            <a:solidFill>
              <a:srgbClr val="F4844C"/>
            </a:solidFill>
            <a:prstDash val="solid"/>
          </a:ln>
          <a:effectLst>
            <a:outerShdw blurRad="101600" dist="25400" dir="8100000" algn="bl" rotWithShape="0">
              <a:srgbClr val="000000">
                <a:alpha val="9000"/>
              </a:srgbClr>
            </a:outerShdw>
          </a:effectLst>
        </p:spPr>
        <p:txBody>
          <a:bodyPr/>
          <a:lstStyle/>
          <a:p>
            <a:endParaRPr lang="LID4096"/>
          </a:p>
        </p:txBody>
      </p:sp>
      <p:sp>
        <p:nvSpPr>
          <p:cNvPr id="7" name="Text 4"/>
          <p:cNvSpPr/>
          <p:nvPr/>
        </p:nvSpPr>
        <p:spPr>
          <a:xfrm>
            <a:off x="521208" y="4650740"/>
            <a:ext cx="8138160" cy="256032"/>
          </a:xfrm>
          <a:prstGeom prst="rect">
            <a:avLst/>
          </a:prstGeom>
          <a:noFill/>
          <a:ln/>
        </p:spPr>
        <p:txBody>
          <a:bodyPr wrap="square" lIns="0" tIns="0" rIns="0" bIns="0" rtlCol="0" anchor="ctr"/>
          <a:lstStyle/>
          <a:p>
            <a:pPr marL="0" indent="0">
              <a:buNone/>
            </a:pPr>
            <a:r>
              <a:rPr lang="en-US" sz="1400" dirty="0">
                <a:solidFill>
                  <a:srgbClr val="92400E"/>
                </a:solidFill>
                <a:latin typeface="Garamond" pitchFamily="34" charset="0"/>
                <a:ea typeface="Garamond" pitchFamily="34" charset="-122"/>
                <a:cs typeface="Garamond" pitchFamily="34" charset="-120"/>
              </a:rPr>
              <a:t>Isolation Forest drops to 0.047 on ec2_network — 91 short alert bursts vs. 1 true collective event. Point F1 alone would have hidden this operational failure.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28600"/>
            <a:ext cx="64008" cy="530352"/>
          </a:xfrm>
          <a:prstGeom prst="rect">
            <a:avLst/>
          </a:prstGeom>
          <a:solidFill>
            <a:srgbClr val="29ABE2"/>
          </a:solidFill>
          <a:ln w="12700">
            <a:solidFill>
              <a:srgbClr val="29ABE2"/>
            </a:solidFill>
            <a:prstDash val="solid"/>
          </a:ln>
        </p:spPr>
        <p:txBody>
          <a:bodyPr/>
          <a:lstStyle/>
          <a:p>
            <a:endParaRPr lang="LID4096"/>
          </a:p>
        </p:txBody>
      </p:sp>
      <p:sp>
        <p:nvSpPr>
          <p:cNvPr id="3" name="Text 1"/>
          <p:cNvSpPr/>
          <p:nvPr/>
        </p:nvSpPr>
        <p:spPr>
          <a:xfrm>
            <a:off x="566928" y="173736"/>
            <a:ext cx="8321040" cy="548640"/>
          </a:xfrm>
          <a:prstGeom prst="rect">
            <a:avLst/>
          </a:prstGeom>
          <a:noFill/>
          <a:ln/>
        </p:spPr>
        <p:txBody>
          <a:bodyPr wrap="square" lIns="0" tIns="0" rIns="0" bIns="0" rtlCol="0" anchor="ctr"/>
          <a:lstStyle/>
          <a:p>
            <a:pPr marL="0" indent="0">
              <a:buNone/>
            </a:pPr>
            <a:r>
              <a:rPr lang="en-US" sz="2600" b="1" dirty="0">
                <a:solidFill>
                  <a:srgbClr val="0A2342"/>
                </a:solidFill>
                <a:latin typeface="Palatino Linotype" pitchFamily="34" charset="0"/>
                <a:ea typeface="Palatino Linotype" pitchFamily="34" charset="-122"/>
                <a:cs typeface="Palatino Linotype" pitchFamily="34" charset="-120"/>
              </a:rPr>
              <a:t>PR-AUC</a:t>
            </a:r>
            <a:endParaRPr lang="en-US" sz="2600" dirty="0"/>
          </a:p>
        </p:txBody>
      </p:sp>
      <p:sp>
        <p:nvSpPr>
          <p:cNvPr id="4" name="Text 2"/>
          <p:cNvSpPr/>
          <p:nvPr/>
        </p:nvSpPr>
        <p:spPr>
          <a:xfrm>
            <a:off x="566928" y="731520"/>
            <a:ext cx="8046720" cy="274320"/>
          </a:xfrm>
          <a:prstGeom prst="rect">
            <a:avLst/>
          </a:prstGeom>
          <a:noFill/>
          <a:ln/>
        </p:spPr>
        <p:txBody>
          <a:bodyPr wrap="square" lIns="0" tIns="0" rIns="0" bIns="0" rtlCol="0" anchor="ctr"/>
          <a:lstStyle/>
          <a:p>
            <a:pPr marL="0" indent="0">
              <a:buNone/>
            </a:pPr>
            <a:r>
              <a:rPr lang="en-US" sz="1250" dirty="0">
                <a:solidFill>
                  <a:srgbClr val="64748B"/>
                </a:solidFill>
                <a:latin typeface="Garamond" pitchFamily="34" charset="0"/>
                <a:ea typeface="Garamond" pitchFamily="34" charset="-122"/>
                <a:cs typeface="Garamond" pitchFamily="34" charset="-120"/>
              </a:rPr>
              <a:t>Precision–Recall AUC — threshold-independent ranking quality</a:t>
            </a:r>
            <a:endParaRPr lang="en-US" sz="1250" dirty="0"/>
          </a:p>
        </p:txBody>
      </p:sp>
      <p:graphicFrame>
        <p:nvGraphicFramePr>
          <p:cNvPr id="5" name="Chart 0"/>
          <p:cNvGraphicFramePr/>
          <p:nvPr/>
        </p:nvGraphicFramePr>
        <p:xfrm>
          <a:off x="365760" y="1005840"/>
          <a:ext cx="841248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365759" y="4529667"/>
            <a:ext cx="8591973" cy="481245"/>
          </a:xfrm>
          <a:prstGeom prst="rect">
            <a:avLst/>
          </a:prstGeom>
          <a:solidFill>
            <a:srgbClr val="E8F8F5"/>
          </a:solidFill>
          <a:ln w="12700">
            <a:solidFill>
              <a:srgbClr val="00B4A6"/>
            </a:solidFill>
            <a:prstDash val="solid"/>
          </a:ln>
          <a:effectLst>
            <a:outerShdw blurRad="101600" dist="25400" dir="8100000" algn="bl" rotWithShape="0">
              <a:srgbClr val="000000">
                <a:alpha val="9000"/>
              </a:srgbClr>
            </a:outerShdw>
          </a:effectLst>
        </p:spPr>
        <p:txBody>
          <a:bodyPr/>
          <a:lstStyle/>
          <a:p>
            <a:endParaRPr lang="LID4096"/>
          </a:p>
        </p:txBody>
      </p:sp>
      <p:sp>
        <p:nvSpPr>
          <p:cNvPr id="7" name="Text 4"/>
          <p:cNvSpPr/>
          <p:nvPr/>
        </p:nvSpPr>
        <p:spPr>
          <a:xfrm>
            <a:off x="521208" y="4647523"/>
            <a:ext cx="8138160" cy="256032"/>
          </a:xfrm>
          <a:prstGeom prst="rect">
            <a:avLst/>
          </a:prstGeom>
          <a:noFill/>
          <a:ln/>
        </p:spPr>
        <p:txBody>
          <a:bodyPr wrap="square" lIns="0" tIns="0" rIns="0" bIns="0" rtlCol="0" anchor="ctr"/>
          <a:lstStyle/>
          <a:p>
            <a:pPr marL="0" indent="0">
              <a:buNone/>
            </a:pPr>
            <a:r>
              <a:rPr lang="en-US" sz="1400" dirty="0">
                <a:solidFill>
                  <a:srgbClr val="005A4A"/>
                </a:solidFill>
                <a:latin typeface="Garamond" pitchFamily="34" charset="0"/>
                <a:ea typeface="Garamond" pitchFamily="34" charset="-122"/>
                <a:cs typeface="Garamond" pitchFamily="34" charset="-120"/>
              </a:rPr>
              <a:t>LSTM-AE achieves PR-AUC 0.950 on ec2_network — 0 false positive events. The large residual spike is captured as a sequence-level reconstruction failure.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28600"/>
            <a:ext cx="64008" cy="530352"/>
          </a:xfrm>
          <a:prstGeom prst="rect">
            <a:avLst/>
          </a:prstGeom>
          <a:solidFill>
            <a:srgbClr val="29ABE2"/>
          </a:solidFill>
          <a:ln w="12700">
            <a:solidFill>
              <a:srgbClr val="29ABE2"/>
            </a:solidFill>
            <a:prstDash val="solid"/>
          </a:ln>
        </p:spPr>
        <p:txBody>
          <a:bodyPr/>
          <a:lstStyle/>
          <a:p>
            <a:endParaRPr lang="LID4096"/>
          </a:p>
        </p:txBody>
      </p:sp>
      <p:sp>
        <p:nvSpPr>
          <p:cNvPr id="3" name="Text 1"/>
          <p:cNvSpPr/>
          <p:nvPr/>
        </p:nvSpPr>
        <p:spPr>
          <a:xfrm>
            <a:off x="566928" y="173736"/>
            <a:ext cx="8321040" cy="548640"/>
          </a:xfrm>
          <a:prstGeom prst="rect">
            <a:avLst/>
          </a:prstGeom>
          <a:noFill/>
          <a:ln/>
        </p:spPr>
        <p:txBody>
          <a:bodyPr wrap="square" lIns="0" tIns="0" rIns="0" bIns="0" rtlCol="0" anchor="ctr"/>
          <a:lstStyle/>
          <a:p>
            <a:pPr marL="0" indent="0">
              <a:buNone/>
            </a:pPr>
            <a:r>
              <a:rPr lang="en-US" sz="2600" b="1" dirty="0">
                <a:solidFill>
                  <a:srgbClr val="0A2342"/>
                </a:solidFill>
                <a:latin typeface="Palatino Linotype" pitchFamily="34" charset="0"/>
                <a:ea typeface="Palatino Linotype" pitchFamily="34" charset="-122"/>
                <a:cs typeface="Palatino Linotype" pitchFamily="34" charset="-120"/>
              </a:rPr>
              <a:t>Best Model by Dataset &amp; Metric</a:t>
            </a:r>
            <a:endParaRPr lang="en-US" sz="2600" dirty="0"/>
          </a:p>
        </p:txBody>
      </p:sp>
      <p:sp>
        <p:nvSpPr>
          <p:cNvPr id="4" name="Text 2"/>
          <p:cNvSpPr/>
          <p:nvPr/>
        </p:nvSpPr>
        <p:spPr>
          <a:xfrm>
            <a:off x="566928" y="731520"/>
            <a:ext cx="8046720" cy="274320"/>
          </a:xfrm>
          <a:prstGeom prst="rect">
            <a:avLst/>
          </a:prstGeom>
          <a:noFill/>
          <a:ln/>
        </p:spPr>
        <p:txBody>
          <a:bodyPr wrap="square" lIns="0" tIns="0" rIns="0" bIns="0" rtlCol="0" anchor="ctr"/>
          <a:lstStyle/>
          <a:p>
            <a:pPr marL="0" indent="0">
              <a:buNone/>
            </a:pPr>
            <a:r>
              <a:rPr lang="en-US" sz="1250" dirty="0">
                <a:solidFill>
                  <a:srgbClr val="64748B"/>
                </a:solidFill>
                <a:latin typeface="Garamond" pitchFamily="34" charset="0"/>
                <a:ea typeface="Garamond" pitchFamily="34" charset="-122"/>
                <a:cs typeface="Garamond" pitchFamily="34" charset="-120"/>
              </a:rPr>
              <a:t>No single model dominates every regime</a:t>
            </a:r>
            <a:endParaRPr lang="en-US" sz="12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7955280" cy="3200400"/>
        </p:xfrm>
        <a:graphic>
          <a:graphicData uri="http://schemas.openxmlformats.org/drawingml/2006/table">
            <a:tbl>
              <a:tblPr/>
              <a:tblGrid>
                <a:gridCol w="164592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1508760">
                  <a:extLst>
                    <a:ext uri="{9D8B030D-6E8A-4147-A177-3AD203B41FA5}">
                      <a16:colId xmlns:a16="http://schemas.microsoft.com/office/drawing/2014/main" val="20005"/>
                    </a:ext>
                  </a:extLst>
                </a:gridCol>
                <a:gridCol w="777240">
                  <a:extLst>
                    <a:ext uri="{9D8B030D-6E8A-4147-A177-3AD203B41FA5}">
                      <a16:colId xmlns:a16="http://schemas.microsoft.com/office/drawing/2014/main" val="20006"/>
                    </a:ext>
                  </a:extLst>
                </a:gridCol>
              </a:tblGrid>
              <a:tr h="640080">
                <a:tc>
                  <a:txBody>
                    <a:bodyPr/>
                    <a:lstStyle/>
                    <a:p>
                      <a:pPr marL="0" indent="0" algn="ctr">
                        <a:buNone/>
                      </a:pPr>
                      <a:r>
                        <a:rPr lang="en-US" sz="1100" b="1" dirty="0">
                          <a:solidFill>
                            <a:srgbClr val="FFFFFF"/>
                          </a:solidFill>
                          <a:latin typeface="Garamond" pitchFamily="34" charset="0"/>
                          <a:ea typeface="Garamond" pitchFamily="34" charset="-122"/>
                          <a:cs typeface="Garamond" pitchFamily="34" charset="-120"/>
                        </a:rPr>
                        <a:t>Dataset</a:t>
                      </a:r>
                      <a:endParaRPr lang="en-US" sz="1100" dirty="0">
                        <a:latin typeface="Garamond" charset="0"/>
                        <a:ea typeface="Garamond" charset="0"/>
                        <a:cs typeface="Garamond" charset="0"/>
                      </a:endParaRPr>
                    </a:p>
                  </a:txBody>
                  <a:tcPr>
                    <a:lnL w="10160" cap="flat" cmpd="sng" algn="ctr">
                      <a:solidFill>
                        <a:srgbClr val="D1E0F0"/>
                      </a:solidFill>
                      <a:prstDash val="solid"/>
                      <a:round/>
                      <a:headEnd type="none" w="med" len="med"/>
                      <a:tailEnd type="none" w="med" len="med"/>
                    </a:lnL>
                    <a:lnR w="10160" cap="flat" cmpd="sng" algn="ctr">
                      <a:solidFill>
                        <a:srgbClr val="D1E0F0"/>
                      </a:solidFill>
                      <a:prstDash val="solid"/>
                      <a:round/>
                      <a:headEnd type="none" w="med" len="med"/>
                      <a:tailEnd type="none" w="med" len="med"/>
                    </a:lnR>
                    <a:lnT w="10160" cap="flat" cmpd="sng" algn="ctr">
                      <a:solidFill>
                        <a:srgbClr val="D1E0F0"/>
                      </a:solidFill>
                      <a:prstDash val="solid"/>
                      <a:round/>
                      <a:headEnd type="none" w="med" len="med"/>
                      <a:tailEnd type="none" w="med" len="med"/>
                    </a:lnT>
                    <a:lnB w="10160" cap="flat" cmpd="sng" algn="ctr">
                      <a:solidFill>
                        <a:srgbClr val="D1E0F0"/>
                      </a:solidFill>
                      <a:prstDash val="solid"/>
                      <a:round/>
                      <a:headEnd type="none" w="med" len="med"/>
                      <a:tailEnd type="none" w="med" len="med"/>
                    </a:lnB>
                    <a:solidFill>
                      <a:srgbClr val="0A2342"/>
                    </a:solidFill>
                  </a:tcPr>
                </a:tc>
                <a:tc>
                  <a:txBody>
                    <a:bodyPr/>
                    <a:lstStyle/>
                    <a:p>
                      <a:pPr marL="0" indent="0" algn="ctr">
                        <a:buNone/>
                      </a:pPr>
                      <a:r>
                        <a:rPr lang="en-US" sz="1100" b="1" dirty="0">
                          <a:solidFill>
                            <a:srgbClr val="FFFFFF"/>
                          </a:solidFill>
                          <a:latin typeface="Garamond" pitchFamily="34" charset="0"/>
                          <a:ea typeface="Garamond" pitchFamily="34" charset="-122"/>
                          <a:cs typeface="Garamond" pitchFamily="34" charset="-120"/>
                        </a:rPr>
                        <a:t>Best Point-F1</a:t>
                      </a:r>
                      <a:endParaRPr lang="en-US" sz="1100" dirty="0">
                        <a:latin typeface="Garamond" charset="0"/>
                        <a:ea typeface="Garamond" charset="0"/>
                        <a:cs typeface="Garamond" charset="0"/>
                      </a:endParaRPr>
                    </a:p>
                  </a:txBody>
                  <a:tcPr>
                    <a:lnL w="10160" cap="flat" cmpd="sng" algn="ctr">
                      <a:solidFill>
                        <a:srgbClr val="D1E0F0"/>
                      </a:solidFill>
                      <a:prstDash val="solid"/>
                      <a:round/>
                      <a:headEnd type="none" w="med" len="med"/>
                      <a:tailEnd type="none" w="med" len="med"/>
                    </a:lnL>
                    <a:lnR w="10160" cap="flat" cmpd="sng" algn="ctr">
                      <a:solidFill>
                        <a:srgbClr val="D1E0F0"/>
                      </a:solidFill>
                      <a:prstDash val="solid"/>
                      <a:round/>
                      <a:headEnd type="none" w="med" len="med"/>
                      <a:tailEnd type="none" w="med" len="med"/>
                    </a:lnR>
                    <a:lnT w="10160" cap="flat" cmpd="sng" algn="ctr">
                      <a:solidFill>
                        <a:srgbClr val="D1E0F0"/>
                      </a:solidFill>
                      <a:prstDash val="solid"/>
                      <a:round/>
                      <a:headEnd type="none" w="med" len="med"/>
                      <a:tailEnd type="none" w="med" len="med"/>
                    </a:lnT>
                    <a:lnB w="10160" cap="flat" cmpd="sng" algn="ctr">
                      <a:solidFill>
                        <a:srgbClr val="D1E0F0"/>
                      </a:solidFill>
                      <a:prstDash val="solid"/>
                      <a:round/>
                      <a:headEnd type="none" w="med" len="med"/>
                      <a:tailEnd type="none" w="med" len="med"/>
                    </a:lnB>
                    <a:solidFill>
                      <a:srgbClr val="0A2342"/>
                    </a:solidFill>
                  </a:tcPr>
                </a:tc>
                <a:tc>
                  <a:txBody>
                    <a:bodyPr/>
                    <a:lstStyle/>
                    <a:p>
                      <a:pPr marL="0" indent="0" algn="ctr">
                        <a:buNone/>
                      </a:pPr>
                      <a:r>
                        <a:rPr lang="en-US" sz="1100" b="1" dirty="0">
                          <a:solidFill>
                            <a:srgbClr val="FFFFFF"/>
                          </a:solidFill>
                          <a:latin typeface="Garamond" pitchFamily="34" charset="0"/>
                          <a:ea typeface="Garamond" pitchFamily="34" charset="-122"/>
                          <a:cs typeface="Garamond" pitchFamily="34" charset="-120"/>
                        </a:rPr>
                        <a:t>Point F1</a:t>
                      </a:r>
                      <a:endParaRPr lang="en-US" sz="1100" dirty="0">
                        <a:latin typeface="Garamond" charset="0"/>
                        <a:ea typeface="Garamond" charset="0"/>
                        <a:cs typeface="Garamond" charset="0"/>
                      </a:endParaRPr>
                    </a:p>
                  </a:txBody>
                  <a:tcPr>
                    <a:lnL w="10160" cap="flat" cmpd="sng" algn="ctr">
                      <a:solidFill>
                        <a:srgbClr val="D1E0F0"/>
                      </a:solidFill>
                      <a:prstDash val="solid"/>
                      <a:round/>
                      <a:headEnd type="none" w="med" len="med"/>
                      <a:tailEnd type="none" w="med" len="med"/>
                    </a:lnL>
                    <a:lnR w="10160" cap="flat" cmpd="sng" algn="ctr">
                      <a:solidFill>
                        <a:srgbClr val="D1E0F0"/>
                      </a:solidFill>
                      <a:prstDash val="solid"/>
                      <a:round/>
                      <a:headEnd type="none" w="med" len="med"/>
                      <a:tailEnd type="none" w="med" len="med"/>
                    </a:lnR>
                    <a:lnT w="10160" cap="flat" cmpd="sng" algn="ctr">
                      <a:solidFill>
                        <a:srgbClr val="D1E0F0"/>
                      </a:solidFill>
                      <a:prstDash val="solid"/>
                      <a:round/>
                      <a:headEnd type="none" w="med" len="med"/>
                      <a:tailEnd type="none" w="med" len="med"/>
                    </a:lnT>
                    <a:lnB w="10160" cap="flat" cmpd="sng" algn="ctr">
                      <a:solidFill>
                        <a:srgbClr val="D1E0F0"/>
                      </a:solidFill>
                      <a:prstDash val="solid"/>
                      <a:round/>
                      <a:headEnd type="none" w="med" len="med"/>
                      <a:tailEnd type="none" w="med" len="med"/>
                    </a:lnB>
                    <a:solidFill>
                      <a:srgbClr val="0A2342"/>
                    </a:solidFill>
                  </a:tcPr>
                </a:tc>
                <a:tc>
                  <a:txBody>
                    <a:bodyPr/>
                    <a:lstStyle/>
                    <a:p>
                      <a:pPr marL="0" indent="0" algn="ctr">
                        <a:buNone/>
                      </a:pPr>
                      <a:r>
                        <a:rPr lang="en-US" sz="1100" b="1" dirty="0">
                          <a:solidFill>
                            <a:srgbClr val="FFFFFF"/>
                          </a:solidFill>
                          <a:latin typeface="Garamond" pitchFamily="34" charset="0"/>
                          <a:ea typeface="Garamond" pitchFamily="34" charset="-122"/>
                          <a:cs typeface="Garamond" pitchFamily="34" charset="-120"/>
                        </a:rPr>
                        <a:t>Best PR-AUC</a:t>
                      </a:r>
                      <a:endParaRPr lang="en-US" sz="1100" dirty="0">
                        <a:latin typeface="Garamond" charset="0"/>
                        <a:ea typeface="Garamond" charset="0"/>
                        <a:cs typeface="Garamond" charset="0"/>
                      </a:endParaRPr>
                    </a:p>
                  </a:txBody>
                  <a:tcPr>
                    <a:lnL w="10160" cap="flat" cmpd="sng" algn="ctr">
                      <a:solidFill>
                        <a:srgbClr val="D1E0F0"/>
                      </a:solidFill>
                      <a:prstDash val="solid"/>
                      <a:round/>
                      <a:headEnd type="none" w="med" len="med"/>
                      <a:tailEnd type="none" w="med" len="med"/>
                    </a:lnL>
                    <a:lnR w="10160" cap="flat" cmpd="sng" algn="ctr">
                      <a:solidFill>
                        <a:srgbClr val="D1E0F0"/>
                      </a:solidFill>
                      <a:prstDash val="solid"/>
                      <a:round/>
                      <a:headEnd type="none" w="med" len="med"/>
                      <a:tailEnd type="none" w="med" len="med"/>
                    </a:lnR>
                    <a:lnT w="10160" cap="flat" cmpd="sng" algn="ctr">
                      <a:solidFill>
                        <a:srgbClr val="D1E0F0"/>
                      </a:solidFill>
                      <a:prstDash val="solid"/>
                      <a:round/>
                      <a:headEnd type="none" w="med" len="med"/>
                      <a:tailEnd type="none" w="med" len="med"/>
                    </a:lnT>
                    <a:lnB w="10160" cap="flat" cmpd="sng" algn="ctr">
                      <a:solidFill>
                        <a:srgbClr val="D1E0F0"/>
                      </a:solidFill>
                      <a:prstDash val="solid"/>
                      <a:round/>
                      <a:headEnd type="none" w="med" len="med"/>
                      <a:tailEnd type="none" w="med" len="med"/>
                    </a:lnB>
                    <a:solidFill>
                      <a:srgbClr val="0A2342"/>
                    </a:solidFill>
                  </a:tcPr>
                </a:tc>
                <a:tc>
                  <a:txBody>
                    <a:bodyPr/>
                    <a:lstStyle/>
                    <a:p>
                      <a:pPr marL="0" indent="0" algn="ctr">
                        <a:buNone/>
                      </a:pPr>
                      <a:r>
                        <a:rPr lang="en-US" sz="1100" b="1" dirty="0">
                          <a:solidFill>
                            <a:srgbClr val="FFFFFF"/>
                          </a:solidFill>
                          <a:latin typeface="Garamond" pitchFamily="34" charset="0"/>
                          <a:ea typeface="Garamond" pitchFamily="34" charset="-122"/>
                          <a:cs typeface="Garamond" pitchFamily="34" charset="-120"/>
                        </a:rPr>
                        <a:t>PR-AUC</a:t>
                      </a:r>
                      <a:endParaRPr lang="en-US" sz="1100" dirty="0">
                        <a:latin typeface="Garamond" charset="0"/>
                        <a:ea typeface="Garamond" charset="0"/>
                        <a:cs typeface="Garamond" charset="0"/>
                      </a:endParaRPr>
                    </a:p>
                  </a:txBody>
                  <a:tcPr>
                    <a:lnL w="10160" cap="flat" cmpd="sng" algn="ctr">
                      <a:solidFill>
                        <a:srgbClr val="D1E0F0"/>
                      </a:solidFill>
                      <a:prstDash val="solid"/>
                      <a:round/>
                      <a:headEnd type="none" w="med" len="med"/>
                      <a:tailEnd type="none" w="med" len="med"/>
                    </a:lnL>
                    <a:lnR w="10160" cap="flat" cmpd="sng" algn="ctr">
                      <a:solidFill>
                        <a:srgbClr val="D1E0F0"/>
                      </a:solidFill>
                      <a:prstDash val="solid"/>
                      <a:round/>
                      <a:headEnd type="none" w="med" len="med"/>
                      <a:tailEnd type="none" w="med" len="med"/>
                    </a:lnR>
                    <a:lnT w="10160" cap="flat" cmpd="sng" algn="ctr">
                      <a:solidFill>
                        <a:srgbClr val="D1E0F0"/>
                      </a:solidFill>
                      <a:prstDash val="solid"/>
                      <a:round/>
                      <a:headEnd type="none" w="med" len="med"/>
                      <a:tailEnd type="none" w="med" len="med"/>
                    </a:lnT>
                    <a:lnB w="10160" cap="flat" cmpd="sng" algn="ctr">
                      <a:solidFill>
                        <a:srgbClr val="D1E0F0"/>
                      </a:solidFill>
                      <a:prstDash val="solid"/>
                      <a:round/>
                      <a:headEnd type="none" w="med" len="med"/>
                      <a:tailEnd type="none" w="med" len="med"/>
                    </a:lnB>
                    <a:solidFill>
                      <a:srgbClr val="0A2342"/>
                    </a:solidFill>
                  </a:tcPr>
                </a:tc>
                <a:tc>
                  <a:txBody>
                    <a:bodyPr/>
                    <a:lstStyle/>
                    <a:p>
                      <a:pPr marL="0" indent="0" algn="ctr">
                        <a:buNone/>
                      </a:pPr>
                      <a:r>
                        <a:rPr lang="en-US" sz="1100" b="1" dirty="0">
                          <a:solidFill>
                            <a:srgbClr val="FFFFFF"/>
                          </a:solidFill>
                          <a:latin typeface="Garamond" pitchFamily="34" charset="0"/>
                          <a:ea typeface="Garamond" pitchFamily="34" charset="-122"/>
                          <a:cs typeface="Garamond" pitchFamily="34" charset="-120"/>
                        </a:rPr>
                        <a:t>Best Event-F1</a:t>
                      </a:r>
                      <a:endParaRPr lang="en-US" sz="1100" dirty="0">
                        <a:latin typeface="Garamond" charset="0"/>
                        <a:ea typeface="Garamond" charset="0"/>
                        <a:cs typeface="Garamond" charset="0"/>
                      </a:endParaRPr>
                    </a:p>
                  </a:txBody>
                  <a:tcPr>
                    <a:lnL w="10160" cap="flat" cmpd="sng" algn="ctr">
                      <a:solidFill>
                        <a:srgbClr val="D1E0F0"/>
                      </a:solidFill>
                      <a:prstDash val="solid"/>
                      <a:round/>
                      <a:headEnd type="none" w="med" len="med"/>
                      <a:tailEnd type="none" w="med" len="med"/>
                    </a:lnL>
                    <a:lnR w="10160" cap="flat" cmpd="sng" algn="ctr">
                      <a:solidFill>
                        <a:srgbClr val="D1E0F0"/>
                      </a:solidFill>
                      <a:prstDash val="solid"/>
                      <a:round/>
                      <a:headEnd type="none" w="med" len="med"/>
                      <a:tailEnd type="none" w="med" len="med"/>
                    </a:lnR>
                    <a:lnT w="10160" cap="flat" cmpd="sng" algn="ctr">
                      <a:solidFill>
                        <a:srgbClr val="D1E0F0"/>
                      </a:solidFill>
                      <a:prstDash val="solid"/>
                      <a:round/>
                      <a:headEnd type="none" w="med" len="med"/>
                      <a:tailEnd type="none" w="med" len="med"/>
                    </a:lnT>
                    <a:lnB w="10160" cap="flat" cmpd="sng" algn="ctr">
                      <a:solidFill>
                        <a:srgbClr val="D1E0F0"/>
                      </a:solidFill>
                      <a:prstDash val="solid"/>
                      <a:round/>
                      <a:headEnd type="none" w="med" len="med"/>
                      <a:tailEnd type="none" w="med" len="med"/>
                    </a:lnB>
                    <a:solidFill>
                      <a:srgbClr val="0A2342"/>
                    </a:solidFill>
                  </a:tcPr>
                </a:tc>
                <a:tc>
                  <a:txBody>
                    <a:bodyPr/>
                    <a:lstStyle/>
                    <a:p>
                      <a:pPr marL="0" indent="0" algn="ctr">
                        <a:buNone/>
                      </a:pPr>
                      <a:r>
                        <a:rPr lang="en-US" sz="1100" b="1" dirty="0">
                          <a:solidFill>
                            <a:srgbClr val="FFFFFF"/>
                          </a:solidFill>
                          <a:latin typeface="Garamond" pitchFamily="34" charset="0"/>
                          <a:ea typeface="Garamond" pitchFamily="34" charset="-122"/>
                          <a:cs typeface="Garamond" pitchFamily="34" charset="-120"/>
                        </a:rPr>
                        <a:t>Event F1</a:t>
                      </a:r>
                      <a:endParaRPr lang="en-US" sz="1100" dirty="0">
                        <a:latin typeface="Garamond" charset="0"/>
                        <a:ea typeface="Garamond" charset="0"/>
                        <a:cs typeface="Garamond" charset="0"/>
                      </a:endParaRPr>
                    </a:p>
                  </a:txBody>
                  <a:tcPr>
                    <a:lnL w="10160" cap="flat" cmpd="sng" algn="ctr">
                      <a:solidFill>
                        <a:srgbClr val="D1E0F0"/>
                      </a:solidFill>
                      <a:prstDash val="solid"/>
                      <a:round/>
                      <a:headEnd type="none" w="med" len="med"/>
                      <a:tailEnd type="none" w="med" len="med"/>
                    </a:lnL>
                    <a:lnR w="10160" cap="flat" cmpd="sng" algn="ctr">
                      <a:solidFill>
                        <a:srgbClr val="D1E0F0"/>
                      </a:solidFill>
                      <a:prstDash val="solid"/>
                      <a:round/>
                      <a:headEnd type="none" w="med" len="med"/>
                      <a:tailEnd type="none" w="med" len="med"/>
                    </a:lnR>
                    <a:lnT w="10160" cap="flat" cmpd="sng" algn="ctr">
                      <a:solidFill>
                        <a:srgbClr val="D1E0F0"/>
                      </a:solidFill>
                      <a:prstDash val="solid"/>
                      <a:round/>
                      <a:headEnd type="none" w="med" len="med"/>
                      <a:tailEnd type="none" w="med" len="med"/>
                    </a:lnT>
                    <a:lnB w="10160" cap="flat" cmpd="sng" algn="ctr">
                      <a:solidFill>
                        <a:srgbClr val="D1E0F0"/>
                      </a:solidFill>
                      <a:prstDash val="solid"/>
                      <a:round/>
                      <a:headEnd type="none" w="med" len="med"/>
                      <a:tailEnd type="none" w="med" len="med"/>
                    </a:lnB>
                    <a:solidFill>
                      <a:srgbClr val="0A2342"/>
                    </a:solidFill>
                  </a:tcPr>
                </a:tc>
                <a:extLst>
                  <a:ext uri="{0D108BD9-81ED-4DB2-BD59-A6C34878D82A}">
                    <a16:rowId xmlns:a16="http://schemas.microsoft.com/office/drawing/2014/main" val="10000"/>
                  </a:ext>
                </a:extLst>
              </a:tr>
              <a:tr h="640080">
                <a:tc>
                  <a:txBody>
                    <a:bodyPr/>
                    <a:lstStyle/>
                    <a:p>
                      <a:pPr marL="0" indent="0" algn="l">
                        <a:buNone/>
                      </a:pPr>
                      <a:r>
                        <a:rPr lang="en-US" sz="1100" b="1" dirty="0">
                          <a:solidFill>
                            <a:srgbClr val="1A202C"/>
                          </a:solidFill>
                          <a:latin typeface="Garamond" pitchFamily="34" charset="0"/>
                          <a:ea typeface="Garamond" pitchFamily="34" charset="-122"/>
                          <a:cs typeface="Garamond" pitchFamily="34" charset="-120"/>
                        </a:rPr>
                        <a:t>SKAB valve1/1</a:t>
                      </a:r>
                      <a:endParaRPr lang="en-US" sz="1100" dirty="0">
                        <a:latin typeface="Garamond" charset="0"/>
                        <a:ea typeface="Garamond" charset="0"/>
                        <a:cs typeface="Garamond" charset="0"/>
                      </a:endParaRPr>
                    </a:p>
                  </a:txBody>
                  <a:tcPr>
                    <a:lnL w="10160" cap="flat" cmpd="sng" algn="ctr">
                      <a:solidFill>
                        <a:srgbClr val="D1E0F0"/>
                      </a:solidFill>
                      <a:prstDash val="solid"/>
                      <a:round/>
                      <a:headEnd type="none" w="med" len="med"/>
                      <a:tailEnd type="none" w="med" len="med"/>
                    </a:lnL>
                    <a:lnR w="10160" cap="flat" cmpd="sng" algn="ctr">
                      <a:solidFill>
                        <a:srgbClr val="D1E0F0"/>
                      </a:solidFill>
                      <a:prstDash val="solid"/>
                      <a:round/>
                      <a:headEnd type="none" w="med" len="med"/>
                      <a:tailEnd type="none" w="med" len="med"/>
                    </a:lnR>
                    <a:lnT w="10160" cap="flat" cmpd="sng" algn="ctr">
                      <a:solidFill>
                        <a:srgbClr val="D1E0F0"/>
                      </a:solidFill>
                      <a:prstDash val="solid"/>
                      <a:round/>
                      <a:headEnd type="none" w="med" len="med"/>
                      <a:tailEnd type="none" w="med" len="med"/>
                    </a:lnT>
                    <a:lnB w="10160" cap="flat" cmpd="sng" algn="ctr">
                      <a:solidFill>
                        <a:srgbClr val="D1E0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02C"/>
                          </a:solidFill>
                          <a:latin typeface="Garamond" pitchFamily="34" charset="0"/>
                          <a:ea typeface="Garamond" pitchFamily="34" charset="-122"/>
                          <a:cs typeface="Garamond" pitchFamily="34" charset="-120"/>
                        </a:rPr>
                        <a:t>Z-score</a:t>
                      </a:r>
                      <a:endParaRPr lang="en-US" sz="1100" dirty="0">
                        <a:latin typeface="Garamond" charset="0"/>
                        <a:ea typeface="Garamond" charset="0"/>
                        <a:cs typeface="Garamond" charset="0"/>
                      </a:endParaRPr>
                    </a:p>
                  </a:txBody>
                  <a:tcPr>
                    <a:lnL w="10160" cap="flat" cmpd="sng" algn="ctr">
                      <a:solidFill>
                        <a:srgbClr val="D1E0F0"/>
                      </a:solidFill>
                      <a:prstDash val="solid"/>
                      <a:round/>
                      <a:headEnd type="none" w="med" len="med"/>
                      <a:tailEnd type="none" w="med" len="med"/>
                    </a:lnL>
                    <a:lnR w="10160" cap="flat" cmpd="sng" algn="ctr">
                      <a:solidFill>
                        <a:srgbClr val="D1E0F0"/>
                      </a:solidFill>
                      <a:prstDash val="solid"/>
                      <a:round/>
                      <a:headEnd type="none" w="med" len="med"/>
                      <a:tailEnd type="none" w="med" len="med"/>
                    </a:lnR>
                    <a:lnT w="10160" cap="flat" cmpd="sng" algn="ctr">
                      <a:solidFill>
                        <a:srgbClr val="D1E0F0"/>
                      </a:solidFill>
                      <a:prstDash val="solid"/>
                      <a:round/>
                      <a:headEnd type="none" w="med" len="med"/>
                      <a:tailEnd type="none" w="med" len="med"/>
                    </a:lnT>
                    <a:lnB w="10160" cap="flat" cmpd="sng" algn="ctr">
                      <a:solidFill>
                        <a:srgbClr val="D1E0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02C"/>
                          </a:solidFill>
                          <a:latin typeface="Garamond" pitchFamily="34" charset="0"/>
                          <a:ea typeface="Garamond" pitchFamily="34" charset="-122"/>
                          <a:cs typeface="Garamond" pitchFamily="34" charset="-120"/>
                        </a:rPr>
                        <a:t>0.677</a:t>
                      </a:r>
                      <a:endParaRPr lang="en-US" sz="1100" dirty="0">
                        <a:latin typeface="Garamond" charset="0"/>
                        <a:ea typeface="Garamond" charset="0"/>
                        <a:cs typeface="Garamond" charset="0"/>
                      </a:endParaRPr>
                    </a:p>
                  </a:txBody>
                  <a:tcPr>
                    <a:lnL w="10160" cap="flat" cmpd="sng" algn="ctr">
                      <a:solidFill>
                        <a:srgbClr val="D1E0F0"/>
                      </a:solidFill>
                      <a:prstDash val="solid"/>
                      <a:round/>
                      <a:headEnd type="none" w="med" len="med"/>
                      <a:tailEnd type="none" w="med" len="med"/>
                    </a:lnL>
                    <a:lnR w="10160" cap="flat" cmpd="sng" algn="ctr">
                      <a:solidFill>
                        <a:srgbClr val="D1E0F0"/>
                      </a:solidFill>
                      <a:prstDash val="solid"/>
                      <a:round/>
                      <a:headEnd type="none" w="med" len="med"/>
                      <a:tailEnd type="none" w="med" len="med"/>
                    </a:lnR>
                    <a:lnT w="10160" cap="flat" cmpd="sng" algn="ctr">
                      <a:solidFill>
                        <a:srgbClr val="D1E0F0"/>
                      </a:solidFill>
                      <a:prstDash val="solid"/>
                      <a:round/>
                      <a:headEnd type="none" w="med" len="med"/>
                      <a:tailEnd type="none" w="med" len="med"/>
                    </a:lnT>
                    <a:lnB w="10160" cap="flat" cmpd="sng" algn="ctr">
                      <a:solidFill>
                        <a:srgbClr val="D1E0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02C"/>
                          </a:solidFill>
                          <a:latin typeface="Garamond" pitchFamily="34" charset="0"/>
                          <a:ea typeface="Garamond" pitchFamily="34" charset="-122"/>
                          <a:cs typeface="Garamond" pitchFamily="34" charset="-120"/>
                        </a:rPr>
                        <a:t>LSTM-AE</a:t>
                      </a:r>
                      <a:endParaRPr lang="en-US" sz="1100" dirty="0">
                        <a:latin typeface="Garamond" charset="0"/>
                        <a:ea typeface="Garamond" charset="0"/>
                        <a:cs typeface="Garamond" charset="0"/>
                      </a:endParaRPr>
                    </a:p>
                  </a:txBody>
                  <a:tcPr>
                    <a:lnL w="10160" cap="flat" cmpd="sng" algn="ctr">
                      <a:solidFill>
                        <a:srgbClr val="D1E0F0"/>
                      </a:solidFill>
                      <a:prstDash val="solid"/>
                      <a:round/>
                      <a:headEnd type="none" w="med" len="med"/>
                      <a:tailEnd type="none" w="med" len="med"/>
                    </a:lnL>
                    <a:lnR w="10160" cap="flat" cmpd="sng" algn="ctr">
                      <a:solidFill>
                        <a:srgbClr val="D1E0F0"/>
                      </a:solidFill>
                      <a:prstDash val="solid"/>
                      <a:round/>
                      <a:headEnd type="none" w="med" len="med"/>
                      <a:tailEnd type="none" w="med" len="med"/>
                    </a:lnR>
                    <a:lnT w="10160" cap="flat" cmpd="sng" algn="ctr">
                      <a:solidFill>
                        <a:srgbClr val="D1E0F0"/>
                      </a:solidFill>
                      <a:prstDash val="solid"/>
                      <a:round/>
                      <a:headEnd type="none" w="med" len="med"/>
                      <a:tailEnd type="none" w="med" len="med"/>
                    </a:lnT>
                    <a:lnB w="10160" cap="flat" cmpd="sng" algn="ctr">
                      <a:solidFill>
                        <a:srgbClr val="D1E0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02C"/>
                          </a:solidFill>
                          <a:latin typeface="Garamond" pitchFamily="34" charset="0"/>
                          <a:ea typeface="Garamond" pitchFamily="34" charset="-122"/>
                          <a:cs typeface="Garamond" pitchFamily="34" charset="-120"/>
                        </a:rPr>
                        <a:t>0.695</a:t>
                      </a:r>
                      <a:endParaRPr lang="en-US" sz="1100" dirty="0">
                        <a:latin typeface="Garamond" charset="0"/>
                        <a:ea typeface="Garamond" charset="0"/>
                        <a:cs typeface="Garamond" charset="0"/>
                      </a:endParaRPr>
                    </a:p>
                  </a:txBody>
                  <a:tcPr>
                    <a:lnL w="10160" cap="flat" cmpd="sng" algn="ctr">
                      <a:solidFill>
                        <a:srgbClr val="D1E0F0"/>
                      </a:solidFill>
                      <a:prstDash val="solid"/>
                      <a:round/>
                      <a:headEnd type="none" w="med" len="med"/>
                      <a:tailEnd type="none" w="med" len="med"/>
                    </a:lnL>
                    <a:lnR w="10160" cap="flat" cmpd="sng" algn="ctr">
                      <a:solidFill>
                        <a:srgbClr val="D1E0F0"/>
                      </a:solidFill>
                      <a:prstDash val="solid"/>
                      <a:round/>
                      <a:headEnd type="none" w="med" len="med"/>
                      <a:tailEnd type="none" w="med" len="med"/>
                    </a:lnR>
                    <a:lnT w="10160" cap="flat" cmpd="sng" algn="ctr">
                      <a:solidFill>
                        <a:srgbClr val="D1E0F0"/>
                      </a:solidFill>
                      <a:prstDash val="solid"/>
                      <a:round/>
                      <a:headEnd type="none" w="med" len="med"/>
                      <a:tailEnd type="none" w="med" len="med"/>
                    </a:lnT>
                    <a:lnB w="10160" cap="flat" cmpd="sng" algn="ctr">
                      <a:solidFill>
                        <a:srgbClr val="D1E0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02C"/>
                          </a:solidFill>
                          <a:latin typeface="Garamond" pitchFamily="34" charset="0"/>
                          <a:ea typeface="Garamond" pitchFamily="34" charset="-122"/>
                          <a:cs typeface="Garamond" pitchFamily="34" charset="-120"/>
                        </a:rPr>
                        <a:t>Z-score</a:t>
                      </a:r>
                      <a:endParaRPr lang="en-US" sz="1100" dirty="0">
                        <a:latin typeface="Garamond" charset="0"/>
                        <a:ea typeface="Garamond" charset="0"/>
                        <a:cs typeface="Garamond" charset="0"/>
                      </a:endParaRPr>
                    </a:p>
                  </a:txBody>
                  <a:tcPr>
                    <a:lnL w="10160" cap="flat" cmpd="sng" algn="ctr">
                      <a:solidFill>
                        <a:srgbClr val="D1E0F0"/>
                      </a:solidFill>
                      <a:prstDash val="solid"/>
                      <a:round/>
                      <a:headEnd type="none" w="med" len="med"/>
                      <a:tailEnd type="none" w="med" len="med"/>
                    </a:lnL>
                    <a:lnR w="10160" cap="flat" cmpd="sng" algn="ctr">
                      <a:solidFill>
                        <a:srgbClr val="D1E0F0"/>
                      </a:solidFill>
                      <a:prstDash val="solid"/>
                      <a:round/>
                      <a:headEnd type="none" w="med" len="med"/>
                      <a:tailEnd type="none" w="med" len="med"/>
                    </a:lnR>
                    <a:lnT w="10160" cap="flat" cmpd="sng" algn="ctr">
                      <a:solidFill>
                        <a:srgbClr val="D1E0F0"/>
                      </a:solidFill>
                      <a:prstDash val="solid"/>
                      <a:round/>
                      <a:headEnd type="none" w="med" len="med"/>
                      <a:tailEnd type="none" w="med" len="med"/>
                    </a:lnT>
                    <a:lnB w="10160" cap="flat" cmpd="sng" algn="ctr">
                      <a:solidFill>
                        <a:srgbClr val="D1E0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05A4A"/>
                          </a:solidFill>
                          <a:latin typeface="Garamond" pitchFamily="34" charset="0"/>
                          <a:ea typeface="Garamond" pitchFamily="34" charset="-122"/>
                          <a:cs typeface="Garamond" pitchFamily="34" charset="-120"/>
                        </a:rPr>
                        <a:t>1.000</a:t>
                      </a:r>
                      <a:endParaRPr lang="en-US" sz="1100" dirty="0">
                        <a:latin typeface="Garamond" charset="0"/>
                        <a:ea typeface="Garamond" charset="0"/>
                        <a:cs typeface="Garamond" charset="0"/>
                      </a:endParaRPr>
                    </a:p>
                  </a:txBody>
                  <a:tcPr>
                    <a:lnL w="10160" cap="flat" cmpd="sng" algn="ctr">
                      <a:solidFill>
                        <a:srgbClr val="D1E0F0"/>
                      </a:solidFill>
                      <a:prstDash val="solid"/>
                      <a:round/>
                      <a:headEnd type="none" w="med" len="med"/>
                      <a:tailEnd type="none" w="med" len="med"/>
                    </a:lnL>
                    <a:lnR w="10160" cap="flat" cmpd="sng" algn="ctr">
                      <a:solidFill>
                        <a:srgbClr val="D1E0F0"/>
                      </a:solidFill>
                      <a:prstDash val="solid"/>
                      <a:round/>
                      <a:headEnd type="none" w="med" len="med"/>
                      <a:tailEnd type="none" w="med" len="med"/>
                    </a:lnR>
                    <a:lnT w="10160" cap="flat" cmpd="sng" algn="ctr">
                      <a:solidFill>
                        <a:srgbClr val="D1E0F0"/>
                      </a:solidFill>
                      <a:prstDash val="solid"/>
                      <a:round/>
                      <a:headEnd type="none" w="med" len="med"/>
                      <a:tailEnd type="none" w="med" len="med"/>
                    </a:lnT>
                    <a:lnB w="10160" cap="flat" cmpd="sng" algn="ctr">
                      <a:solidFill>
                        <a:srgbClr val="D1E0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l">
                        <a:buNone/>
                      </a:pPr>
                      <a:r>
                        <a:rPr lang="en-US" sz="1100" b="1" dirty="0">
                          <a:solidFill>
                            <a:srgbClr val="1A202C"/>
                          </a:solidFill>
                          <a:latin typeface="Garamond" pitchFamily="34" charset="0"/>
                          <a:ea typeface="Garamond" pitchFamily="34" charset="-122"/>
                          <a:cs typeface="Garamond" pitchFamily="34" charset="-120"/>
                        </a:rPr>
                        <a:t>NAB rds_cpu</a:t>
                      </a:r>
                      <a:endParaRPr lang="en-US" sz="1100" dirty="0">
                        <a:latin typeface="Garamond" charset="0"/>
                        <a:ea typeface="Garamond" charset="0"/>
                        <a:cs typeface="Garamond" charset="0"/>
                      </a:endParaRPr>
                    </a:p>
                  </a:txBody>
                  <a:tcPr>
                    <a:lnL w="10160" cap="flat" cmpd="sng" algn="ctr">
                      <a:solidFill>
                        <a:srgbClr val="D1E0F0"/>
                      </a:solidFill>
                      <a:prstDash val="solid"/>
                      <a:round/>
                      <a:headEnd type="none" w="med" len="med"/>
                      <a:tailEnd type="none" w="med" len="med"/>
                    </a:lnL>
                    <a:lnR w="10160" cap="flat" cmpd="sng" algn="ctr">
                      <a:solidFill>
                        <a:srgbClr val="D1E0F0"/>
                      </a:solidFill>
                      <a:prstDash val="solid"/>
                      <a:round/>
                      <a:headEnd type="none" w="med" len="med"/>
                      <a:tailEnd type="none" w="med" len="med"/>
                    </a:lnR>
                    <a:lnT w="10160" cap="flat" cmpd="sng" algn="ctr">
                      <a:solidFill>
                        <a:srgbClr val="D1E0F0"/>
                      </a:solidFill>
                      <a:prstDash val="solid"/>
                      <a:round/>
                      <a:headEnd type="none" w="med" len="med"/>
                      <a:tailEnd type="none" w="med" len="med"/>
                    </a:lnT>
                    <a:lnB w="10160" cap="flat" cmpd="sng" algn="ctr">
                      <a:solidFill>
                        <a:srgbClr val="D1E0F0"/>
                      </a:solidFill>
                      <a:prstDash val="solid"/>
                      <a:round/>
                      <a:headEnd type="none" w="med" len="med"/>
                      <a:tailEnd type="none" w="med" len="med"/>
                    </a:lnB>
                    <a:solidFill>
                      <a:srgbClr val="EEF4FB"/>
                    </a:solidFill>
                  </a:tcPr>
                </a:tc>
                <a:tc>
                  <a:txBody>
                    <a:bodyPr/>
                    <a:lstStyle/>
                    <a:p>
                      <a:pPr marL="0" indent="0" algn="ctr">
                        <a:buNone/>
                      </a:pPr>
                      <a:r>
                        <a:rPr lang="en-US" sz="1100" dirty="0">
                          <a:solidFill>
                            <a:srgbClr val="1A202C"/>
                          </a:solidFill>
                          <a:latin typeface="Garamond" pitchFamily="34" charset="0"/>
                          <a:ea typeface="Garamond" pitchFamily="34" charset="-122"/>
                          <a:cs typeface="Garamond" pitchFamily="34" charset="-120"/>
                        </a:rPr>
                        <a:t>LSTM-AE</a:t>
                      </a:r>
                      <a:endParaRPr lang="en-US" sz="1100" dirty="0">
                        <a:latin typeface="Garamond" charset="0"/>
                        <a:ea typeface="Garamond" charset="0"/>
                        <a:cs typeface="Garamond" charset="0"/>
                      </a:endParaRPr>
                    </a:p>
                  </a:txBody>
                  <a:tcPr>
                    <a:lnL w="10160" cap="flat" cmpd="sng" algn="ctr">
                      <a:solidFill>
                        <a:srgbClr val="D1E0F0"/>
                      </a:solidFill>
                      <a:prstDash val="solid"/>
                      <a:round/>
                      <a:headEnd type="none" w="med" len="med"/>
                      <a:tailEnd type="none" w="med" len="med"/>
                    </a:lnL>
                    <a:lnR w="10160" cap="flat" cmpd="sng" algn="ctr">
                      <a:solidFill>
                        <a:srgbClr val="D1E0F0"/>
                      </a:solidFill>
                      <a:prstDash val="solid"/>
                      <a:round/>
                      <a:headEnd type="none" w="med" len="med"/>
                      <a:tailEnd type="none" w="med" len="med"/>
                    </a:lnR>
                    <a:lnT w="10160" cap="flat" cmpd="sng" algn="ctr">
                      <a:solidFill>
                        <a:srgbClr val="D1E0F0"/>
                      </a:solidFill>
                      <a:prstDash val="solid"/>
                      <a:round/>
                      <a:headEnd type="none" w="med" len="med"/>
                      <a:tailEnd type="none" w="med" len="med"/>
                    </a:lnT>
                    <a:lnB w="10160" cap="flat" cmpd="sng" algn="ctr">
                      <a:solidFill>
                        <a:srgbClr val="D1E0F0"/>
                      </a:solidFill>
                      <a:prstDash val="solid"/>
                      <a:round/>
                      <a:headEnd type="none" w="med" len="med"/>
                      <a:tailEnd type="none" w="med" len="med"/>
                    </a:lnB>
                    <a:solidFill>
                      <a:srgbClr val="EEF4FB"/>
                    </a:solidFill>
                  </a:tcPr>
                </a:tc>
                <a:tc>
                  <a:txBody>
                    <a:bodyPr/>
                    <a:lstStyle/>
                    <a:p>
                      <a:pPr marL="0" indent="0" algn="ctr">
                        <a:buNone/>
                      </a:pPr>
                      <a:r>
                        <a:rPr lang="en-US" sz="1100" dirty="0">
                          <a:solidFill>
                            <a:srgbClr val="1A202C"/>
                          </a:solidFill>
                          <a:latin typeface="Garamond" pitchFamily="34" charset="0"/>
                          <a:ea typeface="Garamond" pitchFamily="34" charset="-122"/>
                          <a:cs typeface="Garamond" pitchFamily="34" charset="-120"/>
                        </a:rPr>
                        <a:t>0.571</a:t>
                      </a:r>
                      <a:endParaRPr lang="en-US" sz="1100" dirty="0">
                        <a:latin typeface="Garamond" charset="0"/>
                        <a:ea typeface="Garamond" charset="0"/>
                        <a:cs typeface="Garamond" charset="0"/>
                      </a:endParaRPr>
                    </a:p>
                  </a:txBody>
                  <a:tcPr>
                    <a:lnL w="10160" cap="flat" cmpd="sng" algn="ctr">
                      <a:solidFill>
                        <a:srgbClr val="D1E0F0"/>
                      </a:solidFill>
                      <a:prstDash val="solid"/>
                      <a:round/>
                      <a:headEnd type="none" w="med" len="med"/>
                      <a:tailEnd type="none" w="med" len="med"/>
                    </a:lnL>
                    <a:lnR w="10160" cap="flat" cmpd="sng" algn="ctr">
                      <a:solidFill>
                        <a:srgbClr val="D1E0F0"/>
                      </a:solidFill>
                      <a:prstDash val="solid"/>
                      <a:round/>
                      <a:headEnd type="none" w="med" len="med"/>
                      <a:tailEnd type="none" w="med" len="med"/>
                    </a:lnR>
                    <a:lnT w="10160" cap="flat" cmpd="sng" algn="ctr">
                      <a:solidFill>
                        <a:srgbClr val="D1E0F0"/>
                      </a:solidFill>
                      <a:prstDash val="solid"/>
                      <a:round/>
                      <a:headEnd type="none" w="med" len="med"/>
                      <a:tailEnd type="none" w="med" len="med"/>
                    </a:lnT>
                    <a:lnB w="10160" cap="flat" cmpd="sng" algn="ctr">
                      <a:solidFill>
                        <a:srgbClr val="D1E0F0"/>
                      </a:solidFill>
                      <a:prstDash val="solid"/>
                      <a:round/>
                      <a:headEnd type="none" w="med" len="med"/>
                      <a:tailEnd type="none" w="med" len="med"/>
                    </a:lnB>
                    <a:solidFill>
                      <a:srgbClr val="EEF4FB"/>
                    </a:solidFill>
                  </a:tcPr>
                </a:tc>
                <a:tc>
                  <a:txBody>
                    <a:bodyPr/>
                    <a:lstStyle/>
                    <a:p>
                      <a:pPr marL="0" indent="0" algn="ctr">
                        <a:buNone/>
                      </a:pPr>
                      <a:r>
                        <a:rPr lang="en-US" sz="1100" dirty="0">
                          <a:solidFill>
                            <a:srgbClr val="1A202C"/>
                          </a:solidFill>
                          <a:latin typeface="Garamond" pitchFamily="34" charset="0"/>
                          <a:ea typeface="Garamond" pitchFamily="34" charset="-122"/>
                          <a:cs typeface="Garamond" pitchFamily="34" charset="-120"/>
                        </a:rPr>
                        <a:t>LSTM-AE</a:t>
                      </a:r>
                      <a:endParaRPr lang="en-US" sz="1100" dirty="0">
                        <a:latin typeface="Garamond" charset="0"/>
                        <a:ea typeface="Garamond" charset="0"/>
                        <a:cs typeface="Garamond" charset="0"/>
                      </a:endParaRPr>
                    </a:p>
                  </a:txBody>
                  <a:tcPr>
                    <a:lnL w="10160" cap="flat" cmpd="sng" algn="ctr">
                      <a:solidFill>
                        <a:srgbClr val="D1E0F0"/>
                      </a:solidFill>
                      <a:prstDash val="solid"/>
                      <a:round/>
                      <a:headEnd type="none" w="med" len="med"/>
                      <a:tailEnd type="none" w="med" len="med"/>
                    </a:lnL>
                    <a:lnR w="10160" cap="flat" cmpd="sng" algn="ctr">
                      <a:solidFill>
                        <a:srgbClr val="D1E0F0"/>
                      </a:solidFill>
                      <a:prstDash val="solid"/>
                      <a:round/>
                      <a:headEnd type="none" w="med" len="med"/>
                      <a:tailEnd type="none" w="med" len="med"/>
                    </a:lnR>
                    <a:lnT w="10160" cap="flat" cmpd="sng" algn="ctr">
                      <a:solidFill>
                        <a:srgbClr val="D1E0F0"/>
                      </a:solidFill>
                      <a:prstDash val="solid"/>
                      <a:round/>
                      <a:headEnd type="none" w="med" len="med"/>
                      <a:tailEnd type="none" w="med" len="med"/>
                    </a:lnT>
                    <a:lnB w="10160" cap="flat" cmpd="sng" algn="ctr">
                      <a:solidFill>
                        <a:srgbClr val="D1E0F0"/>
                      </a:solidFill>
                      <a:prstDash val="solid"/>
                      <a:round/>
                      <a:headEnd type="none" w="med" len="med"/>
                      <a:tailEnd type="none" w="med" len="med"/>
                    </a:lnB>
                    <a:solidFill>
                      <a:srgbClr val="EEF4FB"/>
                    </a:solidFill>
                  </a:tcPr>
                </a:tc>
                <a:tc>
                  <a:txBody>
                    <a:bodyPr/>
                    <a:lstStyle/>
                    <a:p>
                      <a:pPr marL="0" indent="0" algn="ctr">
                        <a:buNone/>
                      </a:pPr>
                      <a:r>
                        <a:rPr lang="en-US" sz="1100" dirty="0">
                          <a:solidFill>
                            <a:srgbClr val="1A202C"/>
                          </a:solidFill>
                          <a:latin typeface="Garamond" pitchFamily="34" charset="0"/>
                          <a:ea typeface="Garamond" pitchFamily="34" charset="-122"/>
                          <a:cs typeface="Garamond" pitchFamily="34" charset="-120"/>
                        </a:rPr>
                        <a:t>0.493</a:t>
                      </a:r>
                      <a:endParaRPr lang="en-US" sz="1100" dirty="0">
                        <a:latin typeface="Garamond" charset="0"/>
                        <a:ea typeface="Garamond" charset="0"/>
                        <a:cs typeface="Garamond" charset="0"/>
                      </a:endParaRPr>
                    </a:p>
                  </a:txBody>
                  <a:tcPr>
                    <a:lnL w="10160" cap="flat" cmpd="sng" algn="ctr">
                      <a:solidFill>
                        <a:srgbClr val="D1E0F0"/>
                      </a:solidFill>
                      <a:prstDash val="solid"/>
                      <a:round/>
                      <a:headEnd type="none" w="med" len="med"/>
                      <a:tailEnd type="none" w="med" len="med"/>
                    </a:lnL>
                    <a:lnR w="10160" cap="flat" cmpd="sng" algn="ctr">
                      <a:solidFill>
                        <a:srgbClr val="D1E0F0"/>
                      </a:solidFill>
                      <a:prstDash val="solid"/>
                      <a:round/>
                      <a:headEnd type="none" w="med" len="med"/>
                      <a:tailEnd type="none" w="med" len="med"/>
                    </a:lnR>
                    <a:lnT w="10160" cap="flat" cmpd="sng" algn="ctr">
                      <a:solidFill>
                        <a:srgbClr val="D1E0F0"/>
                      </a:solidFill>
                      <a:prstDash val="solid"/>
                      <a:round/>
                      <a:headEnd type="none" w="med" len="med"/>
                      <a:tailEnd type="none" w="med" len="med"/>
                    </a:lnT>
                    <a:lnB w="10160" cap="flat" cmpd="sng" algn="ctr">
                      <a:solidFill>
                        <a:srgbClr val="D1E0F0"/>
                      </a:solidFill>
                      <a:prstDash val="solid"/>
                      <a:round/>
                      <a:headEnd type="none" w="med" len="med"/>
                      <a:tailEnd type="none" w="med" len="med"/>
                    </a:lnB>
                    <a:solidFill>
                      <a:srgbClr val="EEF4FB"/>
                    </a:solidFill>
                  </a:tcPr>
                </a:tc>
                <a:tc>
                  <a:txBody>
                    <a:bodyPr/>
                    <a:lstStyle/>
                    <a:p>
                      <a:pPr marL="0" indent="0" algn="ctr">
                        <a:buNone/>
                      </a:pPr>
                      <a:r>
                        <a:rPr lang="en-US" sz="1100" dirty="0">
                          <a:solidFill>
                            <a:srgbClr val="1A202C"/>
                          </a:solidFill>
                          <a:latin typeface="Garamond" pitchFamily="34" charset="0"/>
                          <a:ea typeface="Garamond" pitchFamily="34" charset="-122"/>
                          <a:cs typeface="Garamond" pitchFamily="34" charset="-120"/>
                        </a:rPr>
                        <a:t>All models</a:t>
                      </a:r>
                      <a:endParaRPr lang="en-US" sz="1100" dirty="0">
                        <a:latin typeface="Garamond" charset="0"/>
                        <a:ea typeface="Garamond" charset="0"/>
                        <a:cs typeface="Garamond" charset="0"/>
                      </a:endParaRPr>
                    </a:p>
                  </a:txBody>
                  <a:tcPr>
                    <a:lnL w="10160" cap="flat" cmpd="sng" algn="ctr">
                      <a:solidFill>
                        <a:srgbClr val="D1E0F0"/>
                      </a:solidFill>
                      <a:prstDash val="solid"/>
                      <a:round/>
                      <a:headEnd type="none" w="med" len="med"/>
                      <a:tailEnd type="none" w="med" len="med"/>
                    </a:lnL>
                    <a:lnR w="10160" cap="flat" cmpd="sng" algn="ctr">
                      <a:solidFill>
                        <a:srgbClr val="D1E0F0"/>
                      </a:solidFill>
                      <a:prstDash val="solid"/>
                      <a:round/>
                      <a:headEnd type="none" w="med" len="med"/>
                      <a:tailEnd type="none" w="med" len="med"/>
                    </a:lnR>
                    <a:lnT w="10160" cap="flat" cmpd="sng" algn="ctr">
                      <a:solidFill>
                        <a:srgbClr val="D1E0F0"/>
                      </a:solidFill>
                      <a:prstDash val="solid"/>
                      <a:round/>
                      <a:headEnd type="none" w="med" len="med"/>
                      <a:tailEnd type="none" w="med" len="med"/>
                    </a:lnT>
                    <a:lnB w="10160" cap="flat" cmpd="sng" algn="ctr">
                      <a:solidFill>
                        <a:srgbClr val="D1E0F0"/>
                      </a:solidFill>
                      <a:prstDash val="solid"/>
                      <a:round/>
                      <a:headEnd type="none" w="med" len="med"/>
                      <a:tailEnd type="none" w="med" len="med"/>
                    </a:lnB>
                    <a:solidFill>
                      <a:srgbClr val="EEF4FB"/>
                    </a:solidFill>
                  </a:tcPr>
                </a:tc>
                <a:tc>
                  <a:txBody>
                    <a:bodyPr/>
                    <a:lstStyle/>
                    <a:p>
                      <a:pPr marL="0" indent="0" algn="ctr">
                        <a:buNone/>
                      </a:pPr>
                      <a:r>
                        <a:rPr lang="en-US" sz="1100" b="1" dirty="0">
                          <a:solidFill>
                            <a:srgbClr val="005A4A"/>
                          </a:solidFill>
                          <a:latin typeface="Garamond" pitchFamily="34" charset="0"/>
                          <a:ea typeface="Garamond" pitchFamily="34" charset="-122"/>
                          <a:cs typeface="Garamond" pitchFamily="34" charset="-120"/>
                        </a:rPr>
                        <a:t>1.000</a:t>
                      </a:r>
                      <a:endParaRPr lang="en-US" sz="1100" dirty="0">
                        <a:latin typeface="Garamond" charset="0"/>
                        <a:ea typeface="Garamond" charset="0"/>
                        <a:cs typeface="Garamond" charset="0"/>
                      </a:endParaRPr>
                    </a:p>
                  </a:txBody>
                  <a:tcPr>
                    <a:lnL w="10160" cap="flat" cmpd="sng" algn="ctr">
                      <a:solidFill>
                        <a:srgbClr val="D1E0F0"/>
                      </a:solidFill>
                      <a:prstDash val="solid"/>
                      <a:round/>
                      <a:headEnd type="none" w="med" len="med"/>
                      <a:tailEnd type="none" w="med" len="med"/>
                    </a:lnL>
                    <a:lnR w="10160" cap="flat" cmpd="sng" algn="ctr">
                      <a:solidFill>
                        <a:srgbClr val="D1E0F0"/>
                      </a:solidFill>
                      <a:prstDash val="solid"/>
                      <a:round/>
                      <a:headEnd type="none" w="med" len="med"/>
                      <a:tailEnd type="none" w="med" len="med"/>
                    </a:lnR>
                    <a:lnT w="10160" cap="flat" cmpd="sng" algn="ctr">
                      <a:solidFill>
                        <a:srgbClr val="D1E0F0"/>
                      </a:solidFill>
                      <a:prstDash val="solid"/>
                      <a:round/>
                      <a:headEnd type="none" w="med" len="med"/>
                      <a:tailEnd type="none" w="med" len="med"/>
                    </a:lnT>
                    <a:lnB w="10160" cap="flat" cmpd="sng" algn="ctr">
                      <a:solidFill>
                        <a:srgbClr val="D1E0F0"/>
                      </a:solidFill>
                      <a:prstDash val="solid"/>
                      <a:round/>
                      <a:headEnd type="none" w="med" len="med"/>
                      <a:tailEnd type="none" w="med" len="med"/>
                    </a:lnB>
                    <a:solidFill>
                      <a:srgbClr val="EEF4FB"/>
                    </a:solidFill>
                  </a:tcPr>
                </a:tc>
                <a:extLst>
                  <a:ext uri="{0D108BD9-81ED-4DB2-BD59-A6C34878D82A}">
                    <a16:rowId xmlns:a16="http://schemas.microsoft.com/office/drawing/2014/main" val="10002"/>
                  </a:ext>
                </a:extLst>
              </a:tr>
              <a:tr h="640080">
                <a:tc>
                  <a:txBody>
                    <a:bodyPr/>
                    <a:lstStyle/>
                    <a:p>
                      <a:pPr marL="0" indent="0" algn="l">
                        <a:buNone/>
                      </a:pPr>
                      <a:r>
                        <a:rPr lang="en-US" sz="1100" b="1" dirty="0">
                          <a:solidFill>
                            <a:srgbClr val="1A202C"/>
                          </a:solidFill>
                          <a:latin typeface="Garamond" pitchFamily="34" charset="0"/>
                          <a:ea typeface="Garamond" pitchFamily="34" charset="-122"/>
                          <a:cs typeface="Garamond" pitchFamily="34" charset="-120"/>
                        </a:rPr>
                        <a:t>NAB ec2_cpu</a:t>
                      </a:r>
                      <a:endParaRPr lang="en-US" sz="1100" dirty="0">
                        <a:latin typeface="Garamond" charset="0"/>
                        <a:ea typeface="Garamond" charset="0"/>
                        <a:cs typeface="Garamond" charset="0"/>
                      </a:endParaRPr>
                    </a:p>
                  </a:txBody>
                  <a:tcPr>
                    <a:lnL w="10160" cap="flat" cmpd="sng" algn="ctr">
                      <a:solidFill>
                        <a:srgbClr val="D1E0F0"/>
                      </a:solidFill>
                      <a:prstDash val="solid"/>
                      <a:round/>
                      <a:headEnd type="none" w="med" len="med"/>
                      <a:tailEnd type="none" w="med" len="med"/>
                    </a:lnL>
                    <a:lnR w="10160" cap="flat" cmpd="sng" algn="ctr">
                      <a:solidFill>
                        <a:srgbClr val="D1E0F0"/>
                      </a:solidFill>
                      <a:prstDash val="solid"/>
                      <a:round/>
                      <a:headEnd type="none" w="med" len="med"/>
                      <a:tailEnd type="none" w="med" len="med"/>
                    </a:lnR>
                    <a:lnT w="10160" cap="flat" cmpd="sng" algn="ctr">
                      <a:solidFill>
                        <a:srgbClr val="D1E0F0"/>
                      </a:solidFill>
                      <a:prstDash val="solid"/>
                      <a:round/>
                      <a:headEnd type="none" w="med" len="med"/>
                      <a:tailEnd type="none" w="med" len="med"/>
                    </a:lnT>
                    <a:lnB w="10160" cap="flat" cmpd="sng" algn="ctr">
                      <a:solidFill>
                        <a:srgbClr val="D1E0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02C"/>
                          </a:solidFill>
                          <a:latin typeface="Garamond" pitchFamily="34" charset="0"/>
                          <a:ea typeface="Garamond" pitchFamily="34" charset="-122"/>
                          <a:cs typeface="Garamond" pitchFamily="34" charset="-120"/>
                        </a:rPr>
                        <a:t>LSTM-AE</a:t>
                      </a:r>
                      <a:endParaRPr lang="en-US" sz="1100" dirty="0">
                        <a:latin typeface="Garamond" charset="0"/>
                        <a:ea typeface="Garamond" charset="0"/>
                        <a:cs typeface="Garamond" charset="0"/>
                      </a:endParaRPr>
                    </a:p>
                  </a:txBody>
                  <a:tcPr>
                    <a:lnL w="10160" cap="flat" cmpd="sng" algn="ctr">
                      <a:solidFill>
                        <a:srgbClr val="D1E0F0"/>
                      </a:solidFill>
                      <a:prstDash val="solid"/>
                      <a:round/>
                      <a:headEnd type="none" w="med" len="med"/>
                      <a:tailEnd type="none" w="med" len="med"/>
                    </a:lnL>
                    <a:lnR w="10160" cap="flat" cmpd="sng" algn="ctr">
                      <a:solidFill>
                        <a:srgbClr val="D1E0F0"/>
                      </a:solidFill>
                      <a:prstDash val="solid"/>
                      <a:round/>
                      <a:headEnd type="none" w="med" len="med"/>
                      <a:tailEnd type="none" w="med" len="med"/>
                    </a:lnR>
                    <a:lnT w="10160" cap="flat" cmpd="sng" algn="ctr">
                      <a:solidFill>
                        <a:srgbClr val="D1E0F0"/>
                      </a:solidFill>
                      <a:prstDash val="solid"/>
                      <a:round/>
                      <a:headEnd type="none" w="med" len="med"/>
                      <a:tailEnd type="none" w="med" len="med"/>
                    </a:lnT>
                    <a:lnB w="10160" cap="flat" cmpd="sng" algn="ctr">
                      <a:solidFill>
                        <a:srgbClr val="D1E0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02C"/>
                          </a:solidFill>
                          <a:latin typeface="Garamond" pitchFamily="34" charset="0"/>
                          <a:ea typeface="Garamond" pitchFamily="34" charset="-122"/>
                          <a:cs typeface="Garamond" pitchFamily="34" charset="-120"/>
                        </a:rPr>
                        <a:t>0.302</a:t>
                      </a:r>
                      <a:endParaRPr lang="en-US" sz="1100" dirty="0">
                        <a:latin typeface="Garamond" charset="0"/>
                        <a:ea typeface="Garamond" charset="0"/>
                        <a:cs typeface="Garamond" charset="0"/>
                      </a:endParaRPr>
                    </a:p>
                  </a:txBody>
                  <a:tcPr>
                    <a:lnL w="10160" cap="flat" cmpd="sng" algn="ctr">
                      <a:solidFill>
                        <a:srgbClr val="D1E0F0"/>
                      </a:solidFill>
                      <a:prstDash val="solid"/>
                      <a:round/>
                      <a:headEnd type="none" w="med" len="med"/>
                      <a:tailEnd type="none" w="med" len="med"/>
                    </a:lnL>
                    <a:lnR w="10160" cap="flat" cmpd="sng" algn="ctr">
                      <a:solidFill>
                        <a:srgbClr val="D1E0F0"/>
                      </a:solidFill>
                      <a:prstDash val="solid"/>
                      <a:round/>
                      <a:headEnd type="none" w="med" len="med"/>
                      <a:tailEnd type="none" w="med" len="med"/>
                    </a:lnR>
                    <a:lnT w="10160" cap="flat" cmpd="sng" algn="ctr">
                      <a:solidFill>
                        <a:srgbClr val="D1E0F0"/>
                      </a:solidFill>
                      <a:prstDash val="solid"/>
                      <a:round/>
                      <a:headEnd type="none" w="med" len="med"/>
                      <a:tailEnd type="none" w="med" len="med"/>
                    </a:lnT>
                    <a:lnB w="10160" cap="flat" cmpd="sng" algn="ctr">
                      <a:solidFill>
                        <a:srgbClr val="D1E0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02C"/>
                          </a:solidFill>
                          <a:latin typeface="Garamond" pitchFamily="34" charset="0"/>
                          <a:ea typeface="Garamond" pitchFamily="34" charset="-122"/>
                          <a:cs typeface="Garamond" pitchFamily="34" charset="-120"/>
                        </a:rPr>
                        <a:t>Z-score</a:t>
                      </a:r>
                      <a:endParaRPr lang="en-US" sz="1100" dirty="0">
                        <a:latin typeface="Garamond" charset="0"/>
                        <a:ea typeface="Garamond" charset="0"/>
                        <a:cs typeface="Garamond" charset="0"/>
                      </a:endParaRPr>
                    </a:p>
                  </a:txBody>
                  <a:tcPr>
                    <a:lnL w="10160" cap="flat" cmpd="sng" algn="ctr">
                      <a:solidFill>
                        <a:srgbClr val="D1E0F0"/>
                      </a:solidFill>
                      <a:prstDash val="solid"/>
                      <a:round/>
                      <a:headEnd type="none" w="med" len="med"/>
                      <a:tailEnd type="none" w="med" len="med"/>
                    </a:lnL>
                    <a:lnR w="10160" cap="flat" cmpd="sng" algn="ctr">
                      <a:solidFill>
                        <a:srgbClr val="D1E0F0"/>
                      </a:solidFill>
                      <a:prstDash val="solid"/>
                      <a:round/>
                      <a:headEnd type="none" w="med" len="med"/>
                      <a:tailEnd type="none" w="med" len="med"/>
                    </a:lnR>
                    <a:lnT w="10160" cap="flat" cmpd="sng" algn="ctr">
                      <a:solidFill>
                        <a:srgbClr val="D1E0F0"/>
                      </a:solidFill>
                      <a:prstDash val="solid"/>
                      <a:round/>
                      <a:headEnd type="none" w="med" len="med"/>
                      <a:tailEnd type="none" w="med" len="med"/>
                    </a:lnT>
                    <a:lnB w="10160" cap="flat" cmpd="sng" algn="ctr">
                      <a:solidFill>
                        <a:srgbClr val="D1E0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02C"/>
                          </a:solidFill>
                          <a:latin typeface="Garamond" pitchFamily="34" charset="0"/>
                          <a:ea typeface="Garamond" pitchFamily="34" charset="-122"/>
                          <a:cs typeface="Garamond" pitchFamily="34" charset="-120"/>
                        </a:rPr>
                        <a:t>0.762</a:t>
                      </a:r>
                      <a:endParaRPr lang="en-US" sz="1100" dirty="0">
                        <a:latin typeface="Garamond" charset="0"/>
                        <a:ea typeface="Garamond" charset="0"/>
                        <a:cs typeface="Garamond" charset="0"/>
                      </a:endParaRPr>
                    </a:p>
                  </a:txBody>
                  <a:tcPr>
                    <a:lnL w="10160" cap="flat" cmpd="sng" algn="ctr">
                      <a:solidFill>
                        <a:srgbClr val="D1E0F0"/>
                      </a:solidFill>
                      <a:prstDash val="solid"/>
                      <a:round/>
                      <a:headEnd type="none" w="med" len="med"/>
                      <a:tailEnd type="none" w="med" len="med"/>
                    </a:lnL>
                    <a:lnR w="10160" cap="flat" cmpd="sng" algn="ctr">
                      <a:solidFill>
                        <a:srgbClr val="D1E0F0"/>
                      </a:solidFill>
                      <a:prstDash val="solid"/>
                      <a:round/>
                      <a:headEnd type="none" w="med" len="med"/>
                      <a:tailEnd type="none" w="med" len="med"/>
                    </a:lnR>
                    <a:lnT w="10160" cap="flat" cmpd="sng" algn="ctr">
                      <a:solidFill>
                        <a:srgbClr val="D1E0F0"/>
                      </a:solidFill>
                      <a:prstDash val="solid"/>
                      <a:round/>
                      <a:headEnd type="none" w="med" len="med"/>
                      <a:tailEnd type="none" w="med" len="med"/>
                    </a:lnT>
                    <a:lnB w="10160" cap="flat" cmpd="sng" algn="ctr">
                      <a:solidFill>
                        <a:srgbClr val="D1E0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02C"/>
                          </a:solidFill>
                          <a:latin typeface="Garamond" pitchFamily="34" charset="0"/>
                          <a:ea typeface="Garamond" pitchFamily="34" charset="-122"/>
                          <a:cs typeface="Garamond" pitchFamily="34" charset="-120"/>
                        </a:rPr>
                        <a:t>Z/LSTM/CNN</a:t>
                      </a:r>
                      <a:endParaRPr lang="en-US" sz="1100" dirty="0">
                        <a:latin typeface="Garamond" charset="0"/>
                        <a:ea typeface="Garamond" charset="0"/>
                        <a:cs typeface="Garamond" charset="0"/>
                      </a:endParaRPr>
                    </a:p>
                  </a:txBody>
                  <a:tcPr>
                    <a:lnL w="10160" cap="flat" cmpd="sng" algn="ctr">
                      <a:solidFill>
                        <a:srgbClr val="D1E0F0"/>
                      </a:solidFill>
                      <a:prstDash val="solid"/>
                      <a:round/>
                      <a:headEnd type="none" w="med" len="med"/>
                      <a:tailEnd type="none" w="med" len="med"/>
                    </a:lnL>
                    <a:lnR w="10160" cap="flat" cmpd="sng" algn="ctr">
                      <a:solidFill>
                        <a:srgbClr val="D1E0F0"/>
                      </a:solidFill>
                      <a:prstDash val="solid"/>
                      <a:round/>
                      <a:headEnd type="none" w="med" len="med"/>
                      <a:tailEnd type="none" w="med" len="med"/>
                    </a:lnR>
                    <a:lnT w="10160" cap="flat" cmpd="sng" algn="ctr">
                      <a:solidFill>
                        <a:srgbClr val="D1E0F0"/>
                      </a:solidFill>
                      <a:prstDash val="solid"/>
                      <a:round/>
                      <a:headEnd type="none" w="med" len="med"/>
                      <a:tailEnd type="none" w="med" len="med"/>
                    </a:lnT>
                    <a:lnB w="10160" cap="flat" cmpd="sng" algn="ctr">
                      <a:solidFill>
                        <a:srgbClr val="D1E0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05A4A"/>
                          </a:solidFill>
                          <a:latin typeface="Garamond" pitchFamily="34" charset="0"/>
                          <a:ea typeface="Garamond" pitchFamily="34" charset="-122"/>
                          <a:cs typeface="Garamond" pitchFamily="34" charset="-120"/>
                        </a:rPr>
                        <a:t>1.000</a:t>
                      </a:r>
                      <a:endParaRPr lang="en-US" sz="1100" dirty="0">
                        <a:latin typeface="Garamond" charset="0"/>
                        <a:ea typeface="Garamond" charset="0"/>
                        <a:cs typeface="Garamond" charset="0"/>
                      </a:endParaRPr>
                    </a:p>
                  </a:txBody>
                  <a:tcPr>
                    <a:lnL w="10160" cap="flat" cmpd="sng" algn="ctr">
                      <a:solidFill>
                        <a:srgbClr val="D1E0F0"/>
                      </a:solidFill>
                      <a:prstDash val="solid"/>
                      <a:round/>
                      <a:headEnd type="none" w="med" len="med"/>
                      <a:tailEnd type="none" w="med" len="med"/>
                    </a:lnL>
                    <a:lnR w="10160" cap="flat" cmpd="sng" algn="ctr">
                      <a:solidFill>
                        <a:srgbClr val="D1E0F0"/>
                      </a:solidFill>
                      <a:prstDash val="solid"/>
                      <a:round/>
                      <a:headEnd type="none" w="med" len="med"/>
                      <a:tailEnd type="none" w="med" len="med"/>
                    </a:lnR>
                    <a:lnT w="10160" cap="flat" cmpd="sng" algn="ctr">
                      <a:solidFill>
                        <a:srgbClr val="D1E0F0"/>
                      </a:solidFill>
                      <a:prstDash val="solid"/>
                      <a:round/>
                      <a:headEnd type="none" w="med" len="med"/>
                      <a:tailEnd type="none" w="med" len="med"/>
                    </a:lnT>
                    <a:lnB w="10160" cap="flat" cmpd="sng" algn="ctr">
                      <a:solidFill>
                        <a:srgbClr val="D1E0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lgn="l">
                        <a:buNone/>
                      </a:pPr>
                      <a:r>
                        <a:rPr lang="en-US" sz="1100" b="1" dirty="0">
                          <a:solidFill>
                            <a:srgbClr val="1A202C"/>
                          </a:solidFill>
                          <a:latin typeface="Garamond" pitchFamily="34" charset="0"/>
                          <a:ea typeface="Garamond" pitchFamily="34" charset="-122"/>
                          <a:cs typeface="Garamond" pitchFamily="34" charset="-120"/>
                        </a:rPr>
                        <a:t>NAB ec2_network</a:t>
                      </a:r>
                      <a:endParaRPr lang="en-US" sz="1100" dirty="0">
                        <a:latin typeface="Garamond" charset="0"/>
                        <a:ea typeface="Garamond" charset="0"/>
                        <a:cs typeface="Garamond" charset="0"/>
                      </a:endParaRPr>
                    </a:p>
                  </a:txBody>
                  <a:tcPr>
                    <a:lnL w="10160" cap="flat" cmpd="sng" algn="ctr">
                      <a:solidFill>
                        <a:srgbClr val="D1E0F0"/>
                      </a:solidFill>
                      <a:prstDash val="solid"/>
                      <a:round/>
                      <a:headEnd type="none" w="med" len="med"/>
                      <a:tailEnd type="none" w="med" len="med"/>
                    </a:lnL>
                    <a:lnR w="10160" cap="flat" cmpd="sng" algn="ctr">
                      <a:solidFill>
                        <a:srgbClr val="D1E0F0"/>
                      </a:solidFill>
                      <a:prstDash val="solid"/>
                      <a:round/>
                      <a:headEnd type="none" w="med" len="med"/>
                      <a:tailEnd type="none" w="med" len="med"/>
                    </a:lnR>
                    <a:lnT w="10160" cap="flat" cmpd="sng" algn="ctr">
                      <a:solidFill>
                        <a:srgbClr val="D1E0F0"/>
                      </a:solidFill>
                      <a:prstDash val="solid"/>
                      <a:round/>
                      <a:headEnd type="none" w="med" len="med"/>
                      <a:tailEnd type="none" w="med" len="med"/>
                    </a:lnT>
                    <a:lnB w="10160" cap="flat" cmpd="sng" algn="ctr">
                      <a:solidFill>
                        <a:srgbClr val="D1E0F0"/>
                      </a:solidFill>
                      <a:prstDash val="solid"/>
                      <a:round/>
                      <a:headEnd type="none" w="med" len="med"/>
                      <a:tailEnd type="none" w="med" len="med"/>
                    </a:lnB>
                    <a:solidFill>
                      <a:srgbClr val="EEF4FB"/>
                    </a:solidFill>
                  </a:tcPr>
                </a:tc>
                <a:tc>
                  <a:txBody>
                    <a:bodyPr/>
                    <a:lstStyle/>
                    <a:p>
                      <a:pPr marL="0" indent="0" algn="ctr">
                        <a:buNone/>
                      </a:pPr>
                      <a:r>
                        <a:rPr lang="en-US" sz="1100" dirty="0">
                          <a:solidFill>
                            <a:srgbClr val="1A202C"/>
                          </a:solidFill>
                          <a:latin typeface="Garamond" pitchFamily="34" charset="0"/>
                          <a:ea typeface="Garamond" pitchFamily="34" charset="-122"/>
                          <a:cs typeface="Garamond" pitchFamily="34" charset="-120"/>
                        </a:rPr>
                        <a:t>LSTM-AE</a:t>
                      </a:r>
                      <a:endParaRPr lang="en-US" sz="1100" dirty="0">
                        <a:latin typeface="Garamond" charset="0"/>
                        <a:ea typeface="Garamond" charset="0"/>
                        <a:cs typeface="Garamond" charset="0"/>
                      </a:endParaRPr>
                    </a:p>
                  </a:txBody>
                  <a:tcPr>
                    <a:lnL w="10160" cap="flat" cmpd="sng" algn="ctr">
                      <a:solidFill>
                        <a:srgbClr val="D1E0F0"/>
                      </a:solidFill>
                      <a:prstDash val="solid"/>
                      <a:round/>
                      <a:headEnd type="none" w="med" len="med"/>
                      <a:tailEnd type="none" w="med" len="med"/>
                    </a:lnL>
                    <a:lnR w="10160" cap="flat" cmpd="sng" algn="ctr">
                      <a:solidFill>
                        <a:srgbClr val="D1E0F0"/>
                      </a:solidFill>
                      <a:prstDash val="solid"/>
                      <a:round/>
                      <a:headEnd type="none" w="med" len="med"/>
                      <a:tailEnd type="none" w="med" len="med"/>
                    </a:lnR>
                    <a:lnT w="10160" cap="flat" cmpd="sng" algn="ctr">
                      <a:solidFill>
                        <a:srgbClr val="D1E0F0"/>
                      </a:solidFill>
                      <a:prstDash val="solid"/>
                      <a:round/>
                      <a:headEnd type="none" w="med" len="med"/>
                      <a:tailEnd type="none" w="med" len="med"/>
                    </a:lnT>
                    <a:lnB w="10160" cap="flat" cmpd="sng" algn="ctr">
                      <a:solidFill>
                        <a:srgbClr val="D1E0F0"/>
                      </a:solidFill>
                      <a:prstDash val="solid"/>
                      <a:round/>
                      <a:headEnd type="none" w="med" len="med"/>
                      <a:tailEnd type="none" w="med" len="med"/>
                    </a:lnB>
                    <a:solidFill>
                      <a:srgbClr val="EEF4FB"/>
                    </a:solidFill>
                  </a:tcPr>
                </a:tc>
                <a:tc>
                  <a:txBody>
                    <a:bodyPr/>
                    <a:lstStyle/>
                    <a:p>
                      <a:pPr marL="0" indent="0" algn="ctr">
                        <a:buNone/>
                      </a:pPr>
                      <a:r>
                        <a:rPr lang="en-US" sz="1100" dirty="0">
                          <a:solidFill>
                            <a:srgbClr val="1A202C"/>
                          </a:solidFill>
                          <a:latin typeface="Garamond" pitchFamily="34" charset="0"/>
                          <a:ea typeface="Garamond" pitchFamily="34" charset="-122"/>
                          <a:cs typeface="Garamond" pitchFamily="34" charset="-120"/>
                        </a:rPr>
                        <a:t>0.613</a:t>
                      </a:r>
                      <a:endParaRPr lang="en-US" sz="1100" dirty="0">
                        <a:latin typeface="Garamond" charset="0"/>
                        <a:ea typeface="Garamond" charset="0"/>
                        <a:cs typeface="Garamond" charset="0"/>
                      </a:endParaRPr>
                    </a:p>
                  </a:txBody>
                  <a:tcPr>
                    <a:lnL w="10160" cap="flat" cmpd="sng" algn="ctr">
                      <a:solidFill>
                        <a:srgbClr val="D1E0F0"/>
                      </a:solidFill>
                      <a:prstDash val="solid"/>
                      <a:round/>
                      <a:headEnd type="none" w="med" len="med"/>
                      <a:tailEnd type="none" w="med" len="med"/>
                    </a:lnL>
                    <a:lnR w="10160" cap="flat" cmpd="sng" algn="ctr">
                      <a:solidFill>
                        <a:srgbClr val="D1E0F0"/>
                      </a:solidFill>
                      <a:prstDash val="solid"/>
                      <a:round/>
                      <a:headEnd type="none" w="med" len="med"/>
                      <a:tailEnd type="none" w="med" len="med"/>
                    </a:lnR>
                    <a:lnT w="10160" cap="flat" cmpd="sng" algn="ctr">
                      <a:solidFill>
                        <a:srgbClr val="D1E0F0"/>
                      </a:solidFill>
                      <a:prstDash val="solid"/>
                      <a:round/>
                      <a:headEnd type="none" w="med" len="med"/>
                      <a:tailEnd type="none" w="med" len="med"/>
                    </a:lnT>
                    <a:lnB w="10160" cap="flat" cmpd="sng" algn="ctr">
                      <a:solidFill>
                        <a:srgbClr val="D1E0F0"/>
                      </a:solidFill>
                      <a:prstDash val="solid"/>
                      <a:round/>
                      <a:headEnd type="none" w="med" len="med"/>
                      <a:tailEnd type="none" w="med" len="med"/>
                    </a:lnB>
                    <a:solidFill>
                      <a:srgbClr val="EEF4FB"/>
                    </a:solidFill>
                  </a:tcPr>
                </a:tc>
                <a:tc>
                  <a:txBody>
                    <a:bodyPr/>
                    <a:lstStyle/>
                    <a:p>
                      <a:pPr marL="0" indent="0" algn="ctr">
                        <a:buNone/>
                      </a:pPr>
                      <a:r>
                        <a:rPr lang="en-US" sz="1100" dirty="0">
                          <a:solidFill>
                            <a:srgbClr val="1A202C"/>
                          </a:solidFill>
                          <a:latin typeface="Garamond" pitchFamily="34" charset="0"/>
                          <a:ea typeface="Garamond" pitchFamily="34" charset="-122"/>
                          <a:cs typeface="Garamond" pitchFamily="34" charset="-120"/>
                        </a:rPr>
                        <a:t>LSTM-AE</a:t>
                      </a:r>
                      <a:endParaRPr lang="en-US" sz="1100" dirty="0">
                        <a:latin typeface="Garamond" charset="0"/>
                        <a:ea typeface="Garamond" charset="0"/>
                        <a:cs typeface="Garamond" charset="0"/>
                      </a:endParaRPr>
                    </a:p>
                  </a:txBody>
                  <a:tcPr>
                    <a:lnL w="10160" cap="flat" cmpd="sng" algn="ctr">
                      <a:solidFill>
                        <a:srgbClr val="D1E0F0"/>
                      </a:solidFill>
                      <a:prstDash val="solid"/>
                      <a:round/>
                      <a:headEnd type="none" w="med" len="med"/>
                      <a:tailEnd type="none" w="med" len="med"/>
                    </a:lnL>
                    <a:lnR w="10160" cap="flat" cmpd="sng" algn="ctr">
                      <a:solidFill>
                        <a:srgbClr val="D1E0F0"/>
                      </a:solidFill>
                      <a:prstDash val="solid"/>
                      <a:round/>
                      <a:headEnd type="none" w="med" len="med"/>
                      <a:tailEnd type="none" w="med" len="med"/>
                    </a:lnR>
                    <a:lnT w="10160" cap="flat" cmpd="sng" algn="ctr">
                      <a:solidFill>
                        <a:srgbClr val="D1E0F0"/>
                      </a:solidFill>
                      <a:prstDash val="solid"/>
                      <a:round/>
                      <a:headEnd type="none" w="med" len="med"/>
                      <a:tailEnd type="none" w="med" len="med"/>
                    </a:lnT>
                    <a:lnB w="10160" cap="flat" cmpd="sng" algn="ctr">
                      <a:solidFill>
                        <a:srgbClr val="D1E0F0"/>
                      </a:solidFill>
                      <a:prstDash val="solid"/>
                      <a:round/>
                      <a:headEnd type="none" w="med" len="med"/>
                      <a:tailEnd type="none" w="med" len="med"/>
                    </a:lnB>
                    <a:solidFill>
                      <a:srgbClr val="EEF4FB"/>
                    </a:solidFill>
                  </a:tcPr>
                </a:tc>
                <a:tc>
                  <a:txBody>
                    <a:bodyPr/>
                    <a:lstStyle/>
                    <a:p>
                      <a:pPr marL="0" indent="0" algn="ctr">
                        <a:buNone/>
                      </a:pPr>
                      <a:r>
                        <a:rPr lang="en-US" sz="1100" b="1" dirty="0">
                          <a:solidFill>
                            <a:srgbClr val="005A4A"/>
                          </a:solidFill>
                          <a:latin typeface="Garamond" pitchFamily="34" charset="0"/>
                          <a:ea typeface="Garamond" pitchFamily="34" charset="-122"/>
                          <a:cs typeface="Garamond" pitchFamily="34" charset="-120"/>
                        </a:rPr>
                        <a:t>0.950</a:t>
                      </a:r>
                      <a:endParaRPr lang="en-US" sz="1100" dirty="0">
                        <a:latin typeface="Garamond" charset="0"/>
                        <a:ea typeface="Garamond" charset="0"/>
                        <a:cs typeface="Garamond" charset="0"/>
                      </a:endParaRPr>
                    </a:p>
                  </a:txBody>
                  <a:tcPr>
                    <a:lnL w="10160" cap="flat" cmpd="sng" algn="ctr">
                      <a:solidFill>
                        <a:srgbClr val="D1E0F0"/>
                      </a:solidFill>
                      <a:prstDash val="solid"/>
                      <a:round/>
                      <a:headEnd type="none" w="med" len="med"/>
                      <a:tailEnd type="none" w="med" len="med"/>
                    </a:lnL>
                    <a:lnR w="10160" cap="flat" cmpd="sng" algn="ctr">
                      <a:solidFill>
                        <a:srgbClr val="D1E0F0"/>
                      </a:solidFill>
                      <a:prstDash val="solid"/>
                      <a:round/>
                      <a:headEnd type="none" w="med" len="med"/>
                      <a:tailEnd type="none" w="med" len="med"/>
                    </a:lnR>
                    <a:lnT w="10160" cap="flat" cmpd="sng" algn="ctr">
                      <a:solidFill>
                        <a:srgbClr val="D1E0F0"/>
                      </a:solidFill>
                      <a:prstDash val="solid"/>
                      <a:round/>
                      <a:headEnd type="none" w="med" len="med"/>
                      <a:tailEnd type="none" w="med" len="med"/>
                    </a:lnT>
                    <a:lnB w="10160" cap="flat" cmpd="sng" algn="ctr">
                      <a:solidFill>
                        <a:srgbClr val="D1E0F0"/>
                      </a:solidFill>
                      <a:prstDash val="solid"/>
                      <a:round/>
                      <a:headEnd type="none" w="med" len="med"/>
                      <a:tailEnd type="none" w="med" len="med"/>
                    </a:lnB>
                    <a:solidFill>
                      <a:srgbClr val="EEF4FB"/>
                    </a:solidFill>
                  </a:tcPr>
                </a:tc>
                <a:tc>
                  <a:txBody>
                    <a:bodyPr/>
                    <a:lstStyle/>
                    <a:p>
                      <a:pPr marL="0" indent="0" algn="ctr">
                        <a:buNone/>
                      </a:pPr>
                      <a:r>
                        <a:rPr lang="en-US" sz="1100" dirty="0">
                          <a:solidFill>
                            <a:srgbClr val="1A202C"/>
                          </a:solidFill>
                          <a:latin typeface="Garamond" pitchFamily="34" charset="0"/>
                          <a:ea typeface="Garamond" pitchFamily="34" charset="-122"/>
                          <a:cs typeface="Garamond" pitchFamily="34" charset="-120"/>
                        </a:rPr>
                        <a:t>LSTM-AE / CNN-AE</a:t>
                      </a:r>
                      <a:endParaRPr lang="en-US" sz="1100" dirty="0">
                        <a:latin typeface="Garamond" charset="0"/>
                        <a:ea typeface="Garamond" charset="0"/>
                        <a:cs typeface="Garamond" charset="0"/>
                      </a:endParaRPr>
                    </a:p>
                  </a:txBody>
                  <a:tcPr>
                    <a:lnL w="10160" cap="flat" cmpd="sng" algn="ctr">
                      <a:solidFill>
                        <a:srgbClr val="D1E0F0"/>
                      </a:solidFill>
                      <a:prstDash val="solid"/>
                      <a:round/>
                      <a:headEnd type="none" w="med" len="med"/>
                      <a:tailEnd type="none" w="med" len="med"/>
                    </a:lnL>
                    <a:lnR w="10160" cap="flat" cmpd="sng" algn="ctr">
                      <a:solidFill>
                        <a:srgbClr val="D1E0F0"/>
                      </a:solidFill>
                      <a:prstDash val="solid"/>
                      <a:round/>
                      <a:headEnd type="none" w="med" len="med"/>
                      <a:tailEnd type="none" w="med" len="med"/>
                    </a:lnR>
                    <a:lnT w="10160" cap="flat" cmpd="sng" algn="ctr">
                      <a:solidFill>
                        <a:srgbClr val="D1E0F0"/>
                      </a:solidFill>
                      <a:prstDash val="solid"/>
                      <a:round/>
                      <a:headEnd type="none" w="med" len="med"/>
                      <a:tailEnd type="none" w="med" len="med"/>
                    </a:lnT>
                    <a:lnB w="10160" cap="flat" cmpd="sng" algn="ctr">
                      <a:solidFill>
                        <a:srgbClr val="D1E0F0"/>
                      </a:solidFill>
                      <a:prstDash val="solid"/>
                      <a:round/>
                      <a:headEnd type="none" w="med" len="med"/>
                      <a:tailEnd type="none" w="med" len="med"/>
                    </a:lnB>
                    <a:solidFill>
                      <a:srgbClr val="EEF4FB"/>
                    </a:solidFill>
                  </a:tcPr>
                </a:tc>
                <a:tc>
                  <a:txBody>
                    <a:bodyPr/>
                    <a:lstStyle/>
                    <a:p>
                      <a:pPr marL="0" indent="0" algn="ctr">
                        <a:buNone/>
                      </a:pPr>
                      <a:r>
                        <a:rPr lang="en-US" sz="1100" b="1" dirty="0">
                          <a:solidFill>
                            <a:srgbClr val="005A4A"/>
                          </a:solidFill>
                          <a:latin typeface="Garamond" pitchFamily="34" charset="0"/>
                          <a:ea typeface="Garamond" pitchFamily="34" charset="-122"/>
                          <a:cs typeface="Garamond" pitchFamily="34" charset="-120"/>
                        </a:rPr>
                        <a:t>1.000</a:t>
                      </a:r>
                      <a:endParaRPr lang="en-US" sz="1100" dirty="0">
                        <a:latin typeface="Garamond" charset="0"/>
                        <a:ea typeface="Garamond" charset="0"/>
                        <a:cs typeface="Garamond" charset="0"/>
                      </a:endParaRPr>
                    </a:p>
                  </a:txBody>
                  <a:tcPr>
                    <a:lnL w="10160" cap="flat" cmpd="sng" algn="ctr">
                      <a:solidFill>
                        <a:srgbClr val="D1E0F0"/>
                      </a:solidFill>
                      <a:prstDash val="solid"/>
                      <a:round/>
                      <a:headEnd type="none" w="med" len="med"/>
                      <a:tailEnd type="none" w="med" len="med"/>
                    </a:lnL>
                    <a:lnR w="10160" cap="flat" cmpd="sng" algn="ctr">
                      <a:solidFill>
                        <a:srgbClr val="D1E0F0"/>
                      </a:solidFill>
                      <a:prstDash val="solid"/>
                      <a:round/>
                      <a:headEnd type="none" w="med" len="med"/>
                      <a:tailEnd type="none" w="med" len="med"/>
                    </a:lnR>
                    <a:lnT w="10160" cap="flat" cmpd="sng" algn="ctr">
                      <a:solidFill>
                        <a:srgbClr val="D1E0F0"/>
                      </a:solidFill>
                      <a:prstDash val="solid"/>
                      <a:round/>
                      <a:headEnd type="none" w="med" len="med"/>
                      <a:tailEnd type="none" w="med" len="med"/>
                    </a:lnT>
                    <a:lnB w="10160" cap="flat" cmpd="sng" algn="ctr">
                      <a:solidFill>
                        <a:srgbClr val="D1E0F0"/>
                      </a:solidFill>
                      <a:prstDash val="solid"/>
                      <a:round/>
                      <a:headEnd type="none" w="med" len="med"/>
                      <a:tailEnd type="none" w="med" len="med"/>
                    </a:lnB>
                    <a:solidFill>
                      <a:srgbClr val="EEF4FB"/>
                    </a:solidFill>
                  </a:tcPr>
                </a:tc>
                <a:extLst>
                  <a:ext uri="{0D108BD9-81ED-4DB2-BD59-A6C34878D82A}">
                    <a16:rowId xmlns:a16="http://schemas.microsoft.com/office/drawing/2014/main" val="10004"/>
                  </a:ext>
                </a:extLst>
              </a:tr>
            </a:tbl>
          </a:graphicData>
        </a:graphic>
      </p:graphicFrame>
      <p:sp>
        <p:nvSpPr>
          <p:cNvPr id="6" name="Shape 3"/>
          <p:cNvSpPr/>
          <p:nvPr/>
        </p:nvSpPr>
        <p:spPr>
          <a:xfrm>
            <a:off x="365760" y="4572000"/>
            <a:ext cx="8412480" cy="457200"/>
          </a:xfrm>
          <a:prstGeom prst="rect">
            <a:avLst/>
          </a:prstGeom>
          <a:solidFill>
            <a:srgbClr val="EEF4FB"/>
          </a:solidFill>
          <a:ln w="12700">
            <a:solidFill>
              <a:srgbClr val="DCE8F5"/>
            </a:solidFill>
            <a:prstDash val="solid"/>
          </a:ln>
          <a:effectLst>
            <a:outerShdw blurRad="101600" dist="25400" dir="8100000" algn="bl" rotWithShape="0">
              <a:srgbClr val="000000">
                <a:alpha val="9000"/>
              </a:srgbClr>
            </a:outerShdw>
          </a:effectLst>
        </p:spPr>
        <p:txBody>
          <a:bodyPr/>
          <a:lstStyle/>
          <a:p>
            <a:endParaRPr lang="LID4096"/>
          </a:p>
        </p:txBody>
      </p:sp>
      <p:sp>
        <p:nvSpPr>
          <p:cNvPr id="7" name="Text 4"/>
          <p:cNvSpPr/>
          <p:nvPr/>
        </p:nvSpPr>
        <p:spPr>
          <a:xfrm>
            <a:off x="502920" y="4617720"/>
            <a:ext cx="8138160" cy="384048"/>
          </a:xfrm>
          <a:prstGeom prst="rect">
            <a:avLst/>
          </a:prstGeom>
          <a:noFill/>
          <a:ln/>
        </p:spPr>
        <p:txBody>
          <a:bodyPr wrap="square" lIns="0" tIns="0" rIns="0" bIns="0" rtlCol="0" anchor="ctr"/>
          <a:lstStyle/>
          <a:p>
            <a:pPr marL="0" indent="0">
              <a:buNone/>
            </a:pPr>
            <a:r>
              <a:rPr lang="en-US" sz="1100" b="1" dirty="0">
                <a:solidFill>
                  <a:srgbClr val="00B4A6"/>
                </a:solidFill>
                <a:latin typeface="Garamond" pitchFamily="34" charset="0"/>
                <a:ea typeface="Garamond" pitchFamily="34" charset="-122"/>
                <a:cs typeface="Garamond" pitchFamily="34" charset="-120"/>
              </a:rPr>
              <a:t>LSTM-AE</a:t>
            </a:r>
            <a:r>
              <a:rPr lang="en-US" sz="1100" dirty="0">
                <a:solidFill>
                  <a:srgbClr val="1A202C"/>
                </a:solidFill>
                <a:latin typeface="Garamond" pitchFamily="34" charset="0"/>
                <a:ea typeface="Garamond" pitchFamily="34" charset="-122"/>
                <a:cs typeface="Garamond" pitchFamily="34" charset="-120"/>
              </a:rPr>
              <a:t> is strongest on NAB cloud series.  </a:t>
            </a:r>
            <a:r>
              <a:rPr lang="en-US" sz="1100" b="1" dirty="0">
                <a:solidFill>
                  <a:srgbClr val="1A6FC4"/>
                </a:solidFill>
                <a:latin typeface="Garamond" pitchFamily="34" charset="0"/>
                <a:ea typeface="Garamond" pitchFamily="34" charset="-122"/>
                <a:cs typeface="Garamond" pitchFamily="34" charset="-120"/>
              </a:rPr>
              <a:t>Calibrated Z-score</a:t>
            </a:r>
            <a:r>
              <a:rPr lang="en-US" sz="1100" dirty="0">
                <a:solidFill>
                  <a:srgbClr val="1A202C"/>
                </a:solidFill>
                <a:latin typeface="Garamond" pitchFamily="34" charset="0"/>
                <a:ea typeface="Garamond" pitchFamily="34" charset="-122"/>
                <a:cs typeface="Garamond" pitchFamily="34" charset="-120"/>
              </a:rPr>
              <a:t> is most reliable on SKAB.  </a:t>
            </a:r>
            <a:r>
              <a:rPr lang="en-US" sz="1100" b="1" dirty="0">
                <a:solidFill>
                  <a:srgbClr val="8B5CF6"/>
                </a:solidFill>
                <a:latin typeface="Garamond" pitchFamily="34" charset="0"/>
                <a:ea typeface="Garamond" pitchFamily="34" charset="-122"/>
                <a:cs typeface="Garamond" pitchFamily="34" charset="-120"/>
              </a:rPr>
              <a:t>Isolation Forest</a:t>
            </a:r>
            <a:r>
              <a:rPr lang="en-US" sz="1100" dirty="0">
                <a:solidFill>
                  <a:srgbClr val="1A202C"/>
                </a:solidFill>
                <a:latin typeface="Garamond" pitchFamily="34" charset="0"/>
                <a:ea typeface="Garamond" pitchFamily="34" charset="-122"/>
                <a:cs typeface="Garamond" pitchFamily="34" charset="-120"/>
              </a:rPr>
              <a:t> fragments alerts on complex NAB splits.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28600"/>
            <a:ext cx="64008" cy="530352"/>
          </a:xfrm>
          <a:prstGeom prst="rect">
            <a:avLst/>
          </a:prstGeom>
          <a:solidFill>
            <a:srgbClr val="29ABE2"/>
          </a:solidFill>
          <a:ln w="12700">
            <a:solidFill>
              <a:srgbClr val="29ABE2"/>
            </a:solidFill>
            <a:prstDash val="solid"/>
          </a:ln>
        </p:spPr>
        <p:txBody>
          <a:bodyPr/>
          <a:lstStyle/>
          <a:p>
            <a:endParaRPr lang="LID4096"/>
          </a:p>
        </p:txBody>
      </p:sp>
      <p:sp>
        <p:nvSpPr>
          <p:cNvPr id="3" name="Text 1"/>
          <p:cNvSpPr/>
          <p:nvPr/>
        </p:nvSpPr>
        <p:spPr>
          <a:xfrm>
            <a:off x="566928" y="173736"/>
            <a:ext cx="8321040" cy="548640"/>
          </a:xfrm>
          <a:prstGeom prst="rect">
            <a:avLst/>
          </a:prstGeom>
          <a:noFill/>
          <a:ln/>
        </p:spPr>
        <p:txBody>
          <a:bodyPr wrap="square" lIns="0" tIns="0" rIns="0" bIns="0" rtlCol="0" anchor="ctr"/>
          <a:lstStyle/>
          <a:p>
            <a:pPr marL="0" indent="0">
              <a:buNone/>
            </a:pPr>
            <a:r>
              <a:rPr lang="en-US" sz="2600" b="1" dirty="0">
                <a:solidFill>
                  <a:srgbClr val="0A2342"/>
                </a:solidFill>
                <a:latin typeface="Palatino Linotype" pitchFamily="34" charset="0"/>
                <a:ea typeface="Palatino Linotype" pitchFamily="34" charset="-122"/>
                <a:cs typeface="Palatino Linotype" pitchFamily="34" charset="-120"/>
              </a:rPr>
              <a:t>Deep Dive: SKAB valve1/1</a:t>
            </a:r>
            <a:endParaRPr lang="en-US" sz="2600" dirty="0"/>
          </a:p>
        </p:txBody>
      </p:sp>
      <p:sp>
        <p:nvSpPr>
          <p:cNvPr id="4" name="Text 2"/>
          <p:cNvSpPr/>
          <p:nvPr/>
        </p:nvSpPr>
        <p:spPr>
          <a:xfrm>
            <a:off x="566928" y="731520"/>
            <a:ext cx="8046720" cy="274320"/>
          </a:xfrm>
          <a:prstGeom prst="rect">
            <a:avLst/>
          </a:prstGeom>
          <a:noFill/>
          <a:ln/>
        </p:spPr>
        <p:txBody>
          <a:bodyPr wrap="square" lIns="0" tIns="0" rIns="0" bIns="0" rtlCol="0" anchor="ctr"/>
          <a:lstStyle/>
          <a:p>
            <a:pPr marL="0" indent="0">
              <a:buNone/>
            </a:pPr>
            <a:r>
              <a:rPr lang="en-US" sz="1250" dirty="0">
                <a:solidFill>
                  <a:srgbClr val="64748B"/>
                </a:solidFill>
                <a:latin typeface="Garamond" pitchFamily="34" charset="0"/>
                <a:ea typeface="Garamond" pitchFamily="34" charset="-122"/>
                <a:cs typeface="Garamond" pitchFamily="34" charset="-120"/>
              </a:rPr>
              <a:t>Clean normal→fault boundary — warmup calibration is highly effective</a:t>
            </a:r>
            <a:endParaRPr lang="en-US" sz="1250" dirty="0"/>
          </a:p>
        </p:txBody>
      </p:sp>
      <p:sp>
        <p:nvSpPr>
          <p:cNvPr id="5" name="Shape 3"/>
          <p:cNvSpPr/>
          <p:nvPr/>
        </p:nvSpPr>
        <p:spPr>
          <a:xfrm>
            <a:off x="411480" y="1143000"/>
            <a:ext cx="4023360" cy="1554480"/>
          </a:xfrm>
          <a:prstGeom prst="rect">
            <a:avLst/>
          </a:prstGeom>
          <a:solidFill>
            <a:srgbClr val="EEF4FB"/>
          </a:solidFill>
          <a:ln w="12700">
            <a:solidFill>
              <a:srgbClr val="1A6FC4"/>
            </a:solidFill>
            <a:prstDash val="solid"/>
          </a:ln>
          <a:effectLst>
            <a:outerShdw blurRad="101600" dist="25400" dir="8100000" algn="bl" rotWithShape="0">
              <a:srgbClr val="000000">
                <a:alpha val="9000"/>
              </a:srgbClr>
            </a:outerShdw>
          </a:effectLst>
        </p:spPr>
        <p:txBody>
          <a:bodyPr/>
          <a:lstStyle/>
          <a:p>
            <a:endParaRPr lang="LID4096"/>
          </a:p>
        </p:txBody>
      </p:sp>
      <p:sp>
        <p:nvSpPr>
          <p:cNvPr id="6" name="Shape 4"/>
          <p:cNvSpPr/>
          <p:nvPr/>
        </p:nvSpPr>
        <p:spPr>
          <a:xfrm>
            <a:off x="411480" y="1143000"/>
            <a:ext cx="4023360" cy="54864"/>
          </a:xfrm>
          <a:prstGeom prst="rect">
            <a:avLst/>
          </a:prstGeom>
          <a:solidFill>
            <a:srgbClr val="1A6FC4"/>
          </a:solidFill>
          <a:ln w="12700">
            <a:solidFill>
              <a:srgbClr val="1A6FC4"/>
            </a:solidFill>
            <a:prstDash val="solid"/>
          </a:ln>
        </p:spPr>
        <p:txBody>
          <a:bodyPr/>
          <a:lstStyle/>
          <a:p>
            <a:endParaRPr lang="LID4096"/>
          </a:p>
        </p:txBody>
      </p:sp>
      <p:sp>
        <p:nvSpPr>
          <p:cNvPr id="7" name="Text 5"/>
          <p:cNvSpPr/>
          <p:nvPr/>
        </p:nvSpPr>
        <p:spPr>
          <a:xfrm>
            <a:off x="548640" y="1234440"/>
            <a:ext cx="1828800" cy="292608"/>
          </a:xfrm>
          <a:prstGeom prst="rect">
            <a:avLst/>
          </a:prstGeom>
          <a:noFill/>
          <a:ln/>
        </p:spPr>
        <p:txBody>
          <a:bodyPr wrap="square" lIns="0" tIns="0" rIns="0" bIns="0" rtlCol="0" anchor="ctr"/>
          <a:lstStyle/>
          <a:p>
            <a:pPr marL="0" indent="0">
              <a:buNone/>
            </a:pPr>
            <a:r>
              <a:rPr lang="en-US" sz="1400" b="1" dirty="0">
                <a:solidFill>
                  <a:srgbClr val="1A6FC4"/>
                </a:solidFill>
                <a:latin typeface="Palatino Linotype" pitchFamily="34" charset="0"/>
                <a:ea typeface="Palatino Linotype" pitchFamily="34" charset="-122"/>
                <a:cs typeface="Palatino Linotype" pitchFamily="34" charset="-120"/>
              </a:rPr>
              <a:t>Z-score</a:t>
            </a:r>
            <a:endParaRPr lang="en-US" sz="1400" dirty="0"/>
          </a:p>
        </p:txBody>
      </p:sp>
      <p:sp>
        <p:nvSpPr>
          <p:cNvPr id="8" name="Shape 6"/>
          <p:cNvSpPr/>
          <p:nvPr/>
        </p:nvSpPr>
        <p:spPr>
          <a:xfrm>
            <a:off x="548640" y="1600200"/>
            <a:ext cx="1170432" cy="411480"/>
          </a:xfrm>
          <a:prstGeom prst="rect">
            <a:avLst/>
          </a:prstGeom>
          <a:solidFill>
            <a:srgbClr val="FFFFFF"/>
          </a:solidFill>
          <a:ln w="10160">
            <a:solidFill>
              <a:srgbClr val="1A6FC4"/>
            </a:solidFill>
            <a:prstDash val="solid"/>
          </a:ln>
        </p:spPr>
        <p:txBody>
          <a:bodyPr/>
          <a:lstStyle/>
          <a:p>
            <a:endParaRPr lang="LID4096"/>
          </a:p>
        </p:txBody>
      </p:sp>
      <p:sp>
        <p:nvSpPr>
          <p:cNvPr id="9" name="Text 7"/>
          <p:cNvSpPr/>
          <p:nvPr/>
        </p:nvSpPr>
        <p:spPr>
          <a:xfrm>
            <a:off x="594360" y="1618488"/>
            <a:ext cx="1078992" cy="164592"/>
          </a:xfrm>
          <a:prstGeom prst="rect">
            <a:avLst/>
          </a:prstGeom>
          <a:noFill/>
          <a:ln/>
        </p:spPr>
        <p:txBody>
          <a:bodyPr wrap="square" lIns="0" tIns="0" rIns="0" bIns="0" rtlCol="0" anchor="ctr"/>
          <a:lstStyle/>
          <a:p>
            <a:pPr marL="0" indent="0" algn="ctr">
              <a:buNone/>
            </a:pPr>
            <a:r>
              <a:rPr lang="en-US" sz="800" dirty="0">
                <a:solidFill>
                  <a:srgbClr val="64748B"/>
                </a:solidFill>
                <a:latin typeface="Garamond" pitchFamily="34" charset="0"/>
                <a:ea typeface="Garamond" pitchFamily="34" charset="-122"/>
                <a:cs typeface="Garamond" pitchFamily="34" charset="-120"/>
              </a:rPr>
              <a:t>Point F1</a:t>
            </a:r>
            <a:endParaRPr lang="en-US" sz="800" dirty="0"/>
          </a:p>
        </p:txBody>
      </p:sp>
      <p:sp>
        <p:nvSpPr>
          <p:cNvPr id="10" name="Text 8"/>
          <p:cNvSpPr/>
          <p:nvPr/>
        </p:nvSpPr>
        <p:spPr>
          <a:xfrm>
            <a:off x="594360" y="1773936"/>
            <a:ext cx="1078992" cy="201168"/>
          </a:xfrm>
          <a:prstGeom prst="rect">
            <a:avLst/>
          </a:prstGeom>
          <a:noFill/>
          <a:ln/>
        </p:spPr>
        <p:txBody>
          <a:bodyPr wrap="square" lIns="0" tIns="0" rIns="0" bIns="0" rtlCol="0" anchor="ctr"/>
          <a:lstStyle/>
          <a:p>
            <a:pPr marL="0" indent="0" algn="ctr">
              <a:buNone/>
            </a:pPr>
            <a:r>
              <a:rPr lang="en-US" sz="1200" b="1" dirty="0">
                <a:solidFill>
                  <a:srgbClr val="1A6FC4"/>
                </a:solidFill>
                <a:latin typeface="Palatino Linotype" pitchFamily="34" charset="0"/>
                <a:ea typeface="Palatino Linotype" pitchFamily="34" charset="-122"/>
                <a:cs typeface="Palatino Linotype" pitchFamily="34" charset="-120"/>
              </a:rPr>
              <a:t>0.677</a:t>
            </a:r>
            <a:endParaRPr lang="en-US" sz="1200" dirty="0"/>
          </a:p>
        </p:txBody>
      </p:sp>
      <p:sp>
        <p:nvSpPr>
          <p:cNvPr id="11" name="Shape 9"/>
          <p:cNvSpPr/>
          <p:nvPr/>
        </p:nvSpPr>
        <p:spPr>
          <a:xfrm>
            <a:off x="1810512" y="1600200"/>
            <a:ext cx="1170432" cy="411480"/>
          </a:xfrm>
          <a:prstGeom prst="rect">
            <a:avLst/>
          </a:prstGeom>
          <a:solidFill>
            <a:srgbClr val="1A6FC4"/>
          </a:solidFill>
          <a:ln w="10160">
            <a:solidFill>
              <a:srgbClr val="1A6FC4"/>
            </a:solidFill>
            <a:prstDash val="solid"/>
          </a:ln>
        </p:spPr>
        <p:txBody>
          <a:bodyPr/>
          <a:lstStyle/>
          <a:p>
            <a:endParaRPr lang="LID4096"/>
          </a:p>
        </p:txBody>
      </p:sp>
      <p:sp>
        <p:nvSpPr>
          <p:cNvPr id="12" name="Text 10"/>
          <p:cNvSpPr/>
          <p:nvPr/>
        </p:nvSpPr>
        <p:spPr>
          <a:xfrm>
            <a:off x="1856232" y="1618488"/>
            <a:ext cx="1078992" cy="164592"/>
          </a:xfrm>
          <a:prstGeom prst="rect">
            <a:avLst/>
          </a:prstGeom>
          <a:noFill/>
          <a:ln/>
        </p:spPr>
        <p:txBody>
          <a:bodyPr wrap="square" lIns="0" tIns="0" rIns="0" bIns="0" rtlCol="0" anchor="ctr"/>
          <a:lstStyle/>
          <a:p>
            <a:pPr marL="0" indent="0" algn="ctr">
              <a:buNone/>
            </a:pPr>
            <a:r>
              <a:rPr lang="en-US" sz="800" dirty="0">
                <a:solidFill>
                  <a:srgbClr val="FFFFFF"/>
                </a:solidFill>
                <a:latin typeface="Garamond" pitchFamily="34" charset="0"/>
                <a:ea typeface="Garamond" pitchFamily="34" charset="-122"/>
                <a:cs typeface="Garamond" pitchFamily="34" charset="-120"/>
              </a:rPr>
              <a:t>Event F1</a:t>
            </a:r>
            <a:endParaRPr lang="en-US" sz="800" dirty="0"/>
          </a:p>
        </p:txBody>
      </p:sp>
      <p:sp>
        <p:nvSpPr>
          <p:cNvPr id="13" name="Text 11"/>
          <p:cNvSpPr/>
          <p:nvPr/>
        </p:nvSpPr>
        <p:spPr>
          <a:xfrm>
            <a:off x="1856232" y="1773936"/>
            <a:ext cx="1078992" cy="201168"/>
          </a:xfrm>
          <a:prstGeom prst="rect">
            <a:avLst/>
          </a:prstGeom>
          <a:noFill/>
          <a:ln/>
        </p:spPr>
        <p:txBody>
          <a:bodyPr wrap="square" lIns="0" tIns="0" rIns="0" bIns="0" rtlCol="0" anchor="ctr"/>
          <a:lstStyle/>
          <a:p>
            <a:pPr marL="0" indent="0" algn="ctr">
              <a:buNone/>
            </a:pPr>
            <a:r>
              <a:rPr lang="en-US" sz="1200" b="1" dirty="0">
                <a:solidFill>
                  <a:srgbClr val="FFFFFF"/>
                </a:solidFill>
                <a:latin typeface="Palatino Linotype" pitchFamily="34" charset="0"/>
                <a:ea typeface="Palatino Linotype" pitchFamily="34" charset="-122"/>
                <a:cs typeface="Palatino Linotype" pitchFamily="34" charset="-120"/>
              </a:rPr>
              <a:t>1.000</a:t>
            </a:r>
            <a:endParaRPr lang="en-US" sz="1200" dirty="0"/>
          </a:p>
        </p:txBody>
      </p:sp>
      <p:sp>
        <p:nvSpPr>
          <p:cNvPr id="14" name="Shape 12"/>
          <p:cNvSpPr/>
          <p:nvPr/>
        </p:nvSpPr>
        <p:spPr>
          <a:xfrm>
            <a:off x="3072384" y="1600200"/>
            <a:ext cx="1170432" cy="411480"/>
          </a:xfrm>
          <a:prstGeom prst="rect">
            <a:avLst/>
          </a:prstGeom>
          <a:solidFill>
            <a:srgbClr val="FFFFFF"/>
          </a:solidFill>
          <a:ln w="10160">
            <a:solidFill>
              <a:srgbClr val="1A6FC4"/>
            </a:solidFill>
            <a:prstDash val="solid"/>
          </a:ln>
        </p:spPr>
        <p:txBody>
          <a:bodyPr/>
          <a:lstStyle/>
          <a:p>
            <a:endParaRPr lang="LID4096"/>
          </a:p>
        </p:txBody>
      </p:sp>
      <p:sp>
        <p:nvSpPr>
          <p:cNvPr id="15" name="Text 13"/>
          <p:cNvSpPr/>
          <p:nvPr/>
        </p:nvSpPr>
        <p:spPr>
          <a:xfrm>
            <a:off x="3118104" y="1618488"/>
            <a:ext cx="1078992" cy="164592"/>
          </a:xfrm>
          <a:prstGeom prst="rect">
            <a:avLst/>
          </a:prstGeom>
          <a:noFill/>
          <a:ln/>
        </p:spPr>
        <p:txBody>
          <a:bodyPr wrap="square" lIns="0" tIns="0" rIns="0" bIns="0" rtlCol="0" anchor="ctr"/>
          <a:lstStyle/>
          <a:p>
            <a:pPr marL="0" indent="0" algn="ctr">
              <a:buNone/>
            </a:pPr>
            <a:r>
              <a:rPr lang="en-US" sz="800" dirty="0">
                <a:solidFill>
                  <a:srgbClr val="64748B"/>
                </a:solidFill>
                <a:latin typeface="Garamond" pitchFamily="34" charset="0"/>
                <a:ea typeface="Garamond" pitchFamily="34" charset="-122"/>
                <a:cs typeface="Garamond" pitchFamily="34" charset="-120"/>
              </a:rPr>
              <a:t>PR-AUC</a:t>
            </a:r>
            <a:endParaRPr lang="en-US" sz="800" dirty="0"/>
          </a:p>
        </p:txBody>
      </p:sp>
      <p:sp>
        <p:nvSpPr>
          <p:cNvPr id="16" name="Text 14"/>
          <p:cNvSpPr/>
          <p:nvPr/>
        </p:nvSpPr>
        <p:spPr>
          <a:xfrm>
            <a:off x="3118104" y="1773936"/>
            <a:ext cx="1078992" cy="201168"/>
          </a:xfrm>
          <a:prstGeom prst="rect">
            <a:avLst/>
          </a:prstGeom>
          <a:noFill/>
          <a:ln/>
        </p:spPr>
        <p:txBody>
          <a:bodyPr wrap="square" lIns="0" tIns="0" rIns="0" bIns="0" rtlCol="0" anchor="ctr"/>
          <a:lstStyle/>
          <a:p>
            <a:pPr marL="0" indent="0" algn="ctr">
              <a:buNone/>
            </a:pPr>
            <a:r>
              <a:rPr lang="en-US" sz="1200" b="1" dirty="0">
                <a:solidFill>
                  <a:srgbClr val="1A6FC4"/>
                </a:solidFill>
                <a:latin typeface="Palatino Linotype" pitchFamily="34" charset="0"/>
                <a:ea typeface="Palatino Linotype" pitchFamily="34" charset="-122"/>
                <a:cs typeface="Palatino Linotype" pitchFamily="34" charset="-120"/>
              </a:rPr>
              <a:t>0.383</a:t>
            </a:r>
            <a:endParaRPr lang="en-US" sz="1200" dirty="0"/>
          </a:p>
        </p:txBody>
      </p:sp>
      <p:sp>
        <p:nvSpPr>
          <p:cNvPr id="17" name="Text 15"/>
          <p:cNvSpPr/>
          <p:nvPr/>
        </p:nvSpPr>
        <p:spPr>
          <a:xfrm>
            <a:off x="548640" y="2103120"/>
            <a:ext cx="3749040" cy="521208"/>
          </a:xfrm>
          <a:prstGeom prst="rect">
            <a:avLst/>
          </a:prstGeom>
          <a:noFill/>
          <a:ln/>
        </p:spPr>
        <p:txBody>
          <a:bodyPr wrap="square" lIns="0" tIns="0" rIns="0" bIns="0" rtlCol="0" anchor="ctr"/>
          <a:lstStyle/>
          <a:p>
            <a:pPr marL="0" indent="0">
              <a:lnSpc>
                <a:spcPct val="130000"/>
              </a:lnSpc>
              <a:buNone/>
            </a:pPr>
            <a:r>
              <a:rPr lang="en-US" sz="1400" dirty="0">
                <a:solidFill>
                  <a:srgbClr val="1A202C"/>
                </a:solidFill>
                <a:latin typeface="Garamond" pitchFamily="34" charset="0"/>
                <a:ea typeface="Garamond" pitchFamily="34" charset="-122"/>
                <a:cs typeface="Garamond" pitchFamily="34" charset="-120"/>
              </a:rPr>
              <a:t>10th percentile warmup → tight threshold → 1 coherent alert</a:t>
            </a:r>
            <a:endParaRPr lang="en-US" sz="1400" dirty="0"/>
          </a:p>
        </p:txBody>
      </p:sp>
      <p:sp>
        <p:nvSpPr>
          <p:cNvPr id="18" name="Shape 16"/>
          <p:cNvSpPr/>
          <p:nvPr/>
        </p:nvSpPr>
        <p:spPr>
          <a:xfrm>
            <a:off x="4709160" y="1143000"/>
            <a:ext cx="4023360" cy="1554480"/>
          </a:xfrm>
          <a:prstGeom prst="rect">
            <a:avLst/>
          </a:prstGeom>
          <a:solidFill>
            <a:srgbClr val="EEF4FB"/>
          </a:solidFill>
          <a:ln w="12700">
            <a:solidFill>
              <a:srgbClr val="8B5CF6"/>
            </a:solidFill>
            <a:prstDash val="solid"/>
          </a:ln>
          <a:effectLst>
            <a:outerShdw blurRad="101600" dist="25400" dir="8100000" algn="bl" rotWithShape="0">
              <a:srgbClr val="000000">
                <a:alpha val="9000"/>
              </a:srgbClr>
            </a:outerShdw>
          </a:effectLst>
        </p:spPr>
        <p:txBody>
          <a:bodyPr/>
          <a:lstStyle/>
          <a:p>
            <a:endParaRPr lang="LID4096"/>
          </a:p>
        </p:txBody>
      </p:sp>
      <p:sp>
        <p:nvSpPr>
          <p:cNvPr id="19" name="Shape 17"/>
          <p:cNvSpPr/>
          <p:nvPr/>
        </p:nvSpPr>
        <p:spPr>
          <a:xfrm>
            <a:off x="4709160" y="1143000"/>
            <a:ext cx="4023360" cy="54864"/>
          </a:xfrm>
          <a:prstGeom prst="rect">
            <a:avLst/>
          </a:prstGeom>
          <a:solidFill>
            <a:srgbClr val="8B5CF6"/>
          </a:solidFill>
          <a:ln w="12700">
            <a:solidFill>
              <a:srgbClr val="8B5CF6"/>
            </a:solidFill>
            <a:prstDash val="solid"/>
          </a:ln>
        </p:spPr>
        <p:txBody>
          <a:bodyPr/>
          <a:lstStyle/>
          <a:p>
            <a:endParaRPr lang="LID4096"/>
          </a:p>
        </p:txBody>
      </p:sp>
      <p:sp>
        <p:nvSpPr>
          <p:cNvPr id="20" name="Text 18"/>
          <p:cNvSpPr/>
          <p:nvPr/>
        </p:nvSpPr>
        <p:spPr>
          <a:xfrm>
            <a:off x="4846320" y="1234440"/>
            <a:ext cx="1828800" cy="292608"/>
          </a:xfrm>
          <a:prstGeom prst="rect">
            <a:avLst/>
          </a:prstGeom>
          <a:noFill/>
          <a:ln/>
        </p:spPr>
        <p:txBody>
          <a:bodyPr wrap="square" lIns="0" tIns="0" rIns="0" bIns="0" rtlCol="0" anchor="ctr"/>
          <a:lstStyle/>
          <a:p>
            <a:pPr marL="0" indent="0">
              <a:buNone/>
            </a:pPr>
            <a:r>
              <a:rPr lang="en-US" sz="1400" b="1" dirty="0">
                <a:solidFill>
                  <a:srgbClr val="8B5CF6"/>
                </a:solidFill>
                <a:latin typeface="Palatino Linotype" pitchFamily="34" charset="0"/>
                <a:ea typeface="Palatino Linotype" pitchFamily="34" charset="-122"/>
                <a:cs typeface="Palatino Linotype" pitchFamily="34" charset="-120"/>
              </a:rPr>
              <a:t>Isol. Forest</a:t>
            </a:r>
            <a:endParaRPr lang="en-US" sz="1400" dirty="0"/>
          </a:p>
        </p:txBody>
      </p:sp>
      <p:sp>
        <p:nvSpPr>
          <p:cNvPr id="21" name="Shape 19"/>
          <p:cNvSpPr/>
          <p:nvPr/>
        </p:nvSpPr>
        <p:spPr>
          <a:xfrm>
            <a:off x="4846320" y="1600200"/>
            <a:ext cx="1170432" cy="411480"/>
          </a:xfrm>
          <a:prstGeom prst="rect">
            <a:avLst/>
          </a:prstGeom>
          <a:solidFill>
            <a:srgbClr val="FFFFFF"/>
          </a:solidFill>
          <a:ln w="10160">
            <a:solidFill>
              <a:srgbClr val="8B5CF6"/>
            </a:solidFill>
            <a:prstDash val="solid"/>
          </a:ln>
        </p:spPr>
        <p:txBody>
          <a:bodyPr/>
          <a:lstStyle/>
          <a:p>
            <a:endParaRPr lang="LID4096"/>
          </a:p>
        </p:txBody>
      </p:sp>
      <p:sp>
        <p:nvSpPr>
          <p:cNvPr id="22" name="Text 20"/>
          <p:cNvSpPr/>
          <p:nvPr/>
        </p:nvSpPr>
        <p:spPr>
          <a:xfrm>
            <a:off x="4892040" y="1618488"/>
            <a:ext cx="1078992" cy="164592"/>
          </a:xfrm>
          <a:prstGeom prst="rect">
            <a:avLst/>
          </a:prstGeom>
          <a:noFill/>
          <a:ln/>
        </p:spPr>
        <p:txBody>
          <a:bodyPr wrap="square" lIns="0" tIns="0" rIns="0" bIns="0" rtlCol="0" anchor="ctr"/>
          <a:lstStyle/>
          <a:p>
            <a:pPr marL="0" indent="0" algn="ctr">
              <a:buNone/>
            </a:pPr>
            <a:r>
              <a:rPr lang="en-US" sz="800" dirty="0">
                <a:solidFill>
                  <a:srgbClr val="64748B"/>
                </a:solidFill>
                <a:latin typeface="Garamond" pitchFamily="34" charset="0"/>
                <a:ea typeface="Garamond" pitchFamily="34" charset="-122"/>
                <a:cs typeface="Garamond" pitchFamily="34" charset="-120"/>
              </a:rPr>
              <a:t>Point F1</a:t>
            </a:r>
            <a:endParaRPr lang="en-US" sz="800" dirty="0"/>
          </a:p>
        </p:txBody>
      </p:sp>
      <p:sp>
        <p:nvSpPr>
          <p:cNvPr id="23" name="Text 21"/>
          <p:cNvSpPr/>
          <p:nvPr/>
        </p:nvSpPr>
        <p:spPr>
          <a:xfrm>
            <a:off x="4892040" y="1773936"/>
            <a:ext cx="1078992" cy="201168"/>
          </a:xfrm>
          <a:prstGeom prst="rect">
            <a:avLst/>
          </a:prstGeom>
          <a:noFill/>
          <a:ln/>
        </p:spPr>
        <p:txBody>
          <a:bodyPr wrap="square" lIns="0" tIns="0" rIns="0" bIns="0" rtlCol="0" anchor="ctr"/>
          <a:lstStyle/>
          <a:p>
            <a:pPr marL="0" indent="0" algn="ctr">
              <a:buNone/>
            </a:pPr>
            <a:r>
              <a:rPr lang="en-US" sz="1200" b="1" dirty="0">
                <a:solidFill>
                  <a:srgbClr val="8B5CF6"/>
                </a:solidFill>
                <a:latin typeface="Palatino Linotype" pitchFamily="34" charset="0"/>
                <a:ea typeface="Palatino Linotype" pitchFamily="34" charset="-122"/>
                <a:cs typeface="Palatino Linotype" pitchFamily="34" charset="-120"/>
              </a:rPr>
              <a:t>0.628</a:t>
            </a:r>
            <a:endParaRPr lang="en-US" sz="1200" dirty="0"/>
          </a:p>
        </p:txBody>
      </p:sp>
      <p:sp>
        <p:nvSpPr>
          <p:cNvPr id="24" name="Shape 22"/>
          <p:cNvSpPr/>
          <p:nvPr/>
        </p:nvSpPr>
        <p:spPr>
          <a:xfrm>
            <a:off x="6108192" y="1600200"/>
            <a:ext cx="1170432" cy="411480"/>
          </a:xfrm>
          <a:prstGeom prst="rect">
            <a:avLst/>
          </a:prstGeom>
          <a:solidFill>
            <a:srgbClr val="FFFFFF"/>
          </a:solidFill>
          <a:ln w="10160">
            <a:solidFill>
              <a:srgbClr val="8B5CF6"/>
            </a:solidFill>
            <a:prstDash val="solid"/>
          </a:ln>
        </p:spPr>
        <p:txBody>
          <a:bodyPr/>
          <a:lstStyle/>
          <a:p>
            <a:endParaRPr lang="LID4096"/>
          </a:p>
        </p:txBody>
      </p:sp>
      <p:sp>
        <p:nvSpPr>
          <p:cNvPr id="25" name="Text 23"/>
          <p:cNvSpPr/>
          <p:nvPr/>
        </p:nvSpPr>
        <p:spPr>
          <a:xfrm>
            <a:off x="6153912" y="1618488"/>
            <a:ext cx="1078992" cy="164592"/>
          </a:xfrm>
          <a:prstGeom prst="rect">
            <a:avLst/>
          </a:prstGeom>
          <a:noFill/>
          <a:ln/>
        </p:spPr>
        <p:txBody>
          <a:bodyPr wrap="square" lIns="0" tIns="0" rIns="0" bIns="0" rtlCol="0" anchor="ctr"/>
          <a:lstStyle/>
          <a:p>
            <a:pPr marL="0" indent="0" algn="ctr">
              <a:buNone/>
            </a:pPr>
            <a:r>
              <a:rPr lang="en-US" sz="800" dirty="0">
                <a:solidFill>
                  <a:srgbClr val="64748B"/>
                </a:solidFill>
                <a:latin typeface="Garamond" pitchFamily="34" charset="0"/>
                <a:ea typeface="Garamond" pitchFamily="34" charset="-122"/>
                <a:cs typeface="Garamond" pitchFamily="34" charset="-120"/>
              </a:rPr>
              <a:t>Event F1</a:t>
            </a:r>
            <a:endParaRPr lang="en-US" sz="800" dirty="0"/>
          </a:p>
        </p:txBody>
      </p:sp>
      <p:sp>
        <p:nvSpPr>
          <p:cNvPr id="26" name="Text 24"/>
          <p:cNvSpPr/>
          <p:nvPr/>
        </p:nvSpPr>
        <p:spPr>
          <a:xfrm>
            <a:off x="6153912" y="1773936"/>
            <a:ext cx="1078992" cy="201168"/>
          </a:xfrm>
          <a:prstGeom prst="rect">
            <a:avLst/>
          </a:prstGeom>
          <a:noFill/>
          <a:ln/>
        </p:spPr>
        <p:txBody>
          <a:bodyPr wrap="square" lIns="0" tIns="0" rIns="0" bIns="0" rtlCol="0" anchor="ctr"/>
          <a:lstStyle/>
          <a:p>
            <a:pPr marL="0" indent="0" algn="ctr">
              <a:buNone/>
            </a:pPr>
            <a:r>
              <a:rPr lang="en-US" sz="1200" b="1" dirty="0">
                <a:solidFill>
                  <a:srgbClr val="8B5CF6"/>
                </a:solidFill>
                <a:latin typeface="Palatino Linotype" pitchFamily="34" charset="0"/>
                <a:ea typeface="Palatino Linotype" pitchFamily="34" charset="-122"/>
                <a:cs typeface="Palatino Linotype" pitchFamily="34" charset="-120"/>
              </a:rPr>
              <a:t>0.681</a:t>
            </a:r>
            <a:endParaRPr lang="en-US" sz="1200" dirty="0"/>
          </a:p>
        </p:txBody>
      </p:sp>
      <p:sp>
        <p:nvSpPr>
          <p:cNvPr id="27" name="Shape 25"/>
          <p:cNvSpPr/>
          <p:nvPr/>
        </p:nvSpPr>
        <p:spPr>
          <a:xfrm>
            <a:off x="7370064" y="1600200"/>
            <a:ext cx="1170432" cy="411480"/>
          </a:xfrm>
          <a:prstGeom prst="rect">
            <a:avLst/>
          </a:prstGeom>
          <a:solidFill>
            <a:srgbClr val="FFFFFF"/>
          </a:solidFill>
          <a:ln w="10160">
            <a:solidFill>
              <a:srgbClr val="8B5CF6"/>
            </a:solidFill>
            <a:prstDash val="solid"/>
          </a:ln>
        </p:spPr>
        <p:txBody>
          <a:bodyPr/>
          <a:lstStyle/>
          <a:p>
            <a:endParaRPr lang="LID4096"/>
          </a:p>
        </p:txBody>
      </p:sp>
      <p:sp>
        <p:nvSpPr>
          <p:cNvPr id="28" name="Text 26"/>
          <p:cNvSpPr/>
          <p:nvPr/>
        </p:nvSpPr>
        <p:spPr>
          <a:xfrm>
            <a:off x="7415784" y="1618488"/>
            <a:ext cx="1078992" cy="164592"/>
          </a:xfrm>
          <a:prstGeom prst="rect">
            <a:avLst/>
          </a:prstGeom>
          <a:noFill/>
          <a:ln/>
        </p:spPr>
        <p:txBody>
          <a:bodyPr wrap="square" lIns="0" tIns="0" rIns="0" bIns="0" rtlCol="0" anchor="ctr"/>
          <a:lstStyle/>
          <a:p>
            <a:pPr marL="0" indent="0" algn="ctr">
              <a:buNone/>
            </a:pPr>
            <a:r>
              <a:rPr lang="en-US" sz="800" dirty="0">
                <a:solidFill>
                  <a:srgbClr val="64748B"/>
                </a:solidFill>
                <a:latin typeface="Garamond" pitchFamily="34" charset="0"/>
                <a:ea typeface="Garamond" pitchFamily="34" charset="-122"/>
                <a:cs typeface="Garamond" pitchFamily="34" charset="-120"/>
              </a:rPr>
              <a:t>PR-AUC</a:t>
            </a:r>
            <a:endParaRPr lang="en-US" sz="800" dirty="0"/>
          </a:p>
        </p:txBody>
      </p:sp>
      <p:sp>
        <p:nvSpPr>
          <p:cNvPr id="29" name="Text 27"/>
          <p:cNvSpPr/>
          <p:nvPr/>
        </p:nvSpPr>
        <p:spPr>
          <a:xfrm>
            <a:off x="7415784" y="1773936"/>
            <a:ext cx="1078992" cy="201168"/>
          </a:xfrm>
          <a:prstGeom prst="rect">
            <a:avLst/>
          </a:prstGeom>
          <a:noFill/>
          <a:ln/>
        </p:spPr>
        <p:txBody>
          <a:bodyPr wrap="square" lIns="0" tIns="0" rIns="0" bIns="0" rtlCol="0" anchor="ctr"/>
          <a:lstStyle/>
          <a:p>
            <a:pPr marL="0" indent="0" algn="ctr">
              <a:buNone/>
            </a:pPr>
            <a:r>
              <a:rPr lang="en-US" sz="1200" b="1" dirty="0">
                <a:solidFill>
                  <a:srgbClr val="8B5CF6"/>
                </a:solidFill>
                <a:latin typeface="Palatino Linotype" pitchFamily="34" charset="0"/>
                <a:ea typeface="Palatino Linotype" pitchFamily="34" charset="-122"/>
                <a:cs typeface="Palatino Linotype" pitchFamily="34" charset="-120"/>
              </a:rPr>
              <a:t>0.516</a:t>
            </a:r>
            <a:endParaRPr lang="en-US" sz="1200" dirty="0"/>
          </a:p>
        </p:txBody>
      </p:sp>
      <p:sp>
        <p:nvSpPr>
          <p:cNvPr id="30" name="Text 28"/>
          <p:cNvSpPr/>
          <p:nvPr/>
        </p:nvSpPr>
        <p:spPr>
          <a:xfrm>
            <a:off x="4846320" y="2103120"/>
            <a:ext cx="3749040" cy="521208"/>
          </a:xfrm>
          <a:prstGeom prst="rect">
            <a:avLst/>
          </a:prstGeom>
          <a:noFill/>
          <a:ln/>
        </p:spPr>
        <p:txBody>
          <a:bodyPr wrap="square" lIns="0" tIns="0" rIns="0" bIns="0" rtlCol="0" anchor="ctr"/>
          <a:lstStyle/>
          <a:p>
            <a:pPr marL="0" indent="0">
              <a:lnSpc>
                <a:spcPct val="130000"/>
              </a:lnSpc>
              <a:buNone/>
            </a:pPr>
            <a:r>
              <a:rPr lang="en-US" sz="1400" dirty="0">
                <a:solidFill>
                  <a:srgbClr val="1A202C"/>
                </a:solidFill>
                <a:latin typeface="Garamond" pitchFamily="34" charset="0"/>
                <a:ea typeface="Garamond" pitchFamily="34" charset="-122"/>
                <a:cs typeface="Garamond" pitchFamily="34" charset="-120"/>
              </a:rPr>
              <a:t>91 predicted events — score oscillates around threshold</a:t>
            </a:r>
            <a:endParaRPr lang="en-US" sz="1400" dirty="0"/>
          </a:p>
        </p:txBody>
      </p:sp>
      <p:sp>
        <p:nvSpPr>
          <p:cNvPr id="31" name="Shape 29"/>
          <p:cNvSpPr/>
          <p:nvPr/>
        </p:nvSpPr>
        <p:spPr>
          <a:xfrm>
            <a:off x="411480" y="2834640"/>
            <a:ext cx="4023360" cy="1554480"/>
          </a:xfrm>
          <a:prstGeom prst="rect">
            <a:avLst/>
          </a:prstGeom>
          <a:solidFill>
            <a:srgbClr val="EEF4FB"/>
          </a:solidFill>
          <a:ln w="12700">
            <a:solidFill>
              <a:srgbClr val="00B4A6"/>
            </a:solidFill>
            <a:prstDash val="solid"/>
          </a:ln>
          <a:effectLst>
            <a:outerShdw blurRad="101600" dist="25400" dir="8100000" algn="bl" rotWithShape="0">
              <a:srgbClr val="000000">
                <a:alpha val="9000"/>
              </a:srgbClr>
            </a:outerShdw>
          </a:effectLst>
        </p:spPr>
        <p:txBody>
          <a:bodyPr/>
          <a:lstStyle/>
          <a:p>
            <a:endParaRPr lang="LID4096"/>
          </a:p>
        </p:txBody>
      </p:sp>
      <p:sp>
        <p:nvSpPr>
          <p:cNvPr id="32" name="Shape 30"/>
          <p:cNvSpPr/>
          <p:nvPr/>
        </p:nvSpPr>
        <p:spPr>
          <a:xfrm>
            <a:off x="411480" y="2834640"/>
            <a:ext cx="4023360" cy="54864"/>
          </a:xfrm>
          <a:prstGeom prst="rect">
            <a:avLst/>
          </a:prstGeom>
          <a:solidFill>
            <a:srgbClr val="00B4A6"/>
          </a:solidFill>
          <a:ln w="12700">
            <a:solidFill>
              <a:srgbClr val="00B4A6"/>
            </a:solidFill>
            <a:prstDash val="solid"/>
          </a:ln>
        </p:spPr>
        <p:txBody>
          <a:bodyPr/>
          <a:lstStyle/>
          <a:p>
            <a:endParaRPr lang="LID4096"/>
          </a:p>
        </p:txBody>
      </p:sp>
      <p:sp>
        <p:nvSpPr>
          <p:cNvPr id="33" name="Text 31"/>
          <p:cNvSpPr/>
          <p:nvPr/>
        </p:nvSpPr>
        <p:spPr>
          <a:xfrm>
            <a:off x="548640" y="2926080"/>
            <a:ext cx="1828800" cy="292608"/>
          </a:xfrm>
          <a:prstGeom prst="rect">
            <a:avLst/>
          </a:prstGeom>
          <a:noFill/>
          <a:ln/>
        </p:spPr>
        <p:txBody>
          <a:bodyPr wrap="square" lIns="0" tIns="0" rIns="0" bIns="0" rtlCol="0" anchor="ctr"/>
          <a:lstStyle/>
          <a:p>
            <a:pPr marL="0" indent="0">
              <a:buNone/>
            </a:pPr>
            <a:r>
              <a:rPr lang="en-US" sz="1400" b="1" dirty="0">
                <a:solidFill>
                  <a:srgbClr val="00B4A6"/>
                </a:solidFill>
                <a:latin typeface="Palatino Linotype" pitchFamily="34" charset="0"/>
                <a:ea typeface="Palatino Linotype" pitchFamily="34" charset="-122"/>
                <a:cs typeface="Palatino Linotype" pitchFamily="34" charset="-120"/>
              </a:rPr>
              <a:t>LSTM-AE</a:t>
            </a:r>
            <a:endParaRPr lang="en-US" sz="1400" dirty="0"/>
          </a:p>
        </p:txBody>
      </p:sp>
      <p:sp>
        <p:nvSpPr>
          <p:cNvPr id="34" name="Shape 32"/>
          <p:cNvSpPr/>
          <p:nvPr/>
        </p:nvSpPr>
        <p:spPr>
          <a:xfrm>
            <a:off x="548640" y="3291840"/>
            <a:ext cx="1170432" cy="411480"/>
          </a:xfrm>
          <a:prstGeom prst="rect">
            <a:avLst/>
          </a:prstGeom>
          <a:solidFill>
            <a:srgbClr val="FFFFFF"/>
          </a:solidFill>
          <a:ln w="10160">
            <a:solidFill>
              <a:srgbClr val="00B4A6"/>
            </a:solidFill>
            <a:prstDash val="solid"/>
          </a:ln>
        </p:spPr>
        <p:txBody>
          <a:bodyPr/>
          <a:lstStyle/>
          <a:p>
            <a:endParaRPr lang="LID4096"/>
          </a:p>
        </p:txBody>
      </p:sp>
      <p:sp>
        <p:nvSpPr>
          <p:cNvPr id="35" name="Text 33"/>
          <p:cNvSpPr/>
          <p:nvPr/>
        </p:nvSpPr>
        <p:spPr>
          <a:xfrm>
            <a:off x="594360" y="3310128"/>
            <a:ext cx="1078992" cy="164592"/>
          </a:xfrm>
          <a:prstGeom prst="rect">
            <a:avLst/>
          </a:prstGeom>
          <a:noFill/>
          <a:ln/>
        </p:spPr>
        <p:txBody>
          <a:bodyPr wrap="square" lIns="0" tIns="0" rIns="0" bIns="0" rtlCol="0" anchor="ctr"/>
          <a:lstStyle/>
          <a:p>
            <a:pPr marL="0" indent="0" algn="ctr">
              <a:buNone/>
            </a:pPr>
            <a:r>
              <a:rPr lang="en-US" sz="800" dirty="0">
                <a:solidFill>
                  <a:srgbClr val="64748B"/>
                </a:solidFill>
                <a:latin typeface="Garamond" pitchFamily="34" charset="0"/>
                <a:ea typeface="Garamond" pitchFamily="34" charset="-122"/>
                <a:cs typeface="Garamond" pitchFamily="34" charset="-120"/>
              </a:rPr>
              <a:t>Point F1</a:t>
            </a:r>
            <a:endParaRPr lang="en-US" sz="800" dirty="0"/>
          </a:p>
        </p:txBody>
      </p:sp>
      <p:sp>
        <p:nvSpPr>
          <p:cNvPr id="36" name="Text 34"/>
          <p:cNvSpPr/>
          <p:nvPr/>
        </p:nvSpPr>
        <p:spPr>
          <a:xfrm>
            <a:off x="594360" y="3465576"/>
            <a:ext cx="1078992" cy="201168"/>
          </a:xfrm>
          <a:prstGeom prst="rect">
            <a:avLst/>
          </a:prstGeom>
          <a:noFill/>
          <a:ln/>
        </p:spPr>
        <p:txBody>
          <a:bodyPr wrap="square" lIns="0" tIns="0" rIns="0" bIns="0" rtlCol="0" anchor="ctr"/>
          <a:lstStyle/>
          <a:p>
            <a:pPr marL="0" indent="0" algn="ctr">
              <a:buNone/>
            </a:pPr>
            <a:r>
              <a:rPr lang="en-US" sz="1200" b="1" dirty="0">
                <a:solidFill>
                  <a:srgbClr val="00B4A6"/>
                </a:solidFill>
                <a:latin typeface="Palatino Linotype" pitchFamily="34" charset="0"/>
                <a:ea typeface="Palatino Linotype" pitchFamily="34" charset="-122"/>
                <a:cs typeface="Palatino Linotype" pitchFamily="34" charset="-120"/>
              </a:rPr>
              <a:t>0.667</a:t>
            </a:r>
            <a:endParaRPr lang="en-US" sz="1200" dirty="0"/>
          </a:p>
        </p:txBody>
      </p:sp>
      <p:sp>
        <p:nvSpPr>
          <p:cNvPr id="37" name="Shape 35"/>
          <p:cNvSpPr/>
          <p:nvPr/>
        </p:nvSpPr>
        <p:spPr>
          <a:xfrm>
            <a:off x="1810512" y="3291840"/>
            <a:ext cx="1170432" cy="411480"/>
          </a:xfrm>
          <a:prstGeom prst="rect">
            <a:avLst/>
          </a:prstGeom>
          <a:solidFill>
            <a:srgbClr val="FFFFFF"/>
          </a:solidFill>
          <a:ln w="10160">
            <a:solidFill>
              <a:srgbClr val="00B4A6"/>
            </a:solidFill>
            <a:prstDash val="solid"/>
          </a:ln>
        </p:spPr>
        <p:txBody>
          <a:bodyPr/>
          <a:lstStyle/>
          <a:p>
            <a:endParaRPr lang="LID4096"/>
          </a:p>
        </p:txBody>
      </p:sp>
      <p:sp>
        <p:nvSpPr>
          <p:cNvPr id="38" name="Text 36"/>
          <p:cNvSpPr/>
          <p:nvPr/>
        </p:nvSpPr>
        <p:spPr>
          <a:xfrm>
            <a:off x="1856232" y="3310128"/>
            <a:ext cx="1078992" cy="164592"/>
          </a:xfrm>
          <a:prstGeom prst="rect">
            <a:avLst/>
          </a:prstGeom>
          <a:noFill/>
          <a:ln/>
        </p:spPr>
        <p:txBody>
          <a:bodyPr wrap="square" lIns="0" tIns="0" rIns="0" bIns="0" rtlCol="0" anchor="ctr"/>
          <a:lstStyle/>
          <a:p>
            <a:pPr marL="0" indent="0" algn="ctr">
              <a:buNone/>
            </a:pPr>
            <a:r>
              <a:rPr lang="en-US" sz="800" dirty="0">
                <a:solidFill>
                  <a:srgbClr val="64748B"/>
                </a:solidFill>
                <a:latin typeface="Garamond" pitchFamily="34" charset="0"/>
                <a:ea typeface="Garamond" pitchFamily="34" charset="-122"/>
                <a:cs typeface="Garamond" pitchFamily="34" charset="-120"/>
              </a:rPr>
              <a:t>Event F1</a:t>
            </a:r>
            <a:endParaRPr lang="en-US" sz="800" dirty="0"/>
          </a:p>
        </p:txBody>
      </p:sp>
      <p:sp>
        <p:nvSpPr>
          <p:cNvPr id="39" name="Text 37"/>
          <p:cNvSpPr/>
          <p:nvPr/>
        </p:nvSpPr>
        <p:spPr>
          <a:xfrm>
            <a:off x="1856232" y="3465576"/>
            <a:ext cx="1078992" cy="201168"/>
          </a:xfrm>
          <a:prstGeom prst="rect">
            <a:avLst/>
          </a:prstGeom>
          <a:noFill/>
          <a:ln/>
        </p:spPr>
        <p:txBody>
          <a:bodyPr wrap="square" lIns="0" tIns="0" rIns="0" bIns="0" rtlCol="0" anchor="ctr"/>
          <a:lstStyle/>
          <a:p>
            <a:pPr marL="0" indent="0" algn="ctr">
              <a:buNone/>
            </a:pPr>
            <a:r>
              <a:rPr lang="en-US" sz="1200" b="1" dirty="0">
                <a:solidFill>
                  <a:srgbClr val="00B4A6"/>
                </a:solidFill>
                <a:latin typeface="Palatino Linotype" pitchFamily="34" charset="0"/>
                <a:ea typeface="Palatino Linotype" pitchFamily="34" charset="-122"/>
                <a:cs typeface="Palatino Linotype" pitchFamily="34" charset="-120"/>
              </a:rPr>
              <a:t>0.571</a:t>
            </a:r>
            <a:endParaRPr lang="en-US" sz="1200" dirty="0"/>
          </a:p>
        </p:txBody>
      </p:sp>
      <p:sp>
        <p:nvSpPr>
          <p:cNvPr id="40" name="Shape 38"/>
          <p:cNvSpPr/>
          <p:nvPr/>
        </p:nvSpPr>
        <p:spPr>
          <a:xfrm>
            <a:off x="3072384" y="3291840"/>
            <a:ext cx="1170432" cy="411480"/>
          </a:xfrm>
          <a:prstGeom prst="rect">
            <a:avLst/>
          </a:prstGeom>
          <a:solidFill>
            <a:srgbClr val="00B4A6"/>
          </a:solidFill>
          <a:ln w="10160">
            <a:solidFill>
              <a:srgbClr val="00B4A6"/>
            </a:solidFill>
            <a:prstDash val="solid"/>
          </a:ln>
        </p:spPr>
        <p:txBody>
          <a:bodyPr/>
          <a:lstStyle/>
          <a:p>
            <a:endParaRPr lang="LID4096"/>
          </a:p>
        </p:txBody>
      </p:sp>
      <p:sp>
        <p:nvSpPr>
          <p:cNvPr id="41" name="Text 39"/>
          <p:cNvSpPr/>
          <p:nvPr/>
        </p:nvSpPr>
        <p:spPr>
          <a:xfrm>
            <a:off x="3118104" y="3310128"/>
            <a:ext cx="1078992" cy="164592"/>
          </a:xfrm>
          <a:prstGeom prst="rect">
            <a:avLst/>
          </a:prstGeom>
          <a:noFill/>
          <a:ln/>
        </p:spPr>
        <p:txBody>
          <a:bodyPr wrap="square" lIns="0" tIns="0" rIns="0" bIns="0" rtlCol="0" anchor="ctr"/>
          <a:lstStyle/>
          <a:p>
            <a:pPr marL="0" indent="0" algn="ctr">
              <a:buNone/>
            </a:pPr>
            <a:r>
              <a:rPr lang="en-US" sz="800" dirty="0">
                <a:solidFill>
                  <a:srgbClr val="FFFFFF"/>
                </a:solidFill>
                <a:latin typeface="Garamond" pitchFamily="34" charset="0"/>
                <a:ea typeface="Garamond" pitchFamily="34" charset="-122"/>
                <a:cs typeface="Garamond" pitchFamily="34" charset="-120"/>
              </a:rPr>
              <a:t>PR-AUC</a:t>
            </a:r>
            <a:endParaRPr lang="en-US" sz="800" dirty="0"/>
          </a:p>
        </p:txBody>
      </p:sp>
      <p:sp>
        <p:nvSpPr>
          <p:cNvPr id="42" name="Text 40"/>
          <p:cNvSpPr/>
          <p:nvPr/>
        </p:nvSpPr>
        <p:spPr>
          <a:xfrm>
            <a:off x="3118104" y="3465576"/>
            <a:ext cx="1078992" cy="201168"/>
          </a:xfrm>
          <a:prstGeom prst="rect">
            <a:avLst/>
          </a:prstGeom>
          <a:noFill/>
          <a:ln/>
        </p:spPr>
        <p:txBody>
          <a:bodyPr wrap="square" lIns="0" tIns="0" rIns="0" bIns="0" rtlCol="0" anchor="ctr"/>
          <a:lstStyle/>
          <a:p>
            <a:pPr marL="0" indent="0" algn="ctr">
              <a:buNone/>
            </a:pPr>
            <a:r>
              <a:rPr lang="en-US" sz="1200" b="1" dirty="0">
                <a:solidFill>
                  <a:srgbClr val="FFFFFF"/>
                </a:solidFill>
                <a:latin typeface="Palatino Linotype" pitchFamily="34" charset="0"/>
                <a:ea typeface="Palatino Linotype" pitchFamily="34" charset="-122"/>
                <a:cs typeface="Palatino Linotype" pitchFamily="34" charset="-120"/>
              </a:rPr>
              <a:t>0.695</a:t>
            </a:r>
            <a:endParaRPr lang="en-US" sz="1200" dirty="0"/>
          </a:p>
        </p:txBody>
      </p:sp>
      <p:sp>
        <p:nvSpPr>
          <p:cNvPr id="43" name="Text 41"/>
          <p:cNvSpPr/>
          <p:nvPr/>
        </p:nvSpPr>
        <p:spPr>
          <a:xfrm>
            <a:off x="548640" y="3794760"/>
            <a:ext cx="3749040" cy="521208"/>
          </a:xfrm>
          <a:prstGeom prst="rect">
            <a:avLst/>
          </a:prstGeom>
          <a:noFill/>
          <a:ln/>
        </p:spPr>
        <p:txBody>
          <a:bodyPr wrap="square" lIns="0" tIns="0" rIns="0" bIns="0" rtlCol="0" anchor="ctr"/>
          <a:lstStyle/>
          <a:p>
            <a:pPr marL="0" indent="0">
              <a:lnSpc>
                <a:spcPct val="130000"/>
              </a:lnSpc>
              <a:buNone/>
            </a:pPr>
            <a:r>
              <a:rPr lang="en-US" sz="1400" dirty="0">
                <a:solidFill>
                  <a:srgbClr val="1A202C"/>
                </a:solidFill>
                <a:latin typeface="Garamond" pitchFamily="34" charset="0"/>
                <a:ea typeface="Garamond" pitchFamily="34" charset="-122"/>
                <a:cs typeface="Garamond" pitchFamily="34" charset="-120"/>
              </a:rPr>
              <a:t>Best ranker (PR-AUC 0.695) but splits fault into segments</a:t>
            </a:r>
            <a:endParaRPr lang="en-US" sz="1400" dirty="0"/>
          </a:p>
        </p:txBody>
      </p:sp>
      <p:sp>
        <p:nvSpPr>
          <p:cNvPr id="44" name="Shape 42"/>
          <p:cNvSpPr/>
          <p:nvPr/>
        </p:nvSpPr>
        <p:spPr>
          <a:xfrm>
            <a:off x="4709160" y="2834640"/>
            <a:ext cx="4023360" cy="1554480"/>
          </a:xfrm>
          <a:prstGeom prst="rect">
            <a:avLst/>
          </a:prstGeom>
          <a:solidFill>
            <a:srgbClr val="EEF4FB"/>
          </a:solidFill>
          <a:ln w="12700">
            <a:solidFill>
              <a:srgbClr val="F4844C"/>
            </a:solidFill>
            <a:prstDash val="solid"/>
          </a:ln>
          <a:effectLst>
            <a:outerShdw blurRad="101600" dist="25400" dir="8100000" algn="bl" rotWithShape="0">
              <a:srgbClr val="000000">
                <a:alpha val="9000"/>
              </a:srgbClr>
            </a:outerShdw>
          </a:effectLst>
        </p:spPr>
        <p:txBody>
          <a:bodyPr/>
          <a:lstStyle/>
          <a:p>
            <a:endParaRPr lang="LID4096"/>
          </a:p>
        </p:txBody>
      </p:sp>
      <p:sp>
        <p:nvSpPr>
          <p:cNvPr id="45" name="Shape 43"/>
          <p:cNvSpPr/>
          <p:nvPr/>
        </p:nvSpPr>
        <p:spPr>
          <a:xfrm>
            <a:off x="4709160" y="2834640"/>
            <a:ext cx="4023360" cy="54864"/>
          </a:xfrm>
          <a:prstGeom prst="rect">
            <a:avLst/>
          </a:prstGeom>
          <a:solidFill>
            <a:srgbClr val="F4844C"/>
          </a:solidFill>
          <a:ln w="12700">
            <a:solidFill>
              <a:srgbClr val="F4844C"/>
            </a:solidFill>
            <a:prstDash val="solid"/>
          </a:ln>
        </p:spPr>
        <p:txBody>
          <a:bodyPr/>
          <a:lstStyle/>
          <a:p>
            <a:endParaRPr lang="LID4096"/>
          </a:p>
        </p:txBody>
      </p:sp>
      <p:sp>
        <p:nvSpPr>
          <p:cNvPr id="46" name="Text 44"/>
          <p:cNvSpPr/>
          <p:nvPr/>
        </p:nvSpPr>
        <p:spPr>
          <a:xfrm>
            <a:off x="4846320" y="2926080"/>
            <a:ext cx="1828800" cy="292608"/>
          </a:xfrm>
          <a:prstGeom prst="rect">
            <a:avLst/>
          </a:prstGeom>
          <a:noFill/>
          <a:ln/>
        </p:spPr>
        <p:txBody>
          <a:bodyPr wrap="square" lIns="0" tIns="0" rIns="0" bIns="0" rtlCol="0" anchor="ctr"/>
          <a:lstStyle/>
          <a:p>
            <a:pPr marL="0" indent="0">
              <a:buNone/>
            </a:pPr>
            <a:r>
              <a:rPr lang="en-US" sz="1400" b="1" dirty="0">
                <a:solidFill>
                  <a:srgbClr val="F4844C"/>
                </a:solidFill>
                <a:latin typeface="Palatino Linotype" pitchFamily="34" charset="0"/>
                <a:ea typeface="Palatino Linotype" pitchFamily="34" charset="-122"/>
                <a:cs typeface="Palatino Linotype" pitchFamily="34" charset="-120"/>
              </a:rPr>
              <a:t>CNN-AE</a:t>
            </a:r>
            <a:endParaRPr lang="en-US" sz="1400" dirty="0"/>
          </a:p>
        </p:txBody>
      </p:sp>
      <p:sp>
        <p:nvSpPr>
          <p:cNvPr id="47" name="Shape 45"/>
          <p:cNvSpPr/>
          <p:nvPr/>
        </p:nvSpPr>
        <p:spPr>
          <a:xfrm>
            <a:off x="4846320" y="3291840"/>
            <a:ext cx="1170432" cy="411480"/>
          </a:xfrm>
          <a:prstGeom prst="rect">
            <a:avLst/>
          </a:prstGeom>
          <a:solidFill>
            <a:srgbClr val="FFFFFF"/>
          </a:solidFill>
          <a:ln w="10160">
            <a:solidFill>
              <a:srgbClr val="F4844C"/>
            </a:solidFill>
            <a:prstDash val="solid"/>
          </a:ln>
        </p:spPr>
        <p:txBody>
          <a:bodyPr/>
          <a:lstStyle/>
          <a:p>
            <a:endParaRPr lang="LID4096"/>
          </a:p>
        </p:txBody>
      </p:sp>
      <p:sp>
        <p:nvSpPr>
          <p:cNvPr id="48" name="Text 46"/>
          <p:cNvSpPr/>
          <p:nvPr/>
        </p:nvSpPr>
        <p:spPr>
          <a:xfrm>
            <a:off x="4892040" y="3310128"/>
            <a:ext cx="1078992" cy="164592"/>
          </a:xfrm>
          <a:prstGeom prst="rect">
            <a:avLst/>
          </a:prstGeom>
          <a:noFill/>
          <a:ln/>
        </p:spPr>
        <p:txBody>
          <a:bodyPr wrap="square" lIns="0" tIns="0" rIns="0" bIns="0" rtlCol="0" anchor="ctr"/>
          <a:lstStyle/>
          <a:p>
            <a:pPr marL="0" indent="0" algn="ctr">
              <a:buNone/>
            </a:pPr>
            <a:r>
              <a:rPr lang="en-US" sz="800" dirty="0">
                <a:solidFill>
                  <a:srgbClr val="64748B"/>
                </a:solidFill>
                <a:latin typeface="Garamond" pitchFamily="34" charset="0"/>
                <a:ea typeface="Garamond" pitchFamily="34" charset="-122"/>
                <a:cs typeface="Garamond" pitchFamily="34" charset="-120"/>
              </a:rPr>
              <a:t>Point F1</a:t>
            </a:r>
            <a:endParaRPr lang="en-US" sz="800" dirty="0"/>
          </a:p>
        </p:txBody>
      </p:sp>
      <p:sp>
        <p:nvSpPr>
          <p:cNvPr id="49" name="Text 47"/>
          <p:cNvSpPr/>
          <p:nvPr/>
        </p:nvSpPr>
        <p:spPr>
          <a:xfrm>
            <a:off x="4892040" y="3465576"/>
            <a:ext cx="1078992" cy="201168"/>
          </a:xfrm>
          <a:prstGeom prst="rect">
            <a:avLst/>
          </a:prstGeom>
          <a:noFill/>
          <a:ln/>
        </p:spPr>
        <p:txBody>
          <a:bodyPr wrap="square" lIns="0" tIns="0" rIns="0" bIns="0" rtlCol="0" anchor="ctr"/>
          <a:lstStyle/>
          <a:p>
            <a:pPr marL="0" indent="0" algn="ctr">
              <a:buNone/>
            </a:pPr>
            <a:r>
              <a:rPr lang="en-US" sz="1200" b="1" dirty="0">
                <a:solidFill>
                  <a:srgbClr val="F4844C"/>
                </a:solidFill>
                <a:latin typeface="Palatino Linotype" pitchFamily="34" charset="0"/>
                <a:ea typeface="Palatino Linotype" pitchFamily="34" charset="-122"/>
                <a:cs typeface="Palatino Linotype" pitchFamily="34" charset="-120"/>
              </a:rPr>
              <a:t>0.642</a:t>
            </a:r>
            <a:endParaRPr lang="en-US" sz="1200" dirty="0"/>
          </a:p>
        </p:txBody>
      </p:sp>
      <p:sp>
        <p:nvSpPr>
          <p:cNvPr id="50" name="Shape 48"/>
          <p:cNvSpPr/>
          <p:nvPr/>
        </p:nvSpPr>
        <p:spPr>
          <a:xfrm>
            <a:off x="6108192" y="3291840"/>
            <a:ext cx="1170432" cy="411480"/>
          </a:xfrm>
          <a:prstGeom prst="rect">
            <a:avLst/>
          </a:prstGeom>
          <a:solidFill>
            <a:srgbClr val="FFFFFF"/>
          </a:solidFill>
          <a:ln w="10160">
            <a:solidFill>
              <a:srgbClr val="F4844C"/>
            </a:solidFill>
            <a:prstDash val="solid"/>
          </a:ln>
        </p:spPr>
        <p:txBody>
          <a:bodyPr/>
          <a:lstStyle/>
          <a:p>
            <a:endParaRPr lang="LID4096"/>
          </a:p>
        </p:txBody>
      </p:sp>
      <p:sp>
        <p:nvSpPr>
          <p:cNvPr id="51" name="Text 49"/>
          <p:cNvSpPr/>
          <p:nvPr/>
        </p:nvSpPr>
        <p:spPr>
          <a:xfrm>
            <a:off x="6153912" y="3310128"/>
            <a:ext cx="1078992" cy="164592"/>
          </a:xfrm>
          <a:prstGeom prst="rect">
            <a:avLst/>
          </a:prstGeom>
          <a:noFill/>
          <a:ln/>
        </p:spPr>
        <p:txBody>
          <a:bodyPr wrap="square" lIns="0" tIns="0" rIns="0" bIns="0" rtlCol="0" anchor="ctr"/>
          <a:lstStyle/>
          <a:p>
            <a:pPr marL="0" indent="0" algn="ctr">
              <a:buNone/>
            </a:pPr>
            <a:r>
              <a:rPr lang="en-US" sz="800" dirty="0">
                <a:solidFill>
                  <a:srgbClr val="64748B"/>
                </a:solidFill>
                <a:latin typeface="Garamond" pitchFamily="34" charset="0"/>
                <a:ea typeface="Garamond" pitchFamily="34" charset="-122"/>
                <a:cs typeface="Garamond" pitchFamily="34" charset="-120"/>
              </a:rPr>
              <a:t>Event F1</a:t>
            </a:r>
            <a:endParaRPr lang="en-US" sz="800" dirty="0"/>
          </a:p>
        </p:txBody>
      </p:sp>
      <p:sp>
        <p:nvSpPr>
          <p:cNvPr id="52" name="Text 50"/>
          <p:cNvSpPr/>
          <p:nvPr/>
        </p:nvSpPr>
        <p:spPr>
          <a:xfrm>
            <a:off x="6153912" y="3465576"/>
            <a:ext cx="1078992" cy="201168"/>
          </a:xfrm>
          <a:prstGeom prst="rect">
            <a:avLst/>
          </a:prstGeom>
          <a:noFill/>
          <a:ln/>
        </p:spPr>
        <p:txBody>
          <a:bodyPr wrap="square" lIns="0" tIns="0" rIns="0" bIns="0" rtlCol="0" anchor="ctr"/>
          <a:lstStyle/>
          <a:p>
            <a:pPr marL="0" indent="0" algn="ctr">
              <a:buNone/>
            </a:pPr>
            <a:r>
              <a:rPr lang="en-US" sz="1200" b="1" dirty="0">
                <a:solidFill>
                  <a:srgbClr val="F4844C"/>
                </a:solidFill>
                <a:latin typeface="Palatino Linotype" pitchFamily="34" charset="0"/>
                <a:ea typeface="Palatino Linotype" pitchFamily="34" charset="-122"/>
                <a:cs typeface="Palatino Linotype" pitchFamily="34" charset="-120"/>
              </a:rPr>
              <a:t>0.667</a:t>
            </a:r>
            <a:endParaRPr lang="en-US" sz="1200" dirty="0"/>
          </a:p>
        </p:txBody>
      </p:sp>
      <p:sp>
        <p:nvSpPr>
          <p:cNvPr id="53" name="Shape 51"/>
          <p:cNvSpPr/>
          <p:nvPr/>
        </p:nvSpPr>
        <p:spPr>
          <a:xfrm>
            <a:off x="7370064" y="3291840"/>
            <a:ext cx="1170432" cy="411480"/>
          </a:xfrm>
          <a:prstGeom prst="rect">
            <a:avLst/>
          </a:prstGeom>
          <a:solidFill>
            <a:srgbClr val="FFFFFF"/>
          </a:solidFill>
          <a:ln w="10160">
            <a:solidFill>
              <a:srgbClr val="F4844C"/>
            </a:solidFill>
            <a:prstDash val="solid"/>
          </a:ln>
        </p:spPr>
        <p:txBody>
          <a:bodyPr/>
          <a:lstStyle/>
          <a:p>
            <a:endParaRPr lang="LID4096"/>
          </a:p>
        </p:txBody>
      </p:sp>
      <p:sp>
        <p:nvSpPr>
          <p:cNvPr id="54" name="Text 52"/>
          <p:cNvSpPr/>
          <p:nvPr/>
        </p:nvSpPr>
        <p:spPr>
          <a:xfrm>
            <a:off x="7415784" y="3310128"/>
            <a:ext cx="1078992" cy="164592"/>
          </a:xfrm>
          <a:prstGeom prst="rect">
            <a:avLst/>
          </a:prstGeom>
          <a:noFill/>
          <a:ln/>
        </p:spPr>
        <p:txBody>
          <a:bodyPr wrap="square" lIns="0" tIns="0" rIns="0" bIns="0" rtlCol="0" anchor="ctr"/>
          <a:lstStyle/>
          <a:p>
            <a:pPr marL="0" indent="0" algn="ctr">
              <a:buNone/>
            </a:pPr>
            <a:r>
              <a:rPr lang="en-US" sz="800" dirty="0">
                <a:solidFill>
                  <a:srgbClr val="64748B"/>
                </a:solidFill>
                <a:latin typeface="Garamond" pitchFamily="34" charset="0"/>
                <a:ea typeface="Garamond" pitchFamily="34" charset="-122"/>
                <a:cs typeface="Garamond" pitchFamily="34" charset="-120"/>
              </a:rPr>
              <a:t>PR-AUC</a:t>
            </a:r>
            <a:endParaRPr lang="en-US" sz="800" dirty="0"/>
          </a:p>
        </p:txBody>
      </p:sp>
      <p:sp>
        <p:nvSpPr>
          <p:cNvPr id="55" name="Text 53"/>
          <p:cNvSpPr/>
          <p:nvPr/>
        </p:nvSpPr>
        <p:spPr>
          <a:xfrm>
            <a:off x="7415784" y="3465576"/>
            <a:ext cx="1078992" cy="201168"/>
          </a:xfrm>
          <a:prstGeom prst="rect">
            <a:avLst/>
          </a:prstGeom>
          <a:noFill/>
          <a:ln/>
        </p:spPr>
        <p:txBody>
          <a:bodyPr wrap="square" lIns="0" tIns="0" rIns="0" bIns="0" rtlCol="0" anchor="ctr"/>
          <a:lstStyle/>
          <a:p>
            <a:pPr marL="0" indent="0" algn="ctr">
              <a:buNone/>
            </a:pPr>
            <a:r>
              <a:rPr lang="en-US" sz="1200" b="1" dirty="0">
                <a:solidFill>
                  <a:srgbClr val="F4844C"/>
                </a:solidFill>
                <a:latin typeface="Palatino Linotype" pitchFamily="34" charset="0"/>
                <a:ea typeface="Palatino Linotype" pitchFamily="34" charset="-122"/>
                <a:cs typeface="Palatino Linotype" pitchFamily="34" charset="-120"/>
              </a:rPr>
              <a:t>0.491</a:t>
            </a:r>
            <a:endParaRPr lang="en-US" sz="1200" dirty="0"/>
          </a:p>
        </p:txBody>
      </p:sp>
      <p:sp>
        <p:nvSpPr>
          <p:cNvPr id="56" name="Text 54"/>
          <p:cNvSpPr/>
          <p:nvPr/>
        </p:nvSpPr>
        <p:spPr>
          <a:xfrm>
            <a:off x="4846320" y="3794760"/>
            <a:ext cx="3749040" cy="521208"/>
          </a:xfrm>
          <a:prstGeom prst="rect">
            <a:avLst/>
          </a:prstGeom>
          <a:noFill/>
          <a:ln/>
        </p:spPr>
        <p:txBody>
          <a:bodyPr wrap="square" lIns="0" tIns="0" rIns="0" bIns="0" rtlCol="0" anchor="ctr"/>
          <a:lstStyle/>
          <a:p>
            <a:pPr marL="0" indent="0">
              <a:lnSpc>
                <a:spcPct val="130000"/>
              </a:lnSpc>
              <a:buNone/>
            </a:pPr>
            <a:r>
              <a:rPr lang="en-US" sz="1400" dirty="0">
                <a:solidFill>
                  <a:srgbClr val="1A202C"/>
                </a:solidFill>
                <a:latin typeface="Garamond" pitchFamily="34" charset="0"/>
                <a:ea typeface="Garamond" pitchFamily="34" charset="-122"/>
                <a:cs typeface="Garamond" pitchFamily="34" charset="-120"/>
              </a:rPr>
              <a:t>Tracks LSTM-AE closely on this dataset</a:t>
            </a:r>
            <a:endParaRPr lang="en-US" sz="1400" dirty="0"/>
          </a:p>
        </p:txBody>
      </p:sp>
      <p:sp>
        <p:nvSpPr>
          <p:cNvPr id="57" name="Shape 55"/>
          <p:cNvSpPr/>
          <p:nvPr/>
        </p:nvSpPr>
        <p:spPr>
          <a:xfrm>
            <a:off x="411480" y="4480560"/>
            <a:ext cx="8321040" cy="530352"/>
          </a:xfrm>
          <a:prstGeom prst="rect">
            <a:avLst/>
          </a:prstGeom>
          <a:solidFill>
            <a:srgbClr val="EEF4FB"/>
          </a:solidFill>
          <a:ln w="12700">
            <a:solidFill>
              <a:srgbClr val="1A6FC4"/>
            </a:solidFill>
            <a:prstDash val="solid"/>
          </a:ln>
          <a:effectLst>
            <a:outerShdw blurRad="101600" dist="25400" dir="8100000" algn="bl" rotWithShape="0">
              <a:srgbClr val="000000">
                <a:alpha val="9000"/>
              </a:srgbClr>
            </a:outerShdw>
          </a:effectLst>
        </p:spPr>
        <p:txBody>
          <a:bodyPr/>
          <a:lstStyle/>
          <a:p>
            <a:endParaRPr lang="LID4096"/>
          </a:p>
        </p:txBody>
      </p:sp>
      <p:sp>
        <p:nvSpPr>
          <p:cNvPr id="58" name="Text 56"/>
          <p:cNvSpPr/>
          <p:nvPr/>
        </p:nvSpPr>
        <p:spPr>
          <a:xfrm>
            <a:off x="566928" y="4574032"/>
            <a:ext cx="8046720" cy="347472"/>
          </a:xfrm>
          <a:prstGeom prst="rect">
            <a:avLst/>
          </a:prstGeom>
          <a:noFill/>
          <a:ln/>
        </p:spPr>
        <p:txBody>
          <a:bodyPr wrap="square" lIns="0" tIns="0" rIns="0" bIns="0" rtlCol="0" anchor="ctr"/>
          <a:lstStyle/>
          <a:p>
            <a:pPr marL="0" indent="0">
              <a:lnSpc>
                <a:spcPct val="130000"/>
              </a:lnSpc>
              <a:buNone/>
            </a:pPr>
            <a:r>
              <a:rPr lang="en-US" sz="1400" b="1" dirty="0">
                <a:solidFill>
                  <a:srgbClr val="0A2342"/>
                </a:solidFill>
                <a:latin typeface="Garamond" pitchFamily="34" charset="0"/>
                <a:ea typeface="Garamond" pitchFamily="34" charset="-122"/>
                <a:cs typeface="Garamond" pitchFamily="34" charset="-120"/>
              </a:rPr>
              <a:t>Key insight</a:t>
            </a:r>
            <a:r>
              <a:rPr lang="en-US" sz="1400" dirty="0">
                <a:solidFill>
                  <a:srgbClr val="0A2342"/>
                </a:solidFill>
                <a:latin typeface="Garamond" pitchFamily="34" charset="0"/>
                <a:ea typeface="Garamond" pitchFamily="34" charset="-122"/>
                <a:cs typeface="Garamond" pitchFamily="34" charset="-120"/>
              </a:rPr>
              <a:t>: The valve fault is one collective event. Warmup calibration at the 10th percentile produces a tight threshold, eliminating false positives in the normal prefix.</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28600"/>
            <a:ext cx="64008" cy="530352"/>
          </a:xfrm>
          <a:prstGeom prst="rect">
            <a:avLst/>
          </a:prstGeom>
          <a:solidFill>
            <a:srgbClr val="29ABE2"/>
          </a:solidFill>
          <a:ln w="12700">
            <a:solidFill>
              <a:srgbClr val="29ABE2"/>
            </a:solidFill>
            <a:prstDash val="solid"/>
          </a:ln>
        </p:spPr>
        <p:txBody>
          <a:bodyPr/>
          <a:lstStyle/>
          <a:p>
            <a:endParaRPr lang="LID4096"/>
          </a:p>
        </p:txBody>
      </p:sp>
      <p:sp>
        <p:nvSpPr>
          <p:cNvPr id="3" name="Text 1"/>
          <p:cNvSpPr/>
          <p:nvPr/>
        </p:nvSpPr>
        <p:spPr>
          <a:xfrm>
            <a:off x="566928" y="173736"/>
            <a:ext cx="8321040" cy="548640"/>
          </a:xfrm>
          <a:prstGeom prst="rect">
            <a:avLst/>
          </a:prstGeom>
          <a:noFill/>
          <a:ln/>
        </p:spPr>
        <p:txBody>
          <a:bodyPr wrap="square" lIns="0" tIns="0" rIns="0" bIns="0" rtlCol="0" anchor="ctr"/>
          <a:lstStyle/>
          <a:p>
            <a:pPr marL="0" indent="0">
              <a:buNone/>
            </a:pPr>
            <a:r>
              <a:rPr lang="en-US" sz="2600" b="1" dirty="0">
                <a:solidFill>
                  <a:srgbClr val="0A2342"/>
                </a:solidFill>
                <a:latin typeface="Palatino Linotype" pitchFamily="34" charset="0"/>
                <a:ea typeface="Palatino Linotype" pitchFamily="34" charset="-122"/>
                <a:cs typeface="Palatino Linotype" pitchFamily="34" charset="-120"/>
              </a:rPr>
              <a:t>Deep Dive: NAB Cloud Series</a:t>
            </a:r>
            <a:endParaRPr lang="en-US" sz="2600" dirty="0"/>
          </a:p>
        </p:txBody>
      </p:sp>
      <p:sp>
        <p:nvSpPr>
          <p:cNvPr id="4" name="Text 2"/>
          <p:cNvSpPr/>
          <p:nvPr/>
        </p:nvSpPr>
        <p:spPr>
          <a:xfrm>
            <a:off x="566928" y="731520"/>
            <a:ext cx="8046720" cy="274320"/>
          </a:xfrm>
          <a:prstGeom prst="rect">
            <a:avLst/>
          </a:prstGeom>
          <a:noFill/>
          <a:ln/>
        </p:spPr>
        <p:txBody>
          <a:bodyPr wrap="square" lIns="0" tIns="0" rIns="0" bIns="0" rtlCol="0" anchor="ctr"/>
          <a:lstStyle/>
          <a:p>
            <a:pPr marL="0" indent="0">
              <a:buNone/>
            </a:pPr>
            <a:r>
              <a:rPr lang="en-US" sz="1400" dirty="0">
                <a:solidFill>
                  <a:srgbClr val="64748B"/>
                </a:solidFill>
                <a:latin typeface="Garamond" pitchFamily="34" charset="0"/>
                <a:ea typeface="Garamond" pitchFamily="34" charset="-122"/>
                <a:cs typeface="Garamond" pitchFamily="34" charset="-120"/>
              </a:rPr>
              <a:t>LSTM-AE dominates; Isolation Forest fails operationally</a:t>
            </a:r>
            <a:endParaRPr lang="en-US" sz="1400" dirty="0"/>
          </a:p>
        </p:txBody>
      </p:sp>
      <p:sp>
        <p:nvSpPr>
          <p:cNvPr id="5" name="Shape 3"/>
          <p:cNvSpPr/>
          <p:nvPr/>
        </p:nvSpPr>
        <p:spPr>
          <a:xfrm>
            <a:off x="411480" y="1143000"/>
            <a:ext cx="2651760" cy="3840480"/>
          </a:xfrm>
          <a:prstGeom prst="rect">
            <a:avLst/>
          </a:prstGeom>
          <a:solidFill>
            <a:srgbClr val="EEF4FB"/>
          </a:solidFill>
          <a:ln w="12700">
            <a:solidFill>
              <a:srgbClr val="1A6FC4"/>
            </a:solidFill>
            <a:prstDash val="solid"/>
          </a:ln>
          <a:effectLst>
            <a:outerShdw blurRad="101600" dist="25400" dir="8100000" algn="bl" rotWithShape="0">
              <a:srgbClr val="000000">
                <a:alpha val="9000"/>
              </a:srgbClr>
            </a:outerShdw>
          </a:effectLst>
        </p:spPr>
        <p:txBody>
          <a:bodyPr/>
          <a:lstStyle/>
          <a:p>
            <a:endParaRPr lang="LID4096"/>
          </a:p>
        </p:txBody>
      </p:sp>
      <p:sp>
        <p:nvSpPr>
          <p:cNvPr id="6" name="Shape 4"/>
          <p:cNvSpPr/>
          <p:nvPr/>
        </p:nvSpPr>
        <p:spPr>
          <a:xfrm>
            <a:off x="411480" y="1143000"/>
            <a:ext cx="2651760" cy="457200"/>
          </a:xfrm>
          <a:prstGeom prst="rect">
            <a:avLst/>
          </a:prstGeom>
          <a:solidFill>
            <a:srgbClr val="1A6FC4"/>
          </a:solidFill>
          <a:ln w="12700">
            <a:solidFill>
              <a:srgbClr val="1A6FC4"/>
            </a:solidFill>
            <a:prstDash val="solid"/>
          </a:ln>
        </p:spPr>
        <p:txBody>
          <a:bodyPr/>
          <a:lstStyle/>
          <a:p>
            <a:endParaRPr lang="LID4096"/>
          </a:p>
        </p:txBody>
      </p:sp>
      <p:sp>
        <p:nvSpPr>
          <p:cNvPr id="7" name="Shape 5"/>
          <p:cNvSpPr/>
          <p:nvPr/>
        </p:nvSpPr>
        <p:spPr>
          <a:xfrm>
            <a:off x="411480" y="1490472"/>
            <a:ext cx="2651760" cy="109728"/>
          </a:xfrm>
          <a:prstGeom prst="rect">
            <a:avLst/>
          </a:prstGeom>
          <a:solidFill>
            <a:srgbClr val="1A6FC4"/>
          </a:solidFill>
          <a:ln w="12700">
            <a:solidFill>
              <a:srgbClr val="1A6FC4"/>
            </a:solidFill>
            <a:prstDash val="solid"/>
          </a:ln>
        </p:spPr>
        <p:txBody>
          <a:bodyPr/>
          <a:lstStyle/>
          <a:p>
            <a:endParaRPr lang="LID4096"/>
          </a:p>
        </p:txBody>
      </p:sp>
      <p:sp>
        <p:nvSpPr>
          <p:cNvPr id="8" name="Text 6"/>
          <p:cNvSpPr/>
          <p:nvPr/>
        </p:nvSpPr>
        <p:spPr>
          <a:xfrm>
            <a:off x="502920" y="1161288"/>
            <a:ext cx="2468880"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Palatino Linotype" pitchFamily="34" charset="0"/>
                <a:ea typeface="Palatino Linotype" pitchFamily="34" charset="-122"/>
                <a:cs typeface="Palatino Linotype" pitchFamily="34" charset="-120"/>
              </a:rPr>
              <a:t>rds_cpu</a:t>
            </a:r>
            <a:endParaRPr lang="en-US" sz="1500" dirty="0"/>
          </a:p>
        </p:txBody>
      </p:sp>
      <p:sp>
        <p:nvSpPr>
          <p:cNvPr id="9" name="Text 7"/>
          <p:cNvSpPr/>
          <p:nvPr/>
        </p:nvSpPr>
        <p:spPr>
          <a:xfrm>
            <a:off x="548640" y="1691640"/>
            <a:ext cx="1005840" cy="256032"/>
          </a:xfrm>
          <a:prstGeom prst="rect">
            <a:avLst/>
          </a:prstGeom>
          <a:noFill/>
          <a:ln/>
        </p:spPr>
        <p:txBody>
          <a:bodyPr wrap="square" lIns="0" tIns="0" rIns="0" bIns="0" rtlCol="0" anchor="ctr"/>
          <a:lstStyle/>
          <a:p>
            <a:pPr marL="0" indent="0">
              <a:buNone/>
            </a:pPr>
            <a:r>
              <a:rPr lang="en-US" sz="1000" dirty="0">
                <a:solidFill>
                  <a:srgbClr val="64748B"/>
                </a:solidFill>
                <a:latin typeface="Garamond" pitchFamily="34" charset="0"/>
                <a:ea typeface="Garamond" pitchFamily="34" charset="-122"/>
                <a:cs typeface="Garamond" pitchFamily="34" charset="-120"/>
              </a:rPr>
              <a:t>Best model:</a:t>
            </a:r>
            <a:endParaRPr lang="en-US" sz="1000" dirty="0"/>
          </a:p>
        </p:txBody>
      </p:sp>
      <p:sp>
        <p:nvSpPr>
          <p:cNvPr id="10" name="Text 8"/>
          <p:cNvSpPr/>
          <p:nvPr/>
        </p:nvSpPr>
        <p:spPr>
          <a:xfrm>
            <a:off x="548640" y="1938528"/>
            <a:ext cx="2377440" cy="274320"/>
          </a:xfrm>
          <a:prstGeom prst="rect">
            <a:avLst/>
          </a:prstGeom>
          <a:noFill/>
          <a:ln/>
        </p:spPr>
        <p:txBody>
          <a:bodyPr wrap="square" lIns="0" tIns="0" rIns="0" bIns="0" rtlCol="0" anchor="ctr"/>
          <a:lstStyle/>
          <a:p>
            <a:pPr marL="0" indent="0">
              <a:buNone/>
            </a:pPr>
            <a:r>
              <a:rPr lang="en-US" sz="1250" b="1" dirty="0">
                <a:solidFill>
                  <a:srgbClr val="1A6FC4"/>
                </a:solidFill>
                <a:latin typeface="Palatino Linotype" pitchFamily="34" charset="0"/>
                <a:ea typeface="Palatino Linotype" pitchFamily="34" charset="-122"/>
                <a:cs typeface="Palatino Linotype" pitchFamily="34" charset="-120"/>
              </a:rPr>
              <a:t>LSTM-AE / CNN-AE</a:t>
            </a:r>
            <a:endParaRPr lang="en-US" sz="1250" dirty="0"/>
          </a:p>
        </p:txBody>
      </p:sp>
      <p:sp>
        <p:nvSpPr>
          <p:cNvPr id="11" name="Text 9"/>
          <p:cNvSpPr/>
          <p:nvPr/>
        </p:nvSpPr>
        <p:spPr>
          <a:xfrm>
            <a:off x="548640" y="2331720"/>
            <a:ext cx="1280160" cy="320040"/>
          </a:xfrm>
          <a:prstGeom prst="rect">
            <a:avLst/>
          </a:prstGeom>
          <a:noFill/>
          <a:ln/>
        </p:spPr>
        <p:txBody>
          <a:bodyPr wrap="square" lIns="0" tIns="0" rIns="0" bIns="0" rtlCol="0" anchor="ctr"/>
          <a:lstStyle/>
          <a:p>
            <a:pPr marL="0" indent="0">
              <a:buNone/>
            </a:pPr>
            <a:r>
              <a:rPr lang="en-US" sz="1050" dirty="0">
                <a:solidFill>
                  <a:srgbClr val="64748B"/>
                </a:solidFill>
                <a:latin typeface="Garamond" pitchFamily="34" charset="0"/>
                <a:ea typeface="Garamond" pitchFamily="34" charset="-122"/>
                <a:cs typeface="Garamond" pitchFamily="34" charset="-120"/>
              </a:rPr>
              <a:t>Best Point-F1:</a:t>
            </a:r>
            <a:endParaRPr lang="en-US" sz="1050" dirty="0"/>
          </a:p>
        </p:txBody>
      </p:sp>
      <p:sp>
        <p:nvSpPr>
          <p:cNvPr id="12" name="Text 10"/>
          <p:cNvSpPr/>
          <p:nvPr/>
        </p:nvSpPr>
        <p:spPr>
          <a:xfrm>
            <a:off x="1828800" y="2331720"/>
            <a:ext cx="1097280" cy="320040"/>
          </a:xfrm>
          <a:prstGeom prst="rect">
            <a:avLst/>
          </a:prstGeom>
          <a:noFill/>
          <a:ln/>
        </p:spPr>
        <p:txBody>
          <a:bodyPr wrap="square" lIns="0" tIns="0" rIns="0" bIns="0" rtlCol="0" anchor="ctr"/>
          <a:lstStyle/>
          <a:p>
            <a:pPr marL="0" indent="0">
              <a:buNone/>
            </a:pPr>
            <a:r>
              <a:rPr lang="en-US" sz="1100" b="1" dirty="0">
                <a:solidFill>
                  <a:srgbClr val="0A2342"/>
                </a:solidFill>
                <a:latin typeface="Palatino Linotype" pitchFamily="34" charset="0"/>
                <a:ea typeface="Palatino Linotype" pitchFamily="34" charset="-122"/>
                <a:cs typeface="Palatino Linotype" pitchFamily="34" charset="-120"/>
              </a:rPr>
              <a:t>0.571</a:t>
            </a:r>
            <a:endParaRPr lang="en-US" sz="1100" dirty="0"/>
          </a:p>
        </p:txBody>
      </p:sp>
      <p:sp>
        <p:nvSpPr>
          <p:cNvPr id="13" name="Text 11"/>
          <p:cNvSpPr/>
          <p:nvPr/>
        </p:nvSpPr>
        <p:spPr>
          <a:xfrm>
            <a:off x="548640" y="2715768"/>
            <a:ext cx="1280160" cy="320040"/>
          </a:xfrm>
          <a:prstGeom prst="rect">
            <a:avLst/>
          </a:prstGeom>
          <a:noFill/>
          <a:ln/>
        </p:spPr>
        <p:txBody>
          <a:bodyPr wrap="square" lIns="0" tIns="0" rIns="0" bIns="0" rtlCol="0" anchor="ctr"/>
          <a:lstStyle/>
          <a:p>
            <a:pPr marL="0" indent="0">
              <a:buNone/>
            </a:pPr>
            <a:r>
              <a:rPr lang="en-US" sz="1050" dirty="0">
                <a:solidFill>
                  <a:srgbClr val="64748B"/>
                </a:solidFill>
                <a:latin typeface="Garamond" pitchFamily="34" charset="0"/>
                <a:ea typeface="Garamond" pitchFamily="34" charset="-122"/>
                <a:cs typeface="Garamond" pitchFamily="34" charset="-120"/>
              </a:rPr>
              <a:t>Event-Level F1:</a:t>
            </a:r>
            <a:endParaRPr lang="en-US" sz="1050" dirty="0"/>
          </a:p>
        </p:txBody>
      </p:sp>
      <p:sp>
        <p:nvSpPr>
          <p:cNvPr id="14" name="Text 12"/>
          <p:cNvSpPr/>
          <p:nvPr/>
        </p:nvSpPr>
        <p:spPr>
          <a:xfrm>
            <a:off x="1828800" y="2715768"/>
            <a:ext cx="1097280" cy="320040"/>
          </a:xfrm>
          <a:prstGeom prst="rect">
            <a:avLst/>
          </a:prstGeom>
          <a:noFill/>
          <a:ln/>
        </p:spPr>
        <p:txBody>
          <a:bodyPr wrap="square" lIns="0" tIns="0" rIns="0" bIns="0" rtlCol="0" anchor="ctr"/>
          <a:lstStyle/>
          <a:p>
            <a:pPr marL="0" indent="0">
              <a:buNone/>
            </a:pPr>
            <a:r>
              <a:rPr lang="en-US" sz="1100" b="1" dirty="0">
                <a:solidFill>
                  <a:srgbClr val="0A2342"/>
                </a:solidFill>
                <a:latin typeface="Palatino Linotype" pitchFamily="34" charset="0"/>
                <a:ea typeface="Palatino Linotype" pitchFamily="34" charset="-122"/>
                <a:cs typeface="Palatino Linotype" pitchFamily="34" charset="-120"/>
              </a:rPr>
              <a:t>1.000 (all)</a:t>
            </a:r>
            <a:endParaRPr lang="en-US" sz="1100" dirty="0"/>
          </a:p>
        </p:txBody>
      </p:sp>
      <p:sp>
        <p:nvSpPr>
          <p:cNvPr id="15" name="Text 13"/>
          <p:cNvSpPr/>
          <p:nvPr/>
        </p:nvSpPr>
        <p:spPr>
          <a:xfrm>
            <a:off x="548640" y="3099816"/>
            <a:ext cx="1280160" cy="320040"/>
          </a:xfrm>
          <a:prstGeom prst="rect">
            <a:avLst/>
          </a:prstGeom>
          <a:noFill/>
          <a:ln/>
        </p:spPr>
        <p:txBody>
          <a:bodyPr wrap="square" lIns="0" tIns="0" rIns="0" bIns="0" rtlCol="0" anchor="ctr"/>
          <a:lstStyle/>
          <a:p>
            <a:pPr marL="0" indent="0">
              <a:buNone/>
            </a:pPr>
            <a:r>
              <a:rPr lang="en-US" sz="1050" dirty="0">
                <a:solidFill>
                  <a:srgbClr val="64748B"/>
                </a:solidFill>
                <a:latin typeface="Garamond" pitchFamily="34" charset="0"/>
                <a:ea typeface="Garamond" pitchFamily="34" charset="-122"/>
                <a:cs typeface="Garamond" pitchFamily="34" charset="-120"/>
              </a:rPr>
              <a:t>Best PR-AUC:</a:t>
            </a:r>
            <a:endParaRPr lang="en-US" sz="1050" dirty="0"/>
          </a:p>
        </p:txBody>
      </p:sp>
      <p:sp>
        <p:nvSpPr>
          <p:cNvPr id="16" name="Text 14"/>
          <p:cNvSpPr/>
          <p:nvPr/>
        </p:nvSpPr>
        <p:spPr>
          <a:xfrm>
            <a:off x="1828800" y="3099816"/>
            <a:ext cx="1097280" cy="320040"/>
          </a:xfrm>
          <a:prstGeom prst="rect">
            <a:avLst/>
          </a:prstGeom>
          <a:noFill/>
          <a:ln/>
        </p:spPr>
        <p:txBody>
          <a:bodyPr wrap="square" lIns="0" tIns="0" rIns="0" bIns="0" rtlCol="0" anchor="ctr"/>
          <a:lstStyle/>
          <a:p>
            <a:pPr marL="0" indent="0">
              <a:buNone/>
            </a:pPr>
            <a:r>
              <a:rPr lang="en-US" sz="1100" b="1" dirty="0">
                <a:solidFill>
                  <a:srgbClr val="0A2342"/>
                </a:solidFill>
                <a:latin typeface="Palatino Linotype" pitchFamily="34" charset="0"/>
                <a:ea typeface="Palatino Linotype" pitchFamily="34" charset="-122"/>
                <a:cs typeface="Palatino Linotype" pitchFamily="34" charset="-120"/>
              </a:rPr>
              <a:t>0.493</a:t>
            </a:r>
            <a:endParaRPr lang="en-US" sz="1100" dirty="0"/>
          </a:p>
        </p:txBody>
      </p:sp>
      <p:sp>
        <p:nvSpPr>
          <p:cNvPr id="17" name="Shape 15"/>
          <p:cNvSpPr/>
          <p:nvPr/>
        </p:nvSpPr>
        <p:spPr>
          <a:xfrm>
            <a:off x="521208" y="3520440"/>
            <a:ext cx="2432304" cy="18288"/>
          </a:xfrm>
          <a:prstGeom prst="rect">
            <a:avLst/>
          </a:prstGeom>
          <a:solidFill>
            <a:srgbClr val="CBD5E0"/>
          </a:solidFill>
          <a:ln w="12700">
            <a:solidFill>
              <a:srgbClr val="CBD5E0"/>
            </a:solidFill>
            <a:prstDash val="solid"/>
          </a:ln>
        </p:spPr>
        <p:txBody>
          <a:bodyPr/>
          <a:lstStyle/>
          <a:p>
            <a:endParaRPr lang="LID4096"/>
          </a:p>
        </p:txBody>
      </p:sp>
      <p:sp>
        <p:nvSpPr>
          <p:cNvPr id="18" name="Text 16"/>
          <p:cNvSpPr/>
          <p:nvPr/>
        </p:nvSpPr>
        <p:spPr>
          <a:xfrm>
            <a:off x="521208" y="3593592"/>
            <a:ext cx="2450592" cy="1234440"/>
          </a:xfrm>
          <a:prstGeom prst="rect">
            <a:avLst/>
          </a:prstGeom>
          <a:noFill/>
          <a:ln/>
        </p:spPr>
        <p:txBody>
          <a:bodyPr wrap="square" lIns="0" tIns="0" rIns="0" bIns="0" rtlCol="0" anchor="ctr"/>
          <a:lstStyle/>
          <a:p>
            <a:pPr marL="0" indent="0">
              <a:lnSpc>
                <a:spcPct val="135000"/>
              </a:lnSpc>
              <a:buNone/>
            </a:pPr>
            <a:r>
              <a:rPr lang="en-US" sz="1400" dirty="0">
                <a:solidFill>
                  <a:srgbClr val="1A202C"/>
                </a:solidFill>
                <a:latin typeface="Garamond" pitchFamily="34" charset="0"/>
                <a:ea typeface="Garamond" pitchFamily="34" charset="-122"/>
                <a:cs typeface="Garamond" pitchFamily="34" charset="-120"/>
              </a:rPr>
              <a:t>All 4 models detect the event. Autoencoders localise it more precisely point-by-point.</a:t>
            </a:r>
            <a:endParaRPr lang="en-US" sz="1400" dirty="0"/>
          </a:p>
        </p:txBody>
      </p:sp>
      <p:sp>
        <p:nvSpPr>
          <p:cNvPr id="19" name="Shape 17"/>
          <p:cNvSpPr/>
          <p:nvPr/>
        </p:nvSpPr>
        <p:spPr>
          <a:xfrm>
            <a:off x="3246120" y="1143000"/>
            <a:ext cx="2651760" cy="3840480"/>
          </a:xfrm>
          <a:prstGeom prst="rect">
            <a:avLst/>
          </a:prstGeom>
          <a:solidFill>
            <a:srgbClr val="EEF4FB"/>
          </a:solidFill>
          <a:ln w="12700">
            <a:solidFill>
              <a:srgbClr val="00B4A6"/>
            </a:solidFill>
            <a:prstDash val="solid"/>
          </a:ln>
          <a:effectLst>
            <a:outerShdw blurRad="101600" dist="25400" dir="8100000" algn="bl" rotWithShape="0">
              <a:srgbClr val="000000">
                <a:alpha val="9000"/>
              </a:srgbClr>
            </a:outerShdw>
          </a:effectLst>
        </p:spPr>
        <p:txBody>
          <a:bodyPr/>
          <a:lstStyle/>
          <a:p>
            <a:endParaRPr lang="LID4096"/>
          </a:p>
        </p:txBody>
      </p:sp>
      <p:sp>
        <p:nvSpPr>
          <p:cNvPr id="20" name="Shape 18"/>
          <p:cNvSpPr/>
          <p:nvPr/>
        </p:nvSpPr>
        <p:spPr>
          <a:xfrm>
            <a:off x="3246120" y="1143000"/>
            <a:ext cx="2651760" cy="457200"/>
          </a:xfrm>
          <a:prstGeom prst="rect">
            <a:avLst/>
          </a:prstGeom>
          <a:solidFill>
            <a:srgbClr val="00B4A6"/>
          </a:solidFill>
          <a:ln w="12700">
            <a:solidFill>
              <a:srgbClr val="00B4A6"/>
            </a:solidFill>
            <a:prstDash val="solid"/>
          </a:ln>
        </p:spPr>
        <p:txBody>
          <a:bodyPr/>
          <a:lstStyle/>
          <a:p>
            <a:endParaRPr lang="LID4096"/>
          </a:p>
        </p:txBody>
      </p:sp>
      <p:sp>
        <p:nvSpPr>
          <p:cNvPr id="21" name="Shape 19"/>
          <p:cNvSpPr/>
          <p:nvPr/>
        </p:nvSpPr>
        <p:spPr>
          <a:xfrm>
            <a:off x="3246120" y="1490472"/>
            <a:ext cx="2651760" cy="109728"/>
          </a:xfrm>
          <a:prstGeom prst="rect">
            <a:avLst/>
          </a:prstGeom>
          <a:solidFill>
            <a:srgbClr val="00B4A6"/>
          </a:solidFill>
          <a:ln w="12700">
            <a:solidFill>
              <a:srgbClr val="00B4A6"/>
            </a:solidFill>
            <a:prstDash val="solid"/>
          </a:ln>
        </p:spPr>
        <p:txBody>
          <a:bodyPr/>
          <a:lstStyle/>
          <a:p>
            <a:endParaRPr lang="LID4096"/>
          </a:p>
        </p:txBody>
      </p:sp>
      <p:sp>
        <p:nvSpPr>
          <p:cNvPr id="22" name="Text 20"/>
          <p:cNvSpPr/>
          <p:nvPr/>
        </p:nvSpPr>
        <p:spPr>
          <a:xfrm>
            <a:off x="3337560" y="1161288"/>
            <a:ext cx="2468880"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Palatino Linotype" pitchFamily="34" charset="0"/>
                <a:ea typeface="Palatino Linotype" pitchFamily="34" charset="-122"/>
                <a:cs typeface="Palatino Linotype" pitchFamily="34" charset="-120"/>
              </a:rPr>
              <a:t>ec2_cpu</a:t>
            </a:r>
            <a:endParaRPr lang="en-US" sz="1500" dirty="0"/>
          </a:p>
        </p:txBody>
      </p:sp>
      <p:sp>
        <p:nvSpPr>
          <p:cNvPr id="23" name="Text 21"/>
          <p:cNvSpPr/>
          <p:nvPr/>
        </p:nvSpPr>
        <p:spPr>
          <a:xfrm>
            <a:off x="3383280" y="1691640"/>
            <a:ext cx="1005840" cy="256032"/>
          </a:xfrm>
          <a:prstGeom prst="rect">
            <a:avLst/>
          </a:prstGeom>
          <a:noFill/>
          <a:ln/>
        </p:spPr>
        <p:txBody>
          <a:bodyPr wrap="square" lIns="0" tIns="0" rIns="0" bIns="0" rtlCol="0" anchor="ctr"/>
          <a:lstStyle/>
          <a:p>
            <a:pPr marL="0" indent="0">
              <a:buNone/>
            </a:pPr>
            <a:r>
              <a:rPr lang="en-US" sz="1000" dirty="0">
                <a:solidFill>
                  <a:srgbClr val="64748B"/>
                </a:solidFill>
                <a:latin typeface="Garamond" pitchFamily="34" charset="0"/>
                <a:ea typeface="Garamond" pitchFamily="34" charset="-122"/>
                <a:cs typeface="Garamond" pitchFamily="34" charset="-120"/>
              </a:rPr>
              <a:t>Best model:</a:t>
            </a:r>
            <a:endParaRPr lang="en-US" sz="1000" dirty="0"/>
          </a:p>
        </p:txBody>
      </p:sp>
      <p:sp>
        <p:nvSpPr>
          <p:cNvPr id="24" name="Text 22"/>
          <p:cNvSpPr/>
          <p:nvPr/>
        </p:nvSpPr>
        <p:spPr>
          <a:xfrm>
            <a:off x="3383280" y="1938528"/>
            <a:ext cx="2377440" cy="274320"/>
          </a:xfrm>
          <a:prstGeom prst="rect">
            <a:avLst/>
          </a:prstGeom>
          <a:noFill/>
          <a:ln/>
        </p:spPr>
        <p:txBody>
          <a:bodyPr wrap="square" lIns="0" tIns="0" rIns="0" bIns="0" rtlCol="0" anchor="ctr"/>
          <a:lstStyle/>
          <a:p>
            <a:pPr marL="0" indent="0">
              <a:buNone/>
            </a:pPr>
            <a:r>
              <a:rPr lang="en-US" sz="1250" b="1" dirty="0">
                <a:solidFill>
                  <a:srgbClr val="00B4A6"/>
                </a:solidFill>
                <a:latin typeface="Palatino Linotype" pitchFamily="34" charset="0"/>
                <a:ea typeface="Palatino Linotype" pitchFamily="34" charset="-122"/>
                <a:cs typeface="Palatino Linotype" pitchFamily="34" charset="-120"/>
              </a:rPr>
              <a:t>Z-score (PR-AUC)</a:t>
            </a:r>
            <a:endParaRPr lang="en-US" sz="1250" dirty="0"/>
          </a:p>
        </p:txBody>
      </p:sp>
      <p:sp>
        <p:nvSpPr>
          <p:cNvPr id="25" name="Text 23"/>
          <p:cNvSpPr/>
          <p:nvPr/>
        </p:nvSpPr>
        <p:spPr>
          <a:xfrm>
            <a:off x="3383280" y="2331720"/>
            <a:ext cx="1280160" cy="320040"/>
          </a:xfrm>
          <a:prstGeom prst="rect">
            <a:avLst/>
          </a:prstGeom>
          <a:noFill/>
          <a:ln/>
        </p:spPr>
        <p:txBody>
          <a:bodyPr wrap="square" lIns="0" tIns="0" rIns="0" bIns="0" rtlCol="0" anchor="ctr"/>
          <a:lstStyle/>
          <a:p>
            <a:pPr marL="0" indent="0">
              <a:buNone/>
            </a:pPr>
            <a:r>
              <a:rPr lang="en-US" sz="1050" dirty="0">
                <a:solidFill>
                  <a:srgbClr val="64748B"/>
                </a:solidFill>
                <a:latin typeface="Garamond" pitchFamily="34" charset="0"/>
                <a:ea typeface="Garamond" pitchFamily="34" charset="-122"/>
                <a:cs typeface="Garamond" pitchFamily="34" charset="-120"/>
              </a:rPr>
              <a:t>Best Point-F1:</a:t>
            </a:r>
            <a:endParaRPr lang="en-US" sz="1050" dirty="0"/>
          </a:p>
        </p:txBody>
      </p:sp>
      <p:sp>
        <p:nvSpPr>
          <p:cNvPr id="26" name="Text 24"/>
          <p:cNvSpPr/>
          <p:nvPr/>
        </p:nvSpPr>
        <p:spPr>
          <a:xfrm>
            <a:off x="4663440" y="2331720"/>
            <a:ext cx="1097280" cy="320040"/>
          </a:xfrm>
          <a:prstGeom prst="rect">
            <a:avLst/>
          </a:prstGeom>
          <a:noFill/>
          <a:ln/>
        </p:spPr>
        <p:txBody>
          <a:bodyPr wrap="square" lIns="0" tIns="0" rIns="0" bIns="0" rtlCol="0" anchor="ctr"/>
          <a:lstStyle/>
          <a:p>
            <a:pPr marL="0" indent="0">
              <a:buNone/>
            </a:pPr>
            <a:r>
              <a:rPr lang="en-US" sz="1100" b="1" dirty="0">
                <a:solidFill>
                  <a:srgbClr val="0A2342"/>
                </a:solidFill>
                <a:latin typeface="Palatino Linotype" pitchFamily="34" charset="0"/>
                <a:ea typeface="Palatino Linotype" pitchFamily="34" charset="-122"/>
                <a:cs typeface="Palatino Linotype" pitchFamily="34" charset="-120"/>
              </a:rPr>
              <a:t>0.302 (LSTM)</a:t>
            </a:r>
            <a:endParaRPr lang="en-US" sz="1100" dirty="0"/>
          </a:p>
        </p:txBody>
      </p:sp>
      <p:sp>
        <p:nvSpPr>
          <p:cNvPr id="27" name="Text 25"/>
          <p:cNvSpPr/>
          <p:nvPr/>
        </p:nvSpPr>
        <p:spPr>
          <a:xfrm>
            <a:off x="3383280" y="2715768"/>
            <a:ext cx="1280160" cy="320040"/>
          </a:xfrm>
          <a:prstGeom prst="rect">
            <a:avLst/>
          </a:prstGeom>
          <a:noFill/>
          <a:ln/>
        </p:spPr>
        <p:txBody>
          <a:bodyPr wrap="square" lIns="0" tIns="0" rIns="0" bIns="0" rtlCol="0" anchor="ctr"/>
          <a:lstStyle/>
          <a:p>
            <a:pPr marL="0" indent="0">
              <a:buNone/>
            </a:pPr>
            <a:r>
              <a:rPr lang="en-US" sz="1050" dirty="0">
                <a:solidFill>
                  <a:srgbClr val="64748B"/>
                </a:solidFill>
                <a:latin typeface="Garamond" pitchFamily="34" charset="0"/>
                <a:ea typeface="Garamond" pitchFamily="34" charset="-122"/>
                <a:cs typeface="Garamond" pitchFamily="34" charset="-120"/>
              </a:rPr>
              <a:t>Event-Level F1:</a:t>
            </a:r>
            <a:endParaRPr lang="en-US" sz="1050" dirty="0"/>
          </a:p>
        </p:txBody>
      </p:sp>
      <p:sp>
        <p:nvSpPr>
          <p:cNvPr id="28" name="Text 26"/>
          <p:cNvSpPr/>
          <p:nvPr/>
        </p:nvSpPr>
        <p:spPr>
          <a:xfrm>
            <a:off x="4663440" y="2715768"/>
            <a:ext cx="1097280" cy="320040"/>
          </a:xfrm>
          <a:prstGeom prst="rect">
            <a:avLst/>
          </a:prstGeom>
          <a:noFill/>
          <a:ln/>
        </p:spPr>
        <p:txBody>
          <a:bodyPr wrap="square" lIns="0" tIns="0" rIns="0" bIns="0" rtlCol="0" anchor="ctr"/>
          <a:lstStyle/>
          <a:p>
            <a:pPr marL="0" indent="0">
              <a:buNone/>
            </a:pPr>
            <a:r>
              <a:rPr lang="en-US" sz="1100" b="1" dirty="0">
                <a:solidFill>
                  <a:srgbClr val="0A2342"/>
                </a:solidFill>
                <a:latin typeface="Palatino Linotype" pitchFamily="34" charset="0"/>
                <a:ea typeface="Palatino Linotype" pitchFamily="34" charset="-122"/>
                <a:cs typeface="Palatino Linotype" pitchFamily="34" charset="-120"/>
              </a:rPr>
              <a:t>1.000 (Z/L/C)</a:t>
            </a:r>
            <a:endParaRPr lang="en-US" sz="1100" dirty="0"/>
          </a:p>
        </p:txBody>
      </p:sp>
      <p:sp>
        <p:nvSpPr>
          <p:cNvPr id="29" name="Text 27"/>
          <p:cNvSpPr/>
          <p:nvPr/>
        </p:nvSpPr>
        <p:spPr>
          <a:xfrm>
            <a:off x="3383280" y="3099816"/>
            <a:ext cx="1280160" cy="320040"/>
          </a:xfrm>
          <a:prstGeom prst="rect">
            <a:avLst/>
          </a:prstGeom>
          <a:noFill/>
          <a:ln/>
        </p:spPr>
        <p:txBody>
          <a:bodyPr wrap="square" lIns="0" tIns="0" rIns="0" bIns="0" rtlCol="0" anchor="ctr"/>
          <a:lstStyle/>
          <a:p>
            <a:pPr marL="0" indent="0">
              <a:buNone/>
            </a:pPr>
            <a:r>
              <a:rPr lang="en-US" sz="1050" dirty="0">
                <a:solidFill>
                  <a:srgbClr val="64748B"/>
                </a:solidFill>
                <a:latin typeface="Garamond" pitchFamily="34" charset="0"/>
                <a:ea typeface="Garamond" pitchFamily="34" charset="-122"/>
                <a:cs typeface="Garamond" pitchFamily="34" charset="-120"/>
              </a:rPr>
              <a:t>Best PR-AUC:</a:t>
            </a:r>
            <a:endParaRPr lang="en-US" sz="1050" dirty="0"/>
          </a:p>
        </p:txBody>
      </p:sp>
      <p:sp>
        <p:nvSpPr>
          <p:cNvPr id="30" name="Text 28"/>
          <p:cNvSpPr/>
          <p:nvPr/>
        </p:nvSpPr>
        <p:spPr>
          <a:xfrm>
            <a:off x="4663440" y="3099816"/>
            <a:ext cx="1097280" cy="320040"/>
          </a:xfrm>
          <a:prstGeom prst="rect">
            <a:avLst/>
          </a:prstGeom>
          <a:noFill/>
          <a:ln/>
        </p:spPr>
        <p:txBody>
          <a:bodyPr wrap="square" lIns="0" tIns="0" rIns="0" bIns="0" rtlCol="0" anchor="ctr"/>
          <a:lstStyle/>
          <a:p>
            <a:pPr marL="0" indent="0">
              <a:buNone/>
            </a:pPr>
            <a:r>
              <a:rPr lang="en-US" sz="1100" b="1" dirty="0">
                <a:solidFill>
                  <a:srgbClr val="0A2342"/>
                </a:solidFill>
                <a:latin typeface="Palatino Linotype" pitchFamily="34" charset="0"/>
                <a:ea typeface="Palatino Linotype" pitchFamily="34" charset="-122"/>
                <a:cs typeface="Palatino Linotype" pitchFamily="34" charset="-120"/>
              </a:rPr>
              <a:t>0.762 (Z)</a:t>
            </a:r>
            <a:endParaRPr lang="en-US" sz="1100" dirty="0"/>
          </a:p>
        </p:txBody>
      </p:sp>
      <p:sp>
        <p:nvSpPr>
          <p:cNvPr id="31" name="Shape 29"/>
          <p:cNvSpPr/>
          <p:nvPr/>
        </p:nvSpPr>
        <p:spPr>
          <a:xfrm>
            <a:off x="3355848" y="3520440"/>
            <a:ext cx="2432304" cy="18288"/>
          </a:xfrm>
          <a:prstGeom prst="rect">
            <a:avLst/>
          </a:prstGeom>
          <a:solidFill>
            <a:srgbClr val="CBD5E0"/>
          </a:solidFill>
          <a:ln w="12700">
            <a:solidFill>
              <a:srgbClr val="CBD5E0"/>
            </a:solidFill>
            <a:prstDash val="solid"/>
          </a:ln>
        </p:spPr>
        <p:txBody>
          <a:bodyPr/>
          <a:lstStyle/>
          <a:p>
            <a:endParaRPr lang="LID4096"/>
          </a:p>
        </p:txBody>
      </p:sp>
      <p:sp>
        <p:nvSpPr>
          <p:cNvPr id="32" name="Text 30"/>
          <p:cNvSpPr/>
          <p:nvPr/>
        </p:nvSpPr>
        <p:spPr>
          <a:xfrm>
            <a:off x="3355848" y="3593592"/>
            <a:ext cx="2450592" cy="1234440"/>
          </a:xfrm>
          <a:prstGeom prst="rect">
            <a:avLst/>
          </a:prstGeom>
          <a:noFill/>
          <a:ln/>
        </p:spPr>
        <p:txBody>
          <a:bodyPr wrap="square" lIns="0" tIns="0" rIns="0" bIns="0" rtlCol="0" anchor="ctr"/>
          <a:lstStyle/>
          <a:p>
            <a:pPr marL="0" indent="0">
              <a:lnSpc>
                <a:spcPct val="135000"/>
              </a:lnSpc>
              <a:buNone/>
            </a:pPr>
            <a:r>
              <a:rPr lang="en-US" sz="1400" dirty="0">
                <a:solidFill>
                  <a:srgbClr val="1A202C"/>
                </a:solidFill>
                <a:latin typeface="Garamond" pitchFamily="34" charset="0"/>
                <a:ea typeface="Garamond" pitchFamily="34" charset="-122"/>
                <a:cs typeface="Garamond" pitchFamily="34" charset="-120"/>
              </a:rPr>
              <a:t>Daily CPU periodicity + level shift. Rolling detrend (w=144) is critical. IForest collapses to 0.237.</a:t>
            </a:r>
            <a:endParaRPr lang="en-US" sz="1400" dirty="0"/>
          </a:p>
        </p:txBody>
      </p:sp>
      <p:sp>
        <p:nvSpPr>
          <p:cNvPr id="33" name="Shape 31"/>
          <p:cNvSpPr/>
          <p:nvPr/>
        </p:nvSpPr>
        <p:spPr>
          <a:xfrm>
            <a:off x="6080760" y="1143000"/>
            <a:ext cx="2651760" cy="3840480"/>
          </a:xfrm>
          <a:prstGeom prst="rect">
            <a:avLst/>
          </a:prstGeom>
          <a:solidFill>
            <a:srgbClr val="EEF4FB"/>
          </a:solidFill>
          <a:ln w="12700">
            <a:solidFill>
              <a:srgbClr val="2DC653"/>
            </a:solidFill>
            <a:prstDash val="solid"/>
          </a:ln>
          <a:effectLst>
            <a:outerShdw blurRad="101600" dist="25400" dir="8100000" algn="bl" rotWithShape="0">
              <a:srgbClr val="000000">
                <a:alpha val="9000"/>
              </a:srgbClr>
            </a:outerShdw>
          </a:effectLst>
        </p:spPr>
        <p:txBody>
          <a:bodyPr/>
          <a:lstStyle/>
          <a:p>
            <a:endParaRPr lang="LID4096"/>
          </a:p>
        </p:txBody>
      </p:sp>
      <p:sp>
        <p:nvSpPr>
          <p:cNvPr id="34" name="Shape 32"/>
          <p:cNvSpPr/>
          <p:nvPr/>
        </p:nvSpPr>
        <p:spPr>
          <a:xfrm>
            <a:off x="6080760" y="1143000"/>
            <a:ext cx="2651760" cy="457200"/>
          </a:xfrm>
          <a:prstGeom prst="rect">
            <a:avLst/>
          </a:prstGeom>
          <a:solidFill>
            <a:srgbClr val="2DC653"/>
          </a:solidFill>
          <a:ln w="12700">
            <a:solidFill>
              <a:srgbClr val="2DC653"/>
            </a:solidFill>
            <a:prstDash val="solid"/>
          </a:ln>
        </p:spPr>
        <p:txBody>
          <a:bodyPr/>
          <a:lstStyle/>
          <a:p>
            <a:endParaRPr lang="LID4096"/>
          </a:p>
        </p:txBody>
      </p:sp>
      <p:sp>
        <p:nvSpPr>
          <p:cNvPr id="35" name="Shape 33"/>
          <p:cNvSpPr/>
          <p:nvPr/>
        </p:nvSpPr>
        <p:spPr>
          <a:xfrm>
            <a:off x="6080760" y="1490472"/>
            <a:ext cx="2651760" cy="109728"/>
          </a:xfrm>
          <a:prstGeom prst="rect">
            <a:avLst/>
          </a:prstGeom>
          <a:solidFill>
            <a:srgbClr val="2DC653"/>
          </a:solidFill>
          <a:ln w="12700">
            <a:solidFill>
              <a:srgbClr val="2DC653"/>
            </a:solidFill>
            <a:prstDash val="solid"/>
          </a:ln>
        </p:spPr>
        <p:txBody>
          <a:bodyPr/>
          <a:lstStyle/>
          <a:p>
            <a:endParaRPr lang="LID4096"/>
          </a:p>
        </p:txBody>
      </p:sp>
      <p:sp>
        <p:nvSpPr>
          <p:cNvPr id="36" name="Text 34"/>
          <p:cNvSpPr/>
          <p:nvPr/>
        </p:nvSpPr>
        <p:spPr>
          <a:xfrm>
            <a:off x="6172200" y="1161288"/>
            <a:ext cx="2468880"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Palatino Linotype" pitchFamily="34" charset="0"/>
                <a:ea typeface="Palatino Linotype" pitchFamily="34" charset="-122"/>
                <a:cs typeface="Palatino Linotype" pitchFamily="34" charset="-120"/>
              </a:rPr>
              <a:t>ec2_network</a:t>
            </a:r>
            <a:endParaRPr lang="en-US" sz="1500" dirty="0"/>
          </a:p>
        </p:txBody>
      </p:sp>
      <p:sp>
        <p:nvSpPr>
          <p:cNvPr id="37" name="Text 35"/>
          <p:cNvSpPr/>
          <p:nvPr/>
        </p:nvSpPr>
        <p:spPr>
          <a:xfrm>
            <a:off x="6217920" y="1691640"/>
            <a:ext cx="1005840" cy="256032"/>
          </a:xfrm>
          <a:prstGeom prst="rect">
            <a:avLst/>
          </a:prstGeom>
          <a:noFill/>
          <a:ln/>
        </p:spPr>
        <p:txBody>
          <a:bodyPr wrap="square" lIns="0" tIns="0" rIns="0" bIns="0" rtlCol="0" anchor="ctr"/>
          <a:lstStyle/>
          <a:p>
            <a:pPr marL="0" indent="0">
              <a:buNone/>
            </a:pPr>
            <a:r>
              <a:rPr lang="en-US" sz="1000" dirty="0">
                <a:solidFill>
                  <a:srgbClr val="64748B"/>
                </a:solidFill>
                <a:latin typeface="Garamond" pitchFamily="34" charset="0"/>
                <a:ea typeface="Garamond" pitchFamily="34" charset="-122"/>
                <a:cs typeface="Garamond" pitchFamily="34" charset="-120"/>
              </a:rPr>
              <a:t>Best model:</a:t>
            </a:r>
            <a:endParaRPr lang="en-US" sz="1000" dirty="0"/>
          </a:p>
        </p:txBody>
      </p:sp>
      <p:sp>
        <p:nvSpPr>
          <p:cNvPr id="38" name="Text 36"/>
          <p:cNvSpPr/>
          <p:nvPr/>
        </p:nvSpPr>
        <p:spPr>
          <a:xfrm>
            <a:off x="6217920" y="1938528"/>
            <a:ext cx="2377440" cy="274320"/>
          </a:xfrm>
          <a:prstGeom prst="rect">
            <a:avLst/>
          </a:prstGeom>
          <a:noFill/>
          <a:ln/>
        </p:spPr>
        <p:txBody>
          <a:bodyPr wrap="square" lIns="0" tIns="0" rIns="0" bIns="0" rtlCol="0" anchor="ctr"/>
          <a:lstStyle/>
          <a:p>
            <a:pPr marL="0" indent="0">
              <a:buNone/>
            </a:pPr>
            <a:r>
              <a:rPr lang="en-US" sz="1250" b="1" dirty="0">
                <a:solidFill>
                  <a:srgbClr val="2DC653"/>
                </a:solidFill>
                <a:latin typeface="Palatino Linotype" pitchFamily="34" charset="0"/>
                <a:ea typeface="Palatino Linotype" pitchFamily="34" charset="-122"/>
                <a:cs typeface="Palatino Linotype" pitchFamily="34" charset="-120"/>
              </a:rPr>
              <a:t>LSTM-AE</a:t>
            </a:r>
            <a:endParaRPr lang="en-US" sz="1250" dirty="0"/>
          </a:p>
        </p:txBody>
      </p:sp>
      <p:sp>
        <p:nvSpPr>
          <p:cNvPr id="39" name="Text 37"/>
          <p:cNvSpPr/>
          <p:nvPr/>
        </p:nvSpPr>
        <p:spPr>
          <a:xfrm>
            <a:off x="6217920" y="2331720"/>
            <a:ext cx="1280160" cy="320040"/>
          </a:xfrm>
          <a:prstGeom prst="rect">
            <a:avLst/>
          </a:prstGeom>
          <a:noFill/>
          <a:ln/>
        </p:spPr>
        <p:txBody>
          <a:bodyPr wrap="square" lIns="0" tIns="0" rIns="0" bIns="0" rtlCol="0" anchor="ctr"/>
          <a:lstStyle/>
          <a:p>
            <a:pPr marL="0" indent="0">
              <a:buNone/>
            </a:pPr>
            <a:r>
              <a:rPr lang="en-US" sz="1050" dirty="0">
                <a:solidFill>
                  <a:srgbClr val="64748B"/>
                </a:solidFill>
                <a:latin typeface="Garamond" pitchFamily="34" charset="0"/>
                <a:ea typeface="Garamond" pitchFamily="34" charset="-122"/>
                <a:cs typeface="Garamond" pitchFamily="34" charset="-120"/>
              </a:rPr>
              <a:t>Best Point-F1:</a:t>
            </a:r>
            <a:endParaRPr lang="en-US" sz="1050" dirty="0"/>
          </a:p>
        </p:txBody>
      </p:sp>
      <p:sp>
        <p:nvSpPr>
          <p:cNvPr id="40" name="Text 38"/>
          <p:cNvSpPr/>
          <p:nvPr/>
        </p:nvSpPr>
        <p:spPr>
          <a:xfrm>
            <a:off x="7498080" y="2331720"/>
            <a:ext cx="1097280" cy="320040"/>
          </a:xfrm>
          <a:prstGeom prst="rect">
            <a:avLst/>
          </a:prstGeom>
          <a:noFill/>
          <a:ln/>
        </p:spPr>
        <p:txBody>
          <a:bodyPr wrap="square" lIns="0" tIns="0" rIns="0" bIns="0" rtlCol="0" anchor="ctr"/>
          <a:lstStyle/>
          <a:p>
            <a:pPr marL="0" indent="0">
              <a:buNone/>
            </a:pPr>
            <a:r>
              <a:rPr lang="en-US" sz="1100" b="1" dirty="0">
                <a:solidFill>
                  <a:srgbClr val="0A2342"/>
                </a:solidFill>
                <a:latin typeface="Palatino Linotype" pitchFamily="34" charset="0"/>
                <a:ea typeface="Palatino Linotype" pitchFamily="34" charset="-122"/>
                <a:cs typeface="Palatino Linotype" pitchFamily="34" charset="-120"/>
              </a:rPr>
              <a:t>0.613</a:t>
            </a:r>
            <a:endParaRPr lang="en-US" sz="1100" dirty="0"/>
          </a:p>
        </p:txBody>
      </p:sp>
      <p:sp>
        <p:nvSpPr>
          <p:cNvPr id="41" name="Text 39"/>
          <p:cNvSpPr/>
          <p:nvPr/>
        </p:nvSpPr>
        <p:spPr>
          <a:xfrm>
            <a:off x="6217920" y="2715768"/>
            <a:ext cx="1280160" cy="320040"/>
          </a:xfrm>
          <a:prstGeom prst="rect">
            <a:avLst/>
          </a:prstGeom>
          <a:noFill/>
          <a:ln/>
        </p:spPr>
        <p:txBody>
          <a:bodyPr wrap="square" lIns="0" tIns="0" rIns="0" bIns="0" rtlCol="0" anchor="ctr"/>
          <a:lstStyle/>
          <a:p>
            <a:pPr marL="0" indent="0">
              <a:buNone/>
            </a:pPr>
            <a:r>
              <a:rPr lang="en-US" sz="1050" dirty="0">
                <a:solidFill>
                  <a:srgbClr val="64748B"/>
                </a:solidFill>
                <a:latin typeface="Garamond" pitchFamily="34" charset="0"/>
                <a:ea typeface="Garamond" pitchFamily="34" charset="-122"/>
                <a:cs typeface="Garamond" pitchFamily="34" charset="-120"/>
              </a:rPr>
              <a:t>Event-Level F1:</a:t>
            </a:r>
            <a:endParaRPr lang="en-US" sz="1050" dirty="0"/>
          </a:p>
        </p:txBody>
      </p:sp>
      <p:sp>
        <p:nvSpPr>
          <p:cNvPr id="42" name="Text 40"/>
          <p:cNvSpPr/>
          <p:nvPr/>
        </p:nvSpPr>
        <p:spPr>
          <a:xfrm>
            <a:off x="7498080" y="2715768"/>
            <a:ext cx="1097280" cy="320040"/>
          </a:xfrm>
          <a:prstGeom prst="rect">
            <a:avLst/>
          </a:prstGeom>
          <a:noFill/>
          <a:ln/>
        </p:spPr>
        <p:txBody>
          <a:bodyPr wrap="square" lIns="0" tIns="0" rIns="0" bIns="0" rtlCol="0" anchor="ctr"/>
          <a:lstStyle/>
          <a:p>
            <a:pPr marL="0" indent="0">
              <a:buNone/>
            </a:pPr>
            <a:r>
              <a:rPr lang="en-US" sz="1100" b="1" dirty="0">
                <a:solidFill>
                  <a:srgbClr val="0A2342"/>
                </a:solidFill>
                <a:latin typeface="Palatino Linotype" pitchFamily="34" charset="0"/>
                <a:ea typeface="Palatino Linotype" pitchFamily="34" charset="-122"/>
                <a:cs typeface="Palatino Linotype" pitchFamily="34" charset="-120"/>
              </a:rPr>
              <a:t>1.000 / 0.047</a:t>
            </a:r>
            <a:endParaRPr lang="en-US" sz="1100" dirty="0"/>
          </a:p>
        </p:txBody>
      </p:sp>
      <p:sp>
        <p:nvSpPr>
          <p:cNvPr id="43" name="Text 41"/>
          <p:cNvSpPr/>
          <p:nvPr/>
        </p:nvSpPr>
        <p:spPr>
          <a:xfrm>
            <a:off x="6217920" y="3099816"/>
            <a:ext cx="1280160" cy="320040"/>
          </a:xfrm>
          <a:prstGeom prst="rect">
            <a:avLst/>
          </a:prstGeom>
          <a:noFill/>
          <a:ln/>
        </p:spPr>
        <p:txBody>
          <a:bodyPr wrap="square" lIns="0" tIns="0" rIns="0" bIns="0" rtlCol="0" anchor="ctr"/>
          <a:lstStyle/>
          <a:p>
            <a:pPr marL="0" indent="0">
              <a:buNone/>
            </a:pPr>
            <a:r>
              <a:rPr lang="en-US" sz="1050" dirty="0">
                <a:solidFill>
                  <a:srgbClr val="64748B"/>
                </a:solidFill>
                <a:latin typeface="Garamond" pitchFamily="34" charset="0"/>
                <a:ea typeface="Garamond" pitchFamily="34" charset="-122"/>
                <a:cs typeface="Garamond" pitchFamily="34" charset="-120"/>
              </a:rPr>
              <a:t>Best PR-AUC:</a:t>
            </a:r>
            <a:endParaRPr lang="en-US" sz="1050" dirty="0"/>
          </a:p>
        </p:txBody>
      </p:sp>
      <p:sp>
        <p:nvSpPr>
          <p:cNvPr id="44" name="Text 42"/>
          <p:cNvSpPr/>
          <p:nvPr/>
        </p:nvSpPr>
        <p:spPr>
          <a:xfrm>
            <a:off x="7498080" y="3099816"/>
            <a:ext cx="1097280" cy="320040"/>
          </a:xfrm>
          <a:prstGeom prst="rect">
            <a:avLst/>
          </a:prstGeom>
          <a:noFill/>
          <a:ln/>
        </p:spPr>
        <p:txBody>
          <a:bodyPr wrap="square" lIns="0" tIns="0" rIns="0" bIns="0" rtlCol="0" anchor="ctr"/>
          <a:lstStyle/>
          <a:p>
            <a:pPr marL="0" indent="0">
              <a:buNone/>
            </a:pPr>
            <a:r>
              <a:rPr lang="en-US" sz="1100" b="1" dirty="0">
                <a:solidFill>
                  <a:srgbClr val="0A2342"/>
                </a:solidFill>
                <a:latin typeface="Palatino Linotype" pitchFamily="34" charset="0"/>
                <a:ea typeface="Palatino Linotype" pitchFamily="34" charset="-122"/>
                <a:cs typeface="Palatino Linotype" pitchFamily="34" charset="-120"/>
              </a:rPr>
              <a:t>0.950</a:t>
            </a:r>
            <a:endParaRPr lang="en-US" sz="1100" dirty="0"/>
          </a:p>
        </p:txBody>
      </p:sp>
      <p:sp>
        <p:nvSpPr>
          <p:cNvPr id="45" name="Shape 43"/>
          <p:cNvSpPr/>
          <p:nvPr/>
        </p:nvSpPr>
        <p:spPr>
          <a:xfrm>
            <a:off x="6190488" y="3520440"/>
            <a:ext cx="2432304" cy="18288"/>
          </a:xfrm>
          <a:prstGeom prst="rect">
            <a:avLst/>
          </a:prstGeom>
          <a:solidFill>
            <a:srgbClr val="CBD5E0"/>
          </a:solidFill>
          <a:ln w="12700">
            <a:solidFill>
              <a:srgbClr val="CBD5E0"/>
            </a:solidFill>
            <a:prstDash val="solid"/>
          </a:ln>
        </p:spPr>
        <p:txBody>
          <a:bodyPr/>
          <a:lstStyle/>
          <a:p>
            <a:endParaRPr lang="LID4096"/>
          </a:p>
        </p:txBody>
      </p:sp>
      <p:sp>
        <p:nvSpPr>
          <p:cNvPr id="46" name="Text 44"/>
          <p:cNvSpPr/>
          <p:nvPr/>
        </p:nvSpPr>
        <p:spPr>
          <a:xfrm>
            <a:off x="6190488" y="3593592"/>
            <a:ext cx="2450592" cy="1234440"/>
          </a:xfrm>
          <a:prstGeom prst="rect">
            <a:avLst/>
          </a:prstGeom>
          <a:noFill/>
          <a:ln/>
        </p:spPr>
        <p:txBody>
          <a:bodyPr wrap="square" lIns="0" tIns="0" rIns="0" bIns="0" rtlCol="0" anchor="ctr"/>
          <a:lstStyle/>
          <a:p>
            <a:pPr marL="0" indent="0">
              <a:lnSpc>
                <a:spcPct val="135000"/>
              </a:lnSpc>
              <a:buNone/>
            </a:pPr>
            <a:r>
              <a:rPr lang="en-US" sz="1400" dirty="0">
                <a:solidFill>
                  <a:srgbClr val="1A202C"/>
                </a:solidFill>
                <a:latin typeface="Garamond" pitchFamily="34" charset="0"/>
                <a:ea typeface="Garamond" pitchFamily="34" charset="-122"/>
                <a:cs typeface="Garamond" pitchFamily="34" charset="-120"/>
              </a:rPr>
              <a:t>LSTM-AE: 0 false positives, perfect precision. IForest: 91 short bursts → Event F1 = 0.047.</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28600"/>
            <a:ext cx="64008" cy="530352"/>
          </a:xfrm>
          <a:prstGeom prst="rect">
            <a:avLst/>
          </a:prstGeom>
          <a:solidFill>
            <a:srgbClr val="29ABE2"/>
          </a:solidFill>
          <a:ln w="12700">
            <a:solidFill>
              <a:srgbClr val="29ABE2"/>
            </a:solidFill>
            <a:prstDash val="solid"/>
          </a:ln>
        </p:spPr>
        <p:txBody>
          <a:bodyPr/>
          <a:lstStyle/>
          <a:p>
            <a:endParaRPr lang="LID4096"/>
          </a:p>
        </p:txBody>
      </p:sp>
      <p:sp>
        <p:nvSpPr>
          <p:cNvPr id="3" name="Text 1"/>
          <p:cNvSpPr/>
          <p:nvPr/>
        </p:nvSpPr>
        <p:spPr>
          <a:xfrm>
            <a:off x="566928" y="173736"/>
            <a:ext cx="8321040" cy="548640"/>
          </a:xfrm>
          <a:prstGeom prst="rect">
            <a:avLst/>
          </a:prstGeom>
          <a:noFill/>
          <a:ln/>
        </p:spPr>
        <p:txBody>
          <a:bodyPr wrap="square" lIns="0" tIns="0" rIns="0" bIns="0" rtlCol="0" anchor="ctr"/>
          <a:lstStyle/>
          <a:p>
            <a:pPr marL="0" indent="0">
              <a:buNone/>
            </a:pPr>
            <a:r>
              <a:rPr lang="en-US" sz="2600" b="1" dirty="0">
                <a:solidFill>
                  <a:srgbClr val="0A2342"/>
                </a:solidFill>
                <a:latin typeface="Palatino Linotype" pitchFamily="34" charset="0"/>
                <a:ea typeface="Palatino Linotype" pitchFamily="34" charset="-122"/>
                <a:cs typeface="Palatino Linotype" pitchFamily="34" charset="-120"/>
              </a:rPr>
              <a:t>Key Findings</a:t>
            </a:r>
            <a:endParaRPr lang="en-US" sz="2600" dirty="0"/>
          </a:p>
        </p:txBody>
      </p:sp>
      <p:sp>
        <p:nvSpPr>
          <p:cNvPr id="4" name="Text 2"/>
          <p:cNvSpPr/>
          <p:nvPr/>
        </p:nvSpPr>
        <p:spPr>
          <a:xfrm>
            <a:off x="566928" y="731520"/>
            <a:ext cx="8046720" cy="274320"/>
          </a:xfrm>
          <a:prstGeom prst="rect">
            <a:avLst/>
          </a:prstGeom>
          <a:noFill/>
          <a:ln/>
        </p:spPr>
        <p:txBody>
          <a:bodyPr wrap="square" lIns="0" tIns="0" rIns="0" bIns="0" rtlCol="0" anchor="ctr"/>
          <a:lstStyle/>
          <a:p>
            <a:pPr marL="0" indent="0">
              <a:buNone/>
            </a:pPr>
            <a:r>
              <a:rPr lang="en-US" sz="1250" dirty="0">
                <a:solidFill>
                  <a:srgbClr val="64748B"/>
                </a:solidFill>
                <a:latin typeface="Garamond" pitchFamily="34" charset="0"/>
                <a:ea typeface="Garamond" pitchFamily="34" charset="-122"/>
                <a:cs typeface="Garamond" pitchFamily="34" charset="-120"/>
              </a:rPr>
              <a:t>What the numbers actually mean</a:t>
            </a:r>
            <a:endParaRPr lang="en-US" sz="1250" dirty="0"/>
          </a:p>
        </p:txBody>
      </p:sp>
      <p:sp>
        <p:nvSpPr>
          <p:cNvPr id="5" name="Shape 3"/>
          <p:cNvSpPr/>
          <p:nvPr/>
        </p:nvSpPr>
        <p:spPr>
          <a:xfrm>
            <a:off x="411480" y="1143000"/>
            <a:ext cx="4023360" cy="1691640"/>
          </a:xfrm>
          <a:prstGeom prst="rect">
            <a:avLst/>
          </a:prstGeom>
          <a:solidFill>
            <a:srgbClr val="EEF4FB"/>
          </a:solidFill>
          <a:ln w="12700">
            <a:solidFill>
              <a:srgbClr val="1A6FC4"/>
            </a:solidFill>
            <a:prstDash val="solid"/>
          </a:ln>
          <a:effectLst>
            <a:outerShdw blurRad="101600" dist="25400" dir="8100000" algn="bl" rotWithShape="0">
              <a:srgbClr val="000000">
                <a:alpha val="9000"/>
              </a:srgbClr>
            </a:outerShdw>
          </a:effectLst>
        </p:spPr>
        <p:txBody>
          <a:bodyPr/>
          <a:lstStyle/>
          <a:p>
            <a:endParaRPr lang="LID4096"/>
          </a:p>
        </p:txBody>
      </p:sp>
      <p:sp>
        <p:nvSpPr>
          <p:cNvPr id="6" name="Shape 4"/>
          <p:cNvSpPr/>
          <p:nvPr/>
        </p:nvSpPr>
        <p:spPr>
          <a:xfrm>
            <a:off x="411480" y="1143000"/>
            <a:ext cx="73152" cy="1691640"/>
          </a:xfrm>
          <a:prstGeom prst="rect">
            <a:avLst/>
          </a:prstGeom>
          <a:solidFill>
            <a:srgbClr val="1A6FC4"/>
          </a:solidFill>
          <a:ln w="12700">
            <a:solidFill>
              <a:srgbClr val="1A6FC4"/>
            </a:solidFill>
            <a:prstDash val="solid"/>
          </a:ln>
        </p:spPr>
        <p:txBody>
          <a:bodyPr/>
          <a:lstStyle/>
          <a:p>
            <a:endParaRPr lang="LID4096"/>
          </a:p>
        </p:txBody>
      </p:sp>
      <p:sp>
        <p:nvSpPr>
          <p:cNvPr id="7" name="Shape 5"/>
          <p:cNvSpPr/>
          <p:nvPr/>
        </p:nvSpPr>
        <p:spPr>
          <a:xfrm>
            <a:off x="594360" y="1307592"/>
            <a:ext cx="420624" cy="420624"/>
          </a:xfrm>
          <a:prstGeom prst="ellipse">
            <a:avLst/>
          </a:prstGeom>
          <a:solidFill>
            <a:srgbClr val="1A6FC4"/>
          </a:solidFill>
          <a:ln w="12700">
            <a:solidFill>
              <a:srgbClr val="1A6FC4"/>
            </a:solidFill>
            <a:prstDash val="solid"/>
          </a:ln>
        </p:spPr>
        <p:txBody>
          <a:bodyPr/>
          <a:lstStyle/>
          <a:p>
            <a:endParaRPr lang="LID4096"/>
          </a:p>
        </p:txBody>
      </p:sp>
      <p:sp>
        <p:nvSpPr>
          <p:cNvPr id="8" name="Text 6"/>
          <p:cNvSpPr/>
          <p:nvPr/>
        </p:nvSpPr>
        <p:spPr>
          <a:xfrm>
            <a:off x="594360" y="1316736"/>
            <a:ext cx="420624"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Palatino Linotype" pitchFamily="34" charset="0"/>
                <a:ea typeface="Palatino Linotype" pitchFamily="34" charset="-122"/>
                <a:cs typeface="Palatino Linotype" pitchFamily="34" charset="-120"/>
              </a:rPr>
              <a:t>1</a:t>
            </a:r>
            <a:endParaRPr lang="en-US" sz="1600" dirty="0"/>
          </a:p>
        </p:txBody>
      </p:sp>
      <p:sp>
        <p:nvSpPr>
          <p:cNvPr id="9" name="Text 7"/>
          <p:cNvSpPr/>
          <p:nvPr/>
        </p:nvSpPr>
        <p:spPr>
          <a:xfrm>
            <a:off x="1097280" y="1280160"/>
            <a:ext cx="3218688" cy="475488"/>
          </a:xfrm>
          <a:prstGeom prst="rect">
            <a:avLst/>
          </a:prstGeom>
          <a:noFill/>
          <a:ln/>
        </p:spPr>
        <p:txBody>
          <a:bodyPr wrap="square" lIns="0" tIns="0" rIns="0" bIns="0" rtlCol="0" anchor="ctr"/>
          <a:lstStyle/>
          <a:p>
            <a:pPr marL="0" indent="0">
              <a:lnSpc>
                <a:spcPct val="110000"/>
              </a:lnSpc>
              <a:buNone/>
            </a:pPr>
            <a:r>
              <a:rPr lang="en-US" sz="1250" b="1" dirty="0">
                <a:solidFill>
                  <a:srgbClr val="1A6FC4"/>
                </a:solidFill>
                <a:latin typeface="Palatino Linotype" pitchFamily="34" charset="0"/>
                <a:ea typeface="Palatino Linotype" pitchFamily="34" charset="-122"/>
                <a:cs typeface="Palatino Linotype" pitchFamily="34" charset="-120"/>
              </a:rPr>
              <a:t>No single model wins every regime</a:t>
            </a:r>
            <a:endParaRPr lang="en-US" sz="1250" dirty="0"/>
          </a:p>
        </p:txBody>
      </p:sp>
      <p:sp>
        <p:nvSpPr>
          <p:cNvPr id="10" name="Text 8"/>
          <p:cNvSpPr/>
          <p:nvPr/>
        </p:nvSpPr>
        <p:spPr>
          <a:xfrm>
            <a:off x="594360" y="1828800"/>
            <a:ext cx="3749040" cy="914400"/>
          </a:xfrm>
          <a:prstGeom prst="rect">
            <a:avLst/>
          </a:prstGeom>
          <a:noFill/>
          <a:ln/>
        </p:spPr>
        <p:txBody>
          <a:bodyPr wrap="square" lIns="0" tIns="0" rIns="0" bIns="0" rtlCol="0" anchor="ctr"/>
          <a:lstStyle/>
          <a:p>
            <a:pPr marL="0" indent="0">
              <a:lnSpc>
                <a:spcPct val="135000"/>
              </a:lnSpc>
              <a:buNone/>
            </a:pPr>
            <a:r>
              <a:rPr lang="en-US" sz="1400" dirty="0">
                <a:solidFill>
                  <a:srgbClr val="1A202C"/>
                </a:solidFill>
                <a:latin typeface="Garamond" pitchFamily="34" charset="0"/>
                <a:ea typeface="Garamond" pitchFamily="34" charset="-122"/>
                <a:cs typeface="Garamond" pitchFamily="34" charset="-120"/>
              </a:rPr>
              <a:t>SKAB favours calibrated Z-score for tight alerting. NAB cloud series favour LSTM-AE for both ranking quality and alert coherence.</a:t>
            </a:r>
            <a:endParaRPr lang="en-US" sz="1400" dirty="0"/>
          </a:p>
        </p:txBody>
      </p:sp>
      <p:sp>
        <p:nvSpPr>
          <p:cNvPr id="11" name="Shape 9"/>
          <p:cNvSpPr/>
          <p:nvPr/>
        </p:nvSpPr>
        <p:spPr>
          <a:xfrm>
            <a:off x="4709160" y="1143000"/>
            <a:ext cx="4023360" cy="1691640"/>
          </a:xfrm>
          <a:prstGeom prst="rect">
            <a:avLst/>
          </a:prstGeom>
          <a:solidFill>
            <a:srgbClr val="EEF4FB"/>
          </a:solidFill>
          <a:ln w="12700">
            <a:solidFill>
              <a:srgbClr val="00B4A6"/>
            </a:solidFill>
            <a:prstDash val="solid"/>
          </a:ln>
          <a:effectLst>
            <a:outerShdw blurRad="101600" dist="25400" dir="8100000" algn="bl" rotWithShape="0">
              <a:srgbClr val="000000">
                <a:alpha val="9000"/>
              </a:srgbClr>
            </a:outerShdw>
          </a:effectLst>
        </p:spPr>
        <p:txBody>
          <a:bodyPr/>
          <a:lstStyle/>
          <a:p>
            <a:endParaRPr lang="LID4096"/>
          </a:p>
        </p:txBody>
      </p:sp>
      <p:sp>
        <p:nvSpPr>
          <p:cNvPr id="12" name="Shape 10"/>
          <p:cNvSpPr/>
          <p:nvPr/>
        </p:nvSpPr>
        <p:spPr>
          <a:xfrm>
            <a:off x="4709160" y="1143000"/>
            <a:ext cx="73152" cy="1691640"/>
          </a:xfrm>
          <a:prstGeom prst="rect">
            <a:avLst/>
          </a:prstGeom>
          <a:solidFill>
            <a:srgbClr val="00B4A6"/>
          </a:solidFill>
          <a:ln w="12700">
            <a:solidFill>
              <a:srgbClr val="00B4A6"/>
            </a:solidFill>
            <a:prstDash val="solid"/>
          </a:ln>
        </p:spPr>
        <p:txBody>
          <a:bodyPr/>
          <a:lstStyle/>
          <a:p>
            <a:endParaRPr lang="LID4096"/>
          </a:p>
        </p:txBody>
      </p:sp>
      <p:sp>
        <p:nvSpPr>
          <p:cNvPr id="13" name="Shape 11"/>
          <p:cNvSpPr/>
          <p:nvPr/>
        </p:nvSpPr>
        <p:spPr>
          <a:xfrm>
            <a:off x="4892040" y="1307592"/>
            <a:ext cx="420624" cy="420624"/>
          </a:xfrm>
          <a:prstGeom prst="ellipse">
            <a:avLst/>
          </a:prstGeom>
          <a:solidFill>
            <a:srgbClr val="00B4A6"/>
          </a:solidFill>
          <a:ln w="12700">
            <a:solidFill>
              <a:srgbClr val="00B4A6"/>
            </a:solidFill>
            <a:prstDash val="solid"/>
          </a:ln>
        </p:spPr>
        <p:txBody>
          <a:bodyPr/>
          <a:lstStyle/>
          <a:p>
            <a:endParaRPr lang="LID4096"/>
          </a:p>
        </p:txBody>
      </p:sp>
      <p:sp>
        <p:nvSpPr>
          <p:cNvPr id="14" name="Text 12"/>
          <p:cNvSpPr/>
          <p:nvPr/>
        </p:nvSpPr>
        <p:spPr>
          <a:xfrm>
            <a:off x="4892040" y="1316736"/>
            <a:ext cx="420624"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Palatino Linotype" pitchFamily="34" charset="0"/>
                <a:ea typeface="Palatino Linotype" pitchFamily="34" charset="-122"/>
                <a:cs typeface="Palatino Linotype" pitchFamily="34" charset="-120"/>
              </a:rPr>
              <a:t>2</a:t>
            </a:r>
            <a:endParaRPr lang="en-US" sz="1600" dirty="0"/>
          </a:p>
        </p:txBody>
      </p:sp>
      <p:sp>
        <p:nvSpPr>
          <p:cNvPr id="15" name="Text 13"/>
          <p:cNvSpPr/>
          <p:nvPr/>
        </p:nvSpPr>
        <p:spPr>
          <a:xfrm>
            <a:off x="5394960" y="1280160"/>
            <a:ext cx="3218688" cy="475488"/>
          </a:xfrm>
          <a:prstGeom prst="rect">
            <a:avLst/>
          </a:prstGeom>
          <a:noFill/>
          <a:ln/>
        </p:spPr>
        <p:txBody>
          <a:bodyPr wrap="square" lIns="0" tIns="0" rIns="0" bIns="0" rtlCol="0" anchor="ctr"/>
          <a:lstStyle/>
          <a:p>
            <a:pPr marL="0" indent="0">
              <a:lnSpc>
                <a:spcPct val="110000"/>
              </a:lnSpc>
              <a:buNone/>
            </a:pPr>
            <a:r>
              <a:rPr lang="en-US" sz="1250" b="1" dirty="0">
                <a:solidFill>
                  <a:srgbClr val="00B4A6"/>
                </a:solidFill>
                <a:latin typeface="Palatino Linotype" pitchFamily="34" charset="0"/>
                <a:ea typeface="Palatino Linotype" pitchFamily="34" charset="-122"/>
                <a:cs typeface="Palatino Linotype" pitchFamily="34" charset="-120"/>
              </a:rPr>
              <a:t>Event-level F1 is the operational metric</a:t>
            </a:r>
            <a:endParaRPr lang="en-US" sz="1250" dirty="0"/>
          </a:p>
        </p:txBody>
      </p:sp>
      <p:sp>
        <p:nvSpPr>
          <p:cNvPr id="16" name="Text 14"/>
          <p:cNvSpPr/>
          <p:nvPr/>
        </p:nvSpPr>
        <p:spPr>
          <a:xfrm>
            <a:off x="4892040" y="1828800"/>
            <a:ext cx="3749040" cy="914400"/>
          </a:xfrm>
          <a:prstGeom prst="rect">
            <a:avLst/>
          </a:prstGeom>
          <a:noFill/>
          <a:ln/>
        </p:spPr>
        <p:txBody>
          <a:bodyPr wrap="square" lIns="0" tIns="0" rIns="0" bIns="0" rtlCol="0" anchor="ctr"/>
          <a:lstStyle/>
          <a:p>
            <a:pPr marL="0" indent="0">
              <a:lnSpc>
                <a:spcPct val="135000"/>
              </a:lnSpc>
              <a:buNone/>
            </a:pPr>
            <a:r>
              <a:rPr lang="en-US" sz="1400" dirty="0">
                <a:solidFill>
                  <a:srgbClr val="1A202C"/>
                </a:solidFill>
                <a:latin typeface="Garamond" pitchFamily="34" charset="0"/>
                <a:ea typeface="Garamond" pitchFamily="34" charset="-122"/>
                <a:cs typeface="Garamond" pitchFamily="34" charset="-120"/>
              </a:rPr>
              <a:t>Isolation Forest looks plausible at point level on some splits but collapses operationally due to fragmented alerts. Point F1 alone hides this failure mode.</a:t>
            </a:r>
            <a:endParaRPr lang="en-US" sz="1400" dirty="0"/>
          </a:p>
        </p:txBody>
      </p:sp>
      <p:sp>
        <p:nvSpPr>
          <p:cNvPr id="17" name="Shape 15"/>
          <p:cNvSpPr/>
          <p:nvPr/>
        </p:nvSpPr>
        <p:spPr>
          <a:xfrm>
            <a:off x="411480" y="2971800"/>
            <a:ext cx="4023360" cy="1691640"/>
          </a:xfrm>
          <a:prstGeom prst="rect">
            <a:avLst/>
          </a:prstGeom>
          <a:solidFill>
            <a:srgbClr val="EEF4FB"/>
          </a:solidFill>
          <a:ln w="12700">
            <a:solidFill>
              <a:srgbClr val="2DC653"/>
            </a:solidFill>
            <a:prstDash val="solid"/>
          </a:ln>
          <a:effectLst>
            <a:outerShdw blurRad="101600" dist="25400" dir="8100000" algn="bl" rotWithShape="0">
              <a:srgbClr val="000000">
                <a:alpha val="9000"/>
              </a:srgbClr>
            </a:outerShdw>
          </a:effectLst>
        </p:spPr>
        <p:txBody>
          <a:bodyPr/>
          <a:lstStyle/>
          <a:p>
            <a:endParaRPr lang="LID4096"/>
          </a:p>
        </p:txBody>
      </p:sp>
      <p:sp>
        <p:nvSpPr>
          <p:cNvPr id="18" name="Shape 16"/>
          <p:cNvSpPr/>
          <p:nvPr/>
        </p:nvSpPr>
        <p:spPr>
          <a:xfrm>
            <a:off x="411480" y="2971800"/>
            <a:ext cx="73152" cy="1691640"/>
          </a:xfrm>
          <a:prstGeom prst="rect">
            <a:avLst/>
          </a:prstGeom>
          <a:solidFill>
            <a:srgbClr val="2DC653"/>
          </a:solidFill>
          <a:ln w="12700">
            <a:solidFill>
              <a:srgbClr val="2DC653"/>
            </a:solidFill>
            <a:prstDash val="solid"/>
          </a:ln>
        </p:spPr>
        <p:txBody>
          <a:bodyPr/>
          <a:lstStyle/>
          <a:p>
            <a:endParaRPr lang="LID4096"/>
          </a:p>
        </p:txBody>
      </p:sp>
      <p:sp>
        <p:nvSpPr>
          <p:cNvPr id="19" name="Shape 17"/>
          <p:cNvSpPr/>
          <p:nvPr/>
        </p:nvSpPr>
        <p:spPr>
          <a:xfrm>
            <a:off x="594360" y="3136392"/>
            <a:ext cx="420624" cy="420624"/>
          </a:xfrm>
          <a:prstGeom prst="ellipse">
            <a:avLst/>
          </a:prstGeom>
          <a:solidFill>
            <a:srgbClr val="2DC653"/>
          </a:solidFill>
          <a:ln w="12700">
            <a:solidFill>
              <a:srgbClr val="2DC653"/>
            </a:solidFill>
            <a:prstDash val="solid"/>
          </a:ln>
        </p:spPr>
        <p:txBody>
          <a:bodyPr/>
          <a:lstStyle/>
          <a:p>
            <a:endParaRPr lang="LID4096"/>
          </a:p>
        </p:txBody>
      </p:sp>
      <p:sp>
        <p:nvSpPr>
          <p:cNvPr id="20" name="Text 18"/>
          <p:cNvSpPr/>
          <p:nvPr/>
        </p:nvSpPr>
        <p:spPr>
          <a:xfrm>
            <a:off x="594360" y="3145536"/>
            <a:ext cx="420624"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Palatino Linotype" pitchFamily="34" charset="0"/>
                <a:ea typeface="Palatino Linotype" pitchFamily="34" charset="-122"/>
                <a:cs typeface="Palatino Linotype" pitchFamily="34" charset="-120"/>
              </a:rPr>
              <a:t>3</a:t>
            </a:r>
            <a:endParaRPr lang="en-US" sz="1600" dirty="0"/>
          </a:p>
        </p:txBody>
      </p:sp>
      <p:sp>
        <p:nvSpPr>
          <p:cNvPr id="21" name="Text 19"/>
          <p:cNvSpPr/>
          <p:nvPr/>
        </p:nvSpPr>
        <p:spPr>
          <a:xfrm>
            <a:off x="1097280" y="3108960"/>
            <a:ext cx="3218688" cy="475488"/>
          </a:xfrm>
          <a:prstGeom prst="rect">
            <a:avLst/>
          </a:prstGeom>
          <a:noFill/>
          <a:ln/>
        </p:spPr>
        <p:txBody>
          <a:bodyPr wrap="square" lIns="0" tIns="0" rIns="0" bIns="0" rtlCol="0" anchor="ctr"/>
          <a:lstStyle/>
          <a:p>
            <a:pPr marL="0" indent="0">
              <a:lnSpc>
                <a:spcPct val="110000"/>
              </a:lnSpc>
              <a:buNone/>
            </a:pPr>
            <a:r>
              <a:rPr lang="en-US" sz="1250" b="1" dirty="0">
                <a:solidFill>
                  <a:srgbClr val="2DC653"/>
                </a:solidFill>
                <a:latin typeface="Palatino Linotype" pitchFamily="34" charset="0"/>
                <a:ea typeface="Palatino Linotype" pitchFamily="34" charset="-122"/>
                <a:cs typeface="Palatino Linotype" pitchFamily="34" charset="-120"/>
              </a:rPr>
              <a:t>Warmup calibration is the key engineering win</a:t>
            </a:r>
            <a:endParaRPr lang="en-US" sz="1250" dirty="0"/>
          </a:p>
        </p:txBody>
      </p:sp>
      <p:sp>
        <p:nvSpPr>
          <p:cNvPr id="22" name="Text 20"/>
          <p:cNvSpPr/>
          <p:nvPr/>
        </p:nvSpPr>
        <p:spPr>
          <a:xfrm>
            <a:off x="594360" y="3657600"/>
            <a:ext cx="3749040" cy="914400"/>
          </a:xfrm>
          <a:prstGeom prst="rect">
            <a:avLst/>
          </a:prstGeom>
          <a:noFill/>
          <a:ln/>
        </p:spPr>
        <p:txBody>
          <a:bodyPr wrap="square" lIns="0" tIns="0" rIns="0" bIns="0" rtlCol="0" anchor="ctr"/>
          <a:lstStyle/>
          <a:p>
            <a:pPr marL="0" indent="0">
              <a:lnSpc>
                <a:spcPct val="135000"/>
              </a:lnSpc>
              <a:buNone/>
            </a:pPr>
            <a:r>
              <a:rPr lang="en-US" sz="1400" dirty="0">
                <a:solidFill>
                  <a:srgbClr val="1A202C"/>
                </a:solidFill>
                <a:latin typeface="Garamond" pitchFamily="34" charset="0"/>
                <a:ea typeface="Garamond" pitchFamily="34" charset="-122"/>
                <a:cs typeface="Garamond" pitchFamily="34" charset="-120"/>
              </a:rPr>
              <a:t>Online threshold adaptation (SKAB 10th percentile warmup) dramatically outperforms fixed artifact thresholds when train/test score distributions differ.</a:t>
            </a:r>
            <a:endParaRPr lang="en-US" sz="1400" dirty="0"/>
          </a:p>
        </p:txBody>
      </p:sp>
      <p:sp>
        <p:nvSpPr>
          <p:cNvPr id="23" name="Shape 21"/>
          <p:cNvSpPr/>
          <p:nvPr/>
        </p:nvSpPr>
        <p:spPr>
          <a:xfrm>
            <a:off x="4709160" y="2971800"/>
            <a:ext cx="4023360" cy="1691640"/>
          </a:xfrm>
          <a:prstGeom prst="rect">
            <a:avLst/>
          </a:prstGeom>
          <a:solidFill>
            <a:srgbClr val="EEF4FB"/>
          </a:solidFill>
          <a:ln w="12700">
            <a:solidFill>
              <a:srgbClr val="F4844C"/>
            </a:solidFill>
            <a:prstDash val="solid"/>
          </a:ln>
          <a:effectLst>
            <a:outerShdw blurRad="101600" dist="25400" dir="8100000" algn="bl" rotWithShape="0">
              <a:srgbClr val="000000">
                <a:alpha val="9000"/>
              </a:srgbClr>
            </a:outerShdw>
          </a:effectLst>
        </p:spPr>
        <p:txBody>
          <a:bodyPr/>
          <a:lstStyle/>
          <a:p>
            <a:endParaRPr lang="LID4096"/>
          </a:p>
        </p:txBody>
      </p:sp>
      <p:sp>
        <p:nvSpPr>
          <p:cNvPr id="24" name="Shape 22"/>
          <p:cNvSpPr/>
          <p:nvPr/>
        </p:nvSpPr>
        <p:spPr>
          <a:xfrm>
            <a:off x="4709160" y="2971800"/>
            <a:ext cx="73152" cy="1691640"/>
          </a:xfrm>
          <a:prstGeom prst="rect">
            <a:avLst/>
          </a:prstGeom>
          <a:solidFill>
            <a:srgbClr val="F4844C"/>
          </a:solidFill>
          <a:ln w="12700">
            <a:solidFill>
              <a:srgbClr val="F4844C"/>
            </a:solidFill>
            <a:prstDash val="solid"/>
          </a:ln>
        </p:spPr>
        <p:txBody>
          <a:bodyPr/>
          <a:lstStyle/>
          <a:p>
            <a:endParaRPr lang="LID4096"/>
          </a:p>
        </p:txBody>
      </p:sp>
      <p:sp>
        <p:nvSpPr>
          <p:cNvPr id="25" name="Shape 23"/>
          <p:cNvSpPr/>
          <p:nvPr/>
        </p:nvSpPr>
        <p:spPr>
          <a:xfrm>
            <a:off x="4892040" y="3136392"/>
            <a:ext cx="420624" cy="420624"/>
          </a:xfrm>
          <a:prstGeom prst="ellipse">
            <a:avLst/>
          </a:prstGeom>
          <a:solidFill>
            <a:srgbClr val="F4844C"/>
          </a:solidFill>
          <a:ln w="12700">
            <a:solidFill>
              <a:srgbClr val="F4844C"/>
            </a:solidFill>
            <a:prstDash val="solid"/>
          </a:ln>
        </p:spPr>
        <p:txBody>
          <a:bodyPr/>
          <a:lstStyle/>
          <a:p>
            <a:endParaRPr lang="LID4096"/>
          </a:p>
        </p:txBody>
      </p:sp>
      <p:sp>
        <p:nvSpPr>
          <p:cNvPr id="26" name="Text 24"/>
          <p:cNvSpPr/>
          <p:nvPr/>
        </p:nvSpPr>
        <p:spPr>
          <a:xfrm>
            <a:off x="4892040" y="3145536"/>
            <a:ext cx="420624"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Palatino Linotype" pitchFamily="34" charset="0"/>
                <a:ea typeface="Palatino Linotype" pitchFamily="34" charset="-122"/>
                <a:cs typeface="Palatino Linotype" pitchFamily="34" charset="-120"/>
              </a:rPr>
              <a:t>4</a:t>
            </a:r>
            <a:endParaRPr lang="en-US" sz="1600" dirty="0"/>
          </a:p>
        </p:txBody>
      </p:sp>
      <p:sp>
        <p:nvSpPr>
          <p:cNvPr id="27" name="Text 25"/>
          <p:cNvSpPr/>
          <p:nvPr/>
        </p:nvSpPr>
        <p:spPr>
          <a:xfrm>
            <a:off x="5394960" y="3108960"/>
            <a:ext cx="3218688" cy="475488"/>
          </a:xfrm>
          <a:prstGeom prst="rect">
            <a:avLst/>
          </a:prstGeom>
          <a:noFill/>
          <a:ln/>
        </p:spPr>
        <p:txBody>
          <a:bodyPr wrap="square" lIns="0" tIns="0" rIns="0" bIns="0" rtlCol="0" anchor="ctr"/>
          <a:lstStyle/>
          <a:p>
            <a:pPr marL="0" indent="0">
              <a:lnSpc>
                <a:spcPct val="110000"/>
              </a:lnSpc>
              <a:buNone/>
            </a:pPr>
            <a:r>
              <a:rPr lang="en-US" sz="1250" b="1" dirty="0">
                <a:solidFill>
                  <a:srgbClr val="F4844C"/>
                </a:solidFill>
                <a:latin typeface="Palatino Linotype" pitchFamily="34" charset="0"/>
                <a:ea typeface="Palatino Linotype" pitchFamily="34" charset="-122"/>
                <a:cs typeface="Palatino Linotype" pitchFamily="34" charset="-120"/>
              </a:rPr>
              <a:t>The full pipeline IS the anomaly detector</a:t>
            </a:r>
            <a:endParaRPr lang="en-US" sz="1250" dirty="0"/>
          </a:p>
        </p:txBody>
      </p:sp>
      <p:sp>
        <p:nvSpPr>
          <p:cNvPr id="28" name="Text 26"/>
          <p:cNvSpPr/>
          <p:nvPr/>
        </p:nvSpPr>
        <p:spPr>
          <a:xfrm>
            <a:off x="4892040" y="3657600"/>
            <a:ext cx="3749040" cy="914400"/>
          </a:xfrm>
          <a:prstGeom prst="rect">
            <a:avLst/>
          </a:prstGeom>
          <a:noFill/>
          <a:ln/>
        </p:spPr>
        <p:txBody>
          <a:bodyPr wrap="square" lIns="0" tIns="0" rIns="0" bIns="0" rtlCol="0" anchor="ctr"/>
          <a:lstStyle/>
          <a:p>
            <a:pPr marL="0" indent="0">
              <a:lnSpc>
                <a:spcPct val="135000"/>
              </a:lnSpc>
              <a:buNone/>
            </a:pPr>
            <a:r>
              <a:rPr lang="en-US" sz="1400" dirty="0">
                <a:solidFill>
                  <a:srgbClr val="1A202C"/>
                </a:solidFill>
                <a:latin typeface="Garamond" pitchFamily="34" charset="0"/>
                <a:ea typeface="Garamond" pitchFamily="34" charset="-122"/>
                <a:cs typeface="Garamond" pitchFamily="34" charset="-120"/>
              </a:rPr>
              <a:t>Rolling detrend (NAB), anomaly-aware split, and schema-consistent feature rebuild are as impactful as model choice. The detector is not just the final model.</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28600"/>
            <a:ext cx="64008" cy="530352"/>
          </a:xfrm>
          <a:prstGeom prst="rect">
            <a:avLst/>
          </a:prstGeom>
          <a:solidFill>
            <a:srgbClr val="29ABE2"/>
          </a:solidFill>
          <a:ln w="12700">
            <a:solidFill>
              <a:srgbClr val="29ABE2"/>
            </a:solidFill>
            <a:prstDash val="solid"/>
          </a:ln>
        </p:spPr>
        <p:txBody>
          <a:bodyPr/>
          <a:lstStyle/>
          <a:p>
            <a:endParaRPr lang="LID4096"/>
          </a:p>
        </p:txBody>
      </p:sp>
      <p:sp>
        <p:nvSpPr>
          <p:cNvPr id="3" name="Text 1"/>
          <p:cNvSpPr/>
          <p:nvPr/>
        </p:nvSpPr>
        <p:spPr>
          <a:xfrm>
            <a:off x="566928" y="173736"/>
            <a:ext cx="8321040" cy="548640"/>
          </a:xfrm>
          <a:prstGeom prst="rect">
            <a:avLst/>
          </a:prstGeom>
          <a:noFill/>
          <a:ln/>
        </p:spPr>
        <p:txBody>
          <a:bodyPr wrap="square" lIns="0" tIns="0" rIns="0" bIns="0" rtlCol="0" anchor="ctr"/>
          <a:lstStyle/>
          <a:p>
            <a:pPr marL="0" indent="0">
              <a:buNone/>
            </a:pPr>
            <a:r>
              <a:rPr lang="en-US" sz="2600" b="1" dirty="0">
                <a:solidFill>
                  <a:srgbClr val="0A2342"/>
                </a:solidFill>
                <a:latin typeface="Palatino Linotype" pitchFamily="34" charset="0"/>
                <a:ea typeface="Palatino Linotype" pitchFamily="34" charset="-122"/>
                <a:cs typeface="Palatino Linotype" pitchFamily="34" charset="-120"/>
              </a:rPr>
              <a:t>Limitations &amp; Future Work</a:t>
            </a:r>
            <a:endParaRPr lang="en-US" sz="2600" dirty="0"/>
          </a:p>
        </p:txBody>
      </p:sp>
      <p:sp>
        <p:nvSpPr>
          <p:cNvPr id="4" name="Text 2"/>
          <p:cNvSpPr/>
          <p:nvPr/>
        </p:nvSpPr>
        <p:spPr>
          <a:xfrm>
            <a:off x="566928" y="731520"/>
            <a:ext cx="8046720" cy="274320"/>
          </a:xfrm>
          <a:prstGeom prst="rect">
            <a:avLst/>
          </a:prstGeom>
          <a:noFill/>
          <a:ln/>
        </p:spPr>
        <p:txBody>
          <a:bodyPr wrap="square" lIns="0" tIns="0" rIns="0" bIns="0" rtlCol="0" anchor="ctr"/>
          <a:lstStyle/>
          <a:p>
            <a:pPr marL="0" indent="0">
              <a:buNone/>
            </a:pPr>
            <a:r>
              <a:rPr lang="en-US" sz="1400" dirty="0">
                <a:solidFill>
                  <a:srgbClr val="64748B"/>
                </a:solidFill>
                <a:latin typeface="Garamond" pitchFamily="34" charset="0"/>
                <a:ea typeface="Garamond" pitchFamily="34" charset="-122"/>
                <a:cs typeface="Garamond" pitchFamily="34" charset="-120"/>
              </a:rPr>
              <a:t>Honest assessment and concrete next steps</a:t>
            </a:r>
            <a:endParaRPr lang="en-US" sz="1400" dirty="0"/>
          </a:p>
        </p:txBody>
      </p:sp>
      <p:sp>
        <p:nvSpPr>
          <p:cNvPr id="5" name="Shape 3"/>
          <p:cNvSpPr/>
          <p:nvPr/>
        </p:nvSpPr>
        <p:spPr>
          <a:xfrm>
            <a:off x="365760" y="1143000"/>
            <a:ext cx="3977640" cy="3794760"/>
          </a:xfrm>
          <a:prstGeom prst="rect">
            <a:avLst/>
          </a:prstGeom>
          <a:solidFill>
            <a:srgbClr val="FFF5F5"/>
          </a:solidFill>
          <a:ln w="12700">
            <a:solidFill>
              <a:srgbClr val="E53E3E"/>
            </a:solidFill>
            <a:prstDash val="solid"/>
          </a:ln>
          <a:effectLst>
            <a:outerShdw blurRad="101600" dist="25400" dir="8100000" algn="bl" rotWithShape="0">
              <a:srgbClr val="000000">
                <a:alpha val="9000"/>
              </a:srgbClr>
            </a:outerShdw>
          </a:effectLst>
        </p:spPr>
        <p:txBody>
          <a:bodyPr/>
          <a:lstStyle/>
          <a:p>
            <a:endParaRPr lang="LID4096"/>
          </a:p>
        </p:txBody>
      </p:sp>
      <p:sp>
        <p:nvSpPr>
          <p:cNvPr id="6" name="Shape 4"/>
          <p:cNvSpPr/>
          <p:nvPr/>
        </p:nvSpPr>
        <p:spPr>
          <a:xfrm>
            <a:off x="365760" y="1143000"/>
            <a:ext cx="3977640" cy="411480"/>
          </a:xfrm>
          <a:prstGeom prst="rect">
            <a:avLst/>
          </a:prstGeom>
          <a:solidFill>
            <a:srgbClr val="E53E3E"/>
          </a:solidFill>
          <a:ln w="12700">
            <a:solidFill>
              <a:srgbClr val="E53E3E"/>
            </a:solidFill>
            <a:prstDash val="solid"/>
          </a:ln>
        </p:spPr>
        <p:txBody>
          <a:bodyPr/>
          <a:lstStyle/>
          <a:p>
            <a:endParaRPr lang="LID4096"/>
          </a:p>
        </p:txBody>
      </p:sp>
      <p:sp>
        <p:nvSpPr>
          <p:cNvPr id="7" name="Shape 5"/>
          <p:cNvSpPr/>
          <p:nvPr/>
        </p:nvSpPr>
        <p:spPr>
          <a:xfrm>
            <a:off x="365760" y="1444752"/>
            <a:ext cx="3977640" cy="109728"/>
          </a:xfrm>
          <a:prstGeom prst="rect">
            <a:avLst/>
          </a:prstGeom>
          <a:solidFill>
            <a:srgbClr val="E53E3E"/>
          </a:solidFill>
          <a:ln w="12700">
            <a:solidFill>
              <a:srgbClr val="E53E3E"/>
            </a:solidFill>
            <a:prstDash val="solid"/>
          </a:ln>
        </p:spPr>
        <p:txBody>
          <a:bodyPr/>
          <a:lstStyle/>
          <a:p>
            <a:endParaRPr lang="LID4096"/>
          </a:p>
        </p:txBody>
      </p:sp>
      <p:sp>
        <p:nvSpPr>
          <p:cNvPr id="8" name="Text 6"/>
          <p:cNvSpPr/>
          <p:nvPr/>
        </p:nvSpPr>
        <p:spPr>
          <a:xfrm>
            <a:off x="457200" y="1170432"/>
            <a:ext cx="3794760"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Palatino Linotype" pitchFamily="34" charset="0"/>
                <a:ea typeface="Palatino Linotype" pitchFamily="34" charset="-122"/>
                <a:cs typeface="Palatino Linotype" pitchFamily="34" charset="-120"/>
              </a:rPr>
              <a:t>Limitations</a:t>
            </a:r>
            <a:endParaRPr lang="en-US" sz="1600" dirty="0"/>
          </a:p>
        </p:txBody>
      </p:sp>
      <p:sp>
        <p:nvSpPr>
          <p:cNvPr id="9" name="Text 7"/>
          <p:cNvSpPr/>
          <p:nvPr/>
        </p:nvSpPr>
        <p:spPr>
          <a:xfrm>
            <a:off x="530352" y="1673352"/>
            <a:ext cx="3703320" cy="548640"/>
          </a:xfrm>
          <a:prstGeom prst="rect">
            <a:avLst/>
          </a:prstGeom>
          <a:noFill/>
          <a:ln/>
        </p:spPr>
        <p:txBody>
          <a:bodyPr wrap="square" lIns="0" tIns="0" rIns="0" bIns="0" rtlCol="0" anchor="ctr"/>
          <a:lstStyle/>
          <a:p>
            <a:pPr marL="0" indent="0">
              <a:lnSpc>
                <a:spcPct val="120000"/>
              </a:lnSpc>
              <a:buNone/>
            </a:pPr>
            <a:r>
              <a:rPr lang="en-US" sz="1400" b="1" dirty="0">
                <a:solidFill>
                  <a:srgbClr val="E53E3E"/>
                </a:solidFill>
                <a:latin typeface="Garamond" pitchFamily="34" charset="0"/>
                <a:ea typeface="Garamond" pitchFamily="34" charset="-122"/>
                <a:cs typeface="Garamond" pitchFamily="34" charset="-120"/>
              </a:rPr>
              <a:t>✗  </a:t>
            </a:r>
            <a:r>
              <a:rPr lang="en-US" sz="1400" dirty="0">
                <a:solidFill>
                  <a:srgbClr val="1A202C"/>
                </a:solidFill>
                <a:latin typeface="Garamond" pitchFamily="34" charset="0"/>
                <a:ea typeface="Garamond" pitchFamily="34" charset="-122"/>
                <a:cs typeface="Garamond" pitchFamily="34" charset="-120"/>
              </a:rPr>
              <a:t>No formal Pi latency / memory benchmarking</a:t>
            </a:r>
            <a:endParaRPr lang="en-US" sz="1400" dirty="0"/>
          </a:p>
        </p:txBody>
      </p:sp>
      <p:sp>
        <p:nvSpPr>
          <p:cNvPr id="10" name="Text 8"/>
          <p:cNvSpPr/>
          <p:nvPr/>
        </p:nvSpPr>
        <p:spPr>
          <a:xfrm>
            <a:off x="530352" y="2295144"/>
            <a:ext cx="3703320" cy="548640"/>
          </a:xfrm>
          <a:prstGeom prst="rect">
            <a:avLst/>
          </a:prstGeom>
          <a:noFill/>
          <a:ln/>
        </p:spPr>
        <p:txBody>
          <a:bodyPr wrap="square" lIns="0" tIns="0" rIns="0" bIns="0" rtlCol="0" anchor="ctr"/>
          <a:lstStyle/>
          <a:p>
            <a:pPr marL="0" indent="0">
              <a:lnSpc>
                <a:spcPct val="120000"/>
              </a:lnSpc>
              <a:buNone/>
            </a:pPr>
            <a:r>
              <a:rPr lang="en-US" sz="1400" b="1" dirty="0">
                <a:solidFill>
                  <a:srgbClr val="E53E3E"/>
                </a:solidFill>
                <a:latin typeface="Garamond" pitchFamily="34" charset="0"/>
                <a:ea typeface="Garamond" pitchFamily="34" charset="-122"/>
                <a:cs typeface="Garamond" pitchFamily="34" charset="-120"/>
              </a:rPr>
              <a:t>✗  </a:t>
            </a:r>
            <a:r>
              <a:rPr lang="en-US" sz="1400" dirty="0">
                <a:solidFill>
                  <a:srgbClr val="1A202C"/>
                </a:solidFill>
                <a:latin typeface="Garamond" pitchFamily="34" charset="0"/>
                <a:ea typeface="Garamond" pitchFamily="34" charset="-122"/>
                <a:cs typeface="Garamond" pitchFamily="34" charset="-120"/>
              </a:rPr>
              <a:t>Alerts in CSV only — no live monitoring dashboard</a:t>
            </a:r>
            <a:endParaRPr lang="en-US" sz="1400" dirty="0"/>
          </a:p>
        </p:txBody>
      </p:sp>
      <p:sp>
        <p:nvSpPr>
          <p:cNvPr id="11" name="Text 9"/>
          <p:cNvSpPr/>
          <p:nvPr/>
        </p:nvSpPr>
        <p:spPr>
          <a:xfrm>
            <a:off x="530352" y="2916936"/>
            <a:ext cx="3703320" cy="548640"/>
          </a:xfrm>
          <a:prstGeom prst="rect">
            <a:avLst/>
          </a:prstGeom>
          <a:noFill/>
          <a:ln/>
        </p:spPr>
        <p:txBody>
          <a:bodyPr wrap="square" lIns="0" tIns="0" rIns="0" bIns="0" rtlCol="0" anchor="ctr"/>
          <a:lstStyle/>
          <a:p>
            <a:pPr marL="0" indent="0">
              <a:lnSpc>
                <a:spcPct val="120000"/>
              </a:lnSpc>
              <a:buNone/>
            </a:pPr>
            <a:r>
              <a:rPr lang="en-US" sz="1400" b="1" dirty="0">
                <a:solidFill>
                  <a:srgbClr val="E53E3E"/>
                </a:solidFill>
                <a:latin typeface="Garamond" pitchFamily="34" charset="0"/>
                <a:ea typeface="Garamond" pitchFamily="34" charset="-122"/>
                <a:cs typeface="Garamond" pitchFamily="34" charset="-120"/>
              </a:rPr>
              <a:t>✗  </a:t>
            </a:r>
            <a:r>
              <a:rPr lang="en-US" sz="1400" dirty="0">
                <a:solidFill>
                  <a:srgbClr val="1A202C"/>
                </a:solidFill>
                <a:latin typeface="Garamond" pitchFamily="34" charset="0"/>
                <a:ea typeface="Garamond" pitchFamily="34" charset="-122"/>
                <a:cs typeface="Garamond" pitchFamily="34" charset="-120"/>
              </a:rPr>
              <a:t>Evaluation covers 4 splits only (limited generalization)</a:t>
            </a:r>
            <a:endParaRPr lang="en-US" sz="1400" dirty="0"/>
          </a:p>
        </p:txBody>
      </p:sp>
      <p:sp>
        <p:nvSpPr>
          <p:cNvPr id="12" name="Text 10"/>
          <p:cNvSpPr/>
          <p:nvPr/>
        </p:nvSpPr>
        <p:spPr>
          <a:xfrm>
            <a:off x="530352" y="3538728"/>
            <a:ext cx="3703320" cy="548640"/>
          </a:xfrm>
          <a:prstGeom prst="rect">
            <a:avLst/>
          </a:prstGeom>
          <a:noFill/>
          <a:ln/>
        </p:spPr>
        <p:txBody>
          <a:bodyPr wrap="square" lIns="0" tIns="0" rIns="0" bIns="0" rtlCol="0" anchor="ctr"/>
          <a:lstStyle/>
          <a:p>
            <a:pPr marL="0" indent="0">
              <a:lnSpc>
                <a:spcPct val="120000"/>
              </a:lnSpc>
              <a:buNone/>
            </a:pPr>
            <a:r>
              <a:rPr lang="en-US" sz="1400" b="1" dirty="0">
                <a:solidFill>
                  <a:srgbClr val="E53E3E"/>
                </a:solidFill>
                <a:latin typeface="Garamond" pitchFamily="34" charset="0"/>
                <a:ea typeface="Garamond" pitchFamily="34" charset="-122"/>
                <a:cs typeface="Garamond" pitchFamily="34" charset="-120"/>
              </a:rPr>
              <a:t>✗  </a:t>
            </a:r>
            <a:r>
              <a:rPr lang="en-US" sz="1400" dirty="0">
                <a:solidFill>
                  <a:srgbClr val="1A202C"/>
                </a:solidFill>
                <a:latin typeface="Garamond" pitchFamily="34" charset="0"/>
                <a:ea typeface="Garamond" pitchFamily="34" charset="-122"/>
                <a:cs typeface="Garamond" pitchFamily="34" charset="-120"/>
              </a:rPr>
              <a:t>CNN-AE uses same-padding only — no spatial downsampling</a:t>
            </a:r>
            <a:endParaRPr lang="en-US" sz="1400" dirty="0"/>
          </a:p>
        </p:txBody>
      </p:sp>
      <p:sp>
        <p:nvSpPr>
          <p:cNvPr id="13" name="Text 11"/>
          <p:cNvSpPr/>
          <p:nvPr/>
        </p:nvSpPr>
        <p:spPr>
          <a:xfrm>
            <a:off x="530352" y="4160520"/>
            <a:ext cx="3703320" cy="548640"/>
          </a:xfrm>
          <a:prstGeom prst="rect">
            <a:avLst/>
          </a:prstGeom>
          <a:noFill/>
          <a:ln/>
        </p:spPr>
        <p:txBody>
          <a:bodyPr wrap="square" lIns="0" tIns="0" rIns="0" bIns="0" rtlCol="0" anchor="ctr"/>
          <a:lstStyle/>
          <a:p>
            <a:pPr marL="0" indent="0">
              <a:lnSpc>
                <a:spcPct val="120000"/>
              </a:lnSpc>
              <a:buNone/>
            </a:pPr>
            <a:r>
              <a:rPr lang="en-US" sz="1400" b="1" dirty="0">
                <a:solidFill>
                  <a:srgbClr val="E53E3E"/>
                </a:solidFill>
                <a:latin typeface="Garamond" pitchFamily="34" charset="0"/>
                <a:ea typeface="Garamond" pitchFamily="34" charset="-122"/>
                <a:cs typeface="Garamond" pitchFamily="34" charset="-120"/>
              </a:rPr>
              <a:t>✗  </a:t>
            </a:r>
            <a:r>
              <a:rPr lang="en-US" sz="1400" dirty="0">
                <a:solidFill>
                  <a:srgbClr val="1A202C"/>
                </a:solidFill>
                <a:latin typeface="Garamond" pitchFamily="34" charset="0"/>
                <a:ea typeface="Garamond" pitchFamily="34" charset="-122"/>
                <a:cs typeface="Garamond" pitchFamily="34" charset="-120"/>
              </a:rPr>
              <a:t>Docker path validated but not the primary deployment route</a:t>
            </a:r>
            <a:endParaRPr lang="en-US" sz="1400" dirty="0"/>
          </a:p>
        </p:txBody>
      </p:sp>
      <p:sp>
        <p:nvSpPr>
          <p:cNvPr id="14" name="Shape 12"/>
          <p:cNvSpPr/>
          <p:nvPr/>
        </p:nvSpPr>
        <p:spPr>
          <a:xfrm>
            <a:off x="4800600" y="1143000"/>
            <a:ext cx="3977640" cy="3794760"/>
          </a:xfrm>
          <a:prstGeom prst="rect">
            <a:avLst/>
          </a:prstGeom>
          <a:solidFill>
            <a:srgbClr val="F0FDF4"/>
          </a:solidFill>
          <a:ln w="12700">
            <a:solidFill>
              <a:srgbClr val="2DC653"/>
            </a:solidFill>
            <a:prstDash val="solid"/>
          </a:ln>
          <a:effectLst>
            <a:outerShdw blurRad="101600" dist="25400" dir="8100000" algn="bl" rotWithShape="0">
              <a:srgbClr val="000000">
                <a:alpha val="9000"/>
              </a:srgbClr>
            </a:outerShdw>
          </a:effectLst>
        </p:spPr>
        <p:txBody>
          <a:bodyPr/>
          <a:lstStyle/>
          <a:p>
            <a:endParaRPr lang="LID4096"/>
          </a:p>
        </p:txBody>
      </p:sp>
      <p:sp>
        <p:nvSpPr>
          <p:cNvPr id="15" name="Shape 13"/>
          <p:cNvSpPr/>
          <p:nvPr/>
        </p:nvSpPr>
        <p:spPr>
          <a:xfrm>
            <a:off x="4800600" y="1143000"/>
            <a:ext cx="3977640" cy="411480"/>
          </a:xfrm>
          <a:prstGeom prst="rect">
            <a:avLst/>
          </a:prstGeom>
          <a:solidFill>
            <a:srgbClr val="2DC653"/>
          </a:solidFill>
          <a:ln w="12700">
            <a:solidFill>
              <a:srgbClr val="2DC653"/>
            </a:solidFill>
            <a:prstDash val="solid"/>
          </a:ln>
        </p:spPr>
        <p:txBody>
          <a:bodyPr/>
          <a:lstStyle/>
          <a:p>
            <a:endParaRPr lang="LID4096"/>
          </a:p>
        </p:txBody>
      </p:sp>
      <p:sp>
        <p:nvSpPr>
          <p:cNvPr id="16" name="Shape 14"/>
          <p:cNvSpPr/>
          <p:nvPr/>
        </p:nvSpPr>
        <p:spPr>
          <a:xfrm>
            <a:off x="4800600" y="1444752"/>
            <a:ext cx="3977640" cy="109728"/>
          </a:xfrm>
          <a:prstGeom prst="rect">
            <a:avLst/>
          </a:prstGeom>
          <a:solidFill>
            <a:srgbClr val="2DC653"/>
          </a:solidFill>
          <a:ln w="12700">
            <a:solidFill>
              <a:srgbClr val="2DC653"/>
            </a:solidFill>
            <a:prstDash val="solid"/>
          </a:ln>
        </p:spPr>
        <p:txBody>
          <a:bodyPr/>
          <a:lstStyle/>
          <a:p>
            <a:endParaRPr lang="LID4096"/>
          </a:p>
        </p:txBody>
      </p:sp>
      <p:sp>
        <p:nvSpPr>
          <p:cNvPr id="17" name="Text 15"/>
          <p:cNvSpPr/>
          <p:nvPr/>
        </p:nvSpPr>
        <p:spPr>
          <a:xfrm>
            <a:off x="4892040" y="1170432"/>
            <a:ext cx="3794760"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Palatino Linotype" pitchFamily="34" charset="0"/>
                <a:ea typeface="Palatino Linotype" pitchFamily="34" charset="-122"/>
                <a:cs typeface="Palatino Linotype" pitchFamily="34" charset="-120"/>
              </a:rPr>
              <a:t>Future Work</a:t>
            </a:r>
            <a:endParaRPr lang="en-US" sz="1600" dirty="0"/>
          </a:p>
        </p:txBody>
      </p:sp>
      <p:sp>
        <p:nvSpPr>
          <p:cNvPr id="18" name="Text 16"/>
          <p:cNvSpPr/>
          <p:nvPr/>
        </p:nvSpPr>
        <p:spPr>
          <a:xfrm>
            <a:off x="4965192" y="1673352"/>
            <a:ext cx="3703320" cy="548640"/>
          </a:xfrm>
          <a:prstGeom prst="rect">
            <a:avLst/>
          </a:prstGeom>
          <a:noFill/>
          <a:ln/>
        </p:spPr>
        <p:txBody>
          <a:bodyPr wrap="square" lIns="0" tIns="0" rIns="0" bIns="0" rtlCol="0" anchor="ctr"/>
          <a:lstStyle/>
          <a:p>
            <a:pPr marL="0" indent="0">
              <a:lnSpc>
                <a:spcPct val="120000"/>
              </a:lnSpc>
              <a:buNone/>
            </a:pPr>
            <a:r>
              <a:rPr lang="en-US" sz="1400" b="1" dirty="0">
                <a:solidFill>
                  <a:srgbClr val="2DC653"/>
                </a:solidFill>
                <a:latin typeface="Garamond" pitchFamily="34" charset="0"/>
                <a:ea typeface="Garamond" pitchFamily="34" charset="-122"/>
                <a:cs typeface="Garamond" pitchFamily="34" charset="-120"/>
              </a:rPr>
              <a:t>✓  </a:t>
            </a:r>
            <a:r>
              <a:rPr lang="en-US" sz="1400" dirty="0">
                <a:solidFill>
                  <a:srgbClr val="1A202C"/>
                </a:solidFill>
                <a:latin typeface="Garamond" pitchFamily="34" charset="0"/>
                <a:ea typeface="Garamond" pitchFamily="34" charset="-122"/>
                <a:cs typeface="Garamond" pitchFamily="34" charset="-120"/>
              </a:rPr>
              <a:t>Pi latency &amp; memory profiling across all 4 models</a:t>
            </a:r>
            <a:endParaRPr lang="en-US" sz="1400" dirty="0"/>
          </a:p>
        </p:txBody>
      </p:sp>
      <p:sp>
        <p:nvSpPr>
          <p:cNvPr id="19" name="Text 17"/>
          <p:cNvSpPr/>
          <p:nvPr/>
        </p:nvSpPr>
        <p:spPr>
          <a:xfrm>
            <a:off x="4965192" y="2295144"/>
            <a:ext cx="3703320" cy="548640"/>
          </a:xfrm>
          <a:prstGeom prst="rect">
            <a:avLst/>
          </a:prstGeom>
          <a:noFill/>
          <a:ln/>
        </p:spPr>
        <p:txBody>
          <a:bodyPr wrap="square" lIns="0" tIns="0" rIns="0" bIns="0" rtlCol="0" anchor="ctr"/>
          <a:lstStyle/>
          <a:p>
            <a:pPr marL="0" indent="0">
              <a:lnSpc>
                <a:spcPct val="120000"/>
              </a:lnSpc>
              <a:buNone/>
            </a:pPr>
            <a:r>
              <a:rPr lang="en-US" sz="1400" b="1" dirty="0">
                <a:solidFill>
                  <a:srgbClr val="2DC653"/>
                </a:solidFill>
                <a:latin typeface="Garamond" pitchFamily="34" charset="0"/>
                <a:ea typeface="Garamond" pitchFamily="34" charset="-122"/>
                <a:cs typeface="Garamond" pitchFamily="34" charset="-120"/>
              </a:rPr>
              <a:t>✓  </a:t>
            </a:r>
            <a:r>
              <a:rPr lang="en-US" sz="1400" dirty="0">
                <a:solidFill>
                  <a:srgbClr val="1A202C"/>
                </a:solidFill>
                <a:latin typeface="Garamond" pitchFamily="34" charset="0"/>
                <a:ea typeface="Garamond" pitchFamily="34" charset="-122"/>
                <a:cs typeface="Garamond" pitchFamily="34" charset="-120"/>
              </a:rPr>
              <a:t>Real-time dashboard (Grafana + Prometheus integration)</a:t>
            </a:r>
            <a:endParaRPr lang="en-US" sz="1400" dirty="0"/>
          </a:p>
        </p:txBody>
      </p:sp>
      <p:sp>
        <p:nvSpPr>
          <p:cNvPr id="20" name="Text 18"/>
          <p:cNvSpPr/>
          <p:nvPr/>
        </p:nvSpPr>
        <p:spPr>
          <a:xfrm>
            <a:off x="4965192" y="2916936"/>
            <a:ext cx="3703320" cy="548640"/>
          </a:xfrm>
          <a:prstGeom prst="rect">
            <a:avLst/>
          </a:prstGeom>
          <a:noFill/>
          <a:ln/>
        </p:spPr>
        <p:txBody>
          <a:bodyPr wrap="square" lIns="0" tIns="0" rIns="0" bIns="0" rtlCol="0" anchor="ctr"/>
          <a:lstStyle/>
          <a:p>
            <a:pPr marL="0" indent="0">
              <a:lnSpc>
                <a:spcPct val="120000"/>
              </a:lnSpc>
              <a:buNone/>
            </a:pPr>
            <a:r>
              <a:rPr lang="en-US" sz="1400" b="1" dirty="0">
                <a:solidFill>
                  <a:srgbClr val="2DC653"/>
                </a:solidFill>
                <a:latin typeface="Garamond" pitchFamily="34" charset="0"/>
                <a:ea typeface="Garamond" pitchFamily="34" charset="-122"/>
                <a:cs typeface="Garamond" pitchFamily="34" charset="-120"/>
              </a:rPr>
              <a:t>✓  </a:t>
            </a:r>
            <a:r>
              <a:rPr lang="en-US" sz="1400" dirty="0">
                <a:solidFill>
                  <a:srgbClr val="1A202C"/>
                </a:solidFill>
                <a:latin typeface="Garamond" pitchFamily="34" charset="0"/>
                <a:ea typeface="Garamond" pitchFamily="34" charset="-122"/>
                <a:cs typeface="Garamond" pitchFamily="34" charset="-120"/>
              </a:rPr>
              <a:t>Score smoothing to reduce Isolation Forest fragmentation</a:t>
            </a:r>
            <a:endParaRPr lang="en-US" sz="1400" dirty="0"/>
          </a:p>
        </p:txBody>
      </p:sp>
      <p:sp>
        <p:nvSpPr>
          <p:cNvPr id="21" name="Text 19"/>
          <p:cNvSpPr/>
          <p:nvPr/>
        </p:nvSpPr>
        <p:spPr>
          <a:xfrm>
            <a:off x="4965192" y="3538728"/>
            <a:ext cx="3703320" cy="548640"/>
          </a:xfrm>
          <a:prstGeom prst="rect">
            <a:avLst/>
          </a:prstGeom>
          <a:noFill/>
          <a:ln/>
        </p:spPr>
        <p:txBody>
          <a:bodyPr wrap="square" lIns="0" tIns="0" rIns="0" bIns="0" rtlCol="0" anchor="ctr"/>
          <a:lstStyle/>
          <a:p>
            <a:pPr marL="0" indent="0">
              <a:lnSpc>
                <a:spcPct val="120000"/>
              </a:lnSpc>
              <a:buNone/>
            </a:pPr>
            <a:r>
              <a:rPr lang="en-US" sz="1400" b="1" dirty="0">
                <a:solidFill>
                  <a:srgbClr val="2DC653"/>
                </a:solidFill>
                <a:latin typeface="Garamond" pitchFamily="34" charset="0"/>
                <a:ea typeface="Garamond" pitchFamily="34" charset="-122"/>
                <a:cs typeface="Garamond" pitchFamily="34" charset="-120"/>
              </a:rPr>
              <a:t>✓  </a:t>
            </a:r>
            <a:r>
              <a:rPr lang="en-US" sz="1400" dirty="0">
                <a:solidFill>
                  <a:srgbClr val="1A202C"/>
                </a:solidFill>
                <a:latin typeface="Garamond" pitchFamily="34" charset="0"/>
                <a:ea typeface="Garamond" pitchFamily="34" charset="-122"/>
                <a:cs typeface="Garamond" pitchFamily="34" charset="-120"/>
              </a:rPr>
              <a:t>Broader evaluation — more NAB &amp; SKAB fault scenarios</a:t>
            </a:r>
            <a:endParaRPr lang="en-US" sz="1400" dirty="0"/>
          </a:p>
        </p:txBody>
      </p:sp>
      <p:sp>
        <p:nvSpPr>
          <p:cNvPr id="22" name="Text 20"/>
          <p:cNvSpPr/>
          <p:nvPr/>
        </p:nvSpPr>
        <p:spPr>
          <a:xfrm>
            <a:off x="4965192" y="4160520"/>
            <a:ext cx="3703320" cy="548640"/>
          </a:xfrm>
          <a:prstGeom prst="rect">
            <a:avLst/>
          </a:prstGeom>
          <a:noFill/>
          <a:ln/>
        </p:spPr>
        <p:txBody>
          <a:bodyPr wrap="square" lIns="0" tIns="0" rIns="0" bIns="0" rtlCol="0" anchor="ctr"/>
          <a:lstStyle/>
          <a:p>
            <a:pPr marL="0" indent="0">
              <a:lnSpc>
                <a:spcPct val="120000"/>
              </a:lnSpc>
              <a:buNone/>
            </a:pPr>
            <a:r>
              <a:rPr lang="en-US" sz="1400" b="1" dirty="0">
                <a:solidFill>
                  <a:srgbClr val="2DC653"/>
                </a:solidFill>
                <a:latin typeface="Garamond" pitchFamily="34" charset="0"/>
                <a:ea typeface="Garamond" pitchFamily="34" charset="-122"/>
                <a:cs typeface="Garamond" pitchFamily="34" charset="-120"/>
              </a:rPr>
              <a:t>✓  </a:t>
            </a:r>
            <a:r>
              <a:rPr lang="en-US" sz="1400" dirty="0">
                <a:solidFill>
                  <a:srgbClr val="1A202C"/>
                </a:solidFill>
                <a:latin typeface="Garamond" pitchFamily="34" charset="0"/>
                <a:ea typeface="Garamond" pitchFamily="34" charset="-122"/>
                <a:cs typeface="Garamond" pitchFamily="34" charset="-120"/>
              </a:rPr>
              <a:t>Live sensor integration — replace replayed test stream</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2342"/>
        </a:solidFill>
        <a:effectLst/>
      </p:bgPr>
    </p:bg>
    <p:spTree>
      <p:nvGrpSpPr>
        <p:cNvPr id="1" name=""/>
        <p:cNvGrpSpPr/>
        <p:nvPr/>
      </p:nvGrpSpPr>
      <p:grpSpPr>
        <a:xfrm>
          <a:off x="0" y="0"/>
          <a:ext cx="0" cy="0"/>
          <a:chOff x="0" y="0"/>
          <a:chExt cx="0" cy="0"/>
        </a:xfrm>
      </p:grpSpPr>
      <p:pic>
        <p:nvPicPr>
          <p:cNvPr id="2" name="Image 0" descr="/home/claude/pptx_extracted/ppt/media/image1.png"/>
          <p:cNvPicPr>
            <a:picLocks noChangeAspect="1"/>
          </p:cNvPicPr>
          <p:nvPr/>
        </p:nvPicPr>
        <p:blipFill>
          <a:blip r:embed="rId3"/>
          <a:srcRect/>
          <a:stretch/>
        </p:blipFill>
        <p:spPr>
          <a:xfrm>
            <a:off x="5029200" y="0"/>
            <a:ext cx="4114800" cy="5143500"/>
          </a:xfrm>
          <a:prstGeom prst="rect">
            <a:avLst/>
          </a:prstGeom>
        </p:spPr>
      </p:pic>
      <p:sp>
        <p:nvSpPr>
          <p:cNvPr id="3" name="Shape 0"/>
          <p:cNvSpPr/>
          <p:nvPr/>
        </p:nvSpPr>
        <p:spPr>
          <a:xfrm>
            <a:off x="5029200" y="0"/>
            <a:ext cx="4114800" cy="5143500"/>
          </a:xfrm>
          <a:prstGeom prst="rect">
            <a:avLst/>
          </a:prstGeom>
          <a:solidFill>
            <a:srgbClr val="0A2342">
              <a:alpha val="40000"/>
            </a:srgbClr>
          </a:solidFill>
          <a:ln w="12700">
            <a:solidFill>
              <a:srgbClr val="0A2342">
                <a:alpha val="40000"/>
              </a:srgbClr>
            </a:solidFill>
            <a:prstDash val="solid"/>
          </a:ln>
        </p:spPr>
        <p:txBody>
          <a:bodyPr/>
          <a:lstStyle/>
          <a:p>
            <a:endParaRPr lang="LID4096"/>
          </a:p>
        </p:txBody>
      </p:sp>
      <p:sp>
        <p:nvSpPr>
          <p:cNvPr id="4" name="Shape 1"/>
          <p:cNvSpPr/>
          <p:nvPr/>
        </p:nvSpPr>
        <p:spPr>
          <a:xfrm>
            <a:off x="0" y="0"/>
            <a:ext cx="5303520" cy="5143500"/>
          </a:xfrm>
          <a:prstGeom prst="rect">
            <a:avLst/>
          </a:prstGeom>
          <a:solidFill>
            <a:srgbClr val="0A2342"/>
          </a:solidFill>
          <a:ln w="12700">
            <a:solidFill>
              <a:srgbClr val="0A2342"/>
            </a:solidFill>
            <a:prstDash val="solid"/>
          </a:ln>
        </p:spPr>
        <p:txBody>
          <a:bodyPr/>
          <a:lstStyle/>
          <a:p>
            <a:endParaRPr lang="LID4096"/>
          </a:p>
        </p:txBody>
      </p:sp>
      <p:sp>
        <p:nvSpPr>
          <p:cNvPr id="5" name="Shape 2"/>
          <p:cNvSpPr/>
          <p:nvPr/>
        </p:nvSpPr>
        <p:spPr>
          <a:xfrm>
            <a:off x="457200" y="365760"/>
            <a:ext cx="64008" cy="548640"/>
          </a:xfrm>
          <a:prstGeom prst="rect">
            <a:avLst/>
          </a:prstGeom>
          <a:solidFill>
            <a:srgbClr val="29ABE2"/>
          </a:solidFill>
          <a:ln w="12700">
            <a:solidFill>
              <a:srgbClr val="29ABE2"/>
            </a:solidFill>
            <a:prstDash val="solid"/>
          </a:ln>
        </p:spPr>
        <p:txBody>
          <a:bodyPr/>
          <a:lstStyle/>
          <a:p>
            <a:endParaRPr lang="LID4096"/>
          </a:p>
        </p:txBody>
      </p:sp>
      <p:sp>
        <p:nvSpPr>
          <p:cNvPr id="6" name="Text 3"/>
          <p:cNvSpPr/>
          <p:nvPr/>
        </p:nvSpPr>
        <p:spPr>
          <a:xfrm>
            <a:off x="640080" y="292608"/>
            <a:ext cx="4572000" cy="548640"/>
          </a:xfrm>
          <a:prstGeom prst="rect">
            <a:avLst/>
          </a:prstGeom>
          <a:noFill/>
          <a:ln/>
        </p:spPr>
        <p:txBody>
          <a:bodyPr wrap="square" lIns="0" tIns="0" rIns="0" bIns="0" rtlCol="0" anchor="ctr"/>
          <a:lstStyle/>
          <a:p>
            <a:pPr marL="0" indent="0">
              <a:buNone/>
            </a:pPr>
            <a:r>
              <a:rPr lang="en-US" sz="2800" b="1" dirty="0">
                <a:solidFill>
                  <a:srgbClr val="FFFFFF"/>
                </a:solidFill>
                <a:latin typeface="Palatino Linotype" pitchFamily="34" charset="0"/>
                <a:ea typeface="Palatino Linotype" pitchFamily="34" charset="-122"/>
                <a:cs typeface="Palatino Linotype" pitchFamily="34" charset="-120"/>
              </a:rPr>
              <a:t>Conclusion</a:t>
            </a:r>
            <a:endParaRPr lang="en-US" sz="2800" dirty="0"/>
          </a:p>
        </p:txBody>
      </p:sp>
      <p:sp>
        <p:nvSpPr>
          <p:cNvPr id="7" name="Shape 4"/>
          <p:cNvSpPr/>
          <p:nvPr/>
        </p:nvSpPr>
        <p:spPr>
          <a:xfrm>
            <a:off x="457200" y="1115568"/>
            <a:ext cx="54864" cy="777240"/>
          </a:xfrm>
          <a:prstGeom prst="rect">
            <a:avLst/>
          </a:prstGeom>
          <a:solidFill>
            <a:srgbClr val="29ABE2"/>
          </a:solidFill>
          <a:ln w="12700">
            <a:solidFill>
              <a:srgbClr val="29ABE2"/>
            </a:solidFill>
            <a:prstDash val="solid"/>
          </a:ln>
        </p:spPr>
        <p:txBody>
          <a:bodyPr/>
          <a:lstStyle/>
          <a:p>
            <a:endParaRPr lang="LID4096" sz="2400"/>
          </a:p>
        </p:txBody>
      </p:sp>
      <p:sp>
        <p:nvSpPr>
          <p:cNvPr id="8" name="Text 5"/>
          <p:cNvSpPr/>
          <p:nvPr/>
        </p:nvSpPr>
        <p:spPr>
          <a:xfrm>
            <a:off x="621792" y="1115568"/>
            <a:ext cx="4572000" cy="292608"/>
          </a:xfrm>
          <a:prstGeom prst="rect">
            <a:avLst/>
          </a:prstGeom>
          <a:noFill/>
          <a:ln/>
        </p:spPr>
        <p:txBody>
          <a:bodyPr wrap="square" lIns="0" tIns="0" rIns="0" bIns="0" rtlCol="0" anchor="ctr"/>
          <a:lstStyle/>
          <a:p>
            <a:pPr marL="0" indent="0">
              <a:buNone/>
            </a:pPr>
            <a:r>
              <a:rPr lang="en-US" sz="1600" b="1" dirty="0">
                <a:solidFill>
                  <a:srgbClr val="29ABE2"/>
                </a:solidFill>
                <a:latin typeface="Palatino Linotype" pitchFamily="34" charset="0"/>
                <a:ea typeface="Palatino Linotype" pitchFamily="34" charset="-122"/>
                <a:cs typeface="Palatino Linotype" pitchFamily="34" charset="-120"/>
              </a:rPr>
              <a:t>End-to-end pipeline validated</a:t>
            </a:r>
            <a:endParaRPr lang="en-US" sz="1600" dirty="0"/>
          </a:p>
        </p:txBody>
      </p:sp>
      <p:sp>
        <p:nvSpPr>
          <p:cNvPr id="9" name="Text 6"/>
          <p:cNvSpPr/>
          <p:nvPr/>
        </p:nvSpPr>
        <p:spPr>
          <a:xfrm>
            <a:off x="621792" y="1408176"/>
            <a:ext cx="4572000" cy="438912"/>
          </a:xfrm>
          <a:prstGeom prst="rect">
            <a:avLst/>
          </a:prstGeom>
          <a:noFill/>
          <a:ln/>
        </p:spPr>
        <p:txBody>
          <a:bodyPr wrap="square" lIns="0" tIns="0" rIns="0" bIns="0" rtlCol="0" anchor="ctr"/>
          <a:lstStyle/>
          <a:p>
            <a:pPr marL="0" indent="0">
              <a:lnSpc>
                <a:spcPct val="125000"/>
              </a:lnSpc>
              <a:buNone/>
            </a:pPr>
            <a:r>
              <a:rPr lang="en-US" sz="1400" dirty="0">
                <a:solidFill>
                  <a:srgbClr val="A0C8E8"/>
                </a:solidFill>
                <a:latin typeface="Garamond" pitchFamily="34" charset="0"/>
                <a:ea typeface="Garamond" pitchFamily="34" charset="-122"/>
                <a:cs typeface="Garamond" pitchFamily="34" charset="-120"/>
              </a:rPr>
              <a:t>Offline PC training → Raspberry Pi streaming inference · FastAPI + Tailscale fully operational</a:t>
            </a:r>
            <a:endParaRPr lang="en-US" sz="1400" dirty="0"/>
          </a:p>
        </p:txBody>
      </p:sp>
      <p:sp>
        <p:nvSpPr>
          <p:cNvPr id="10" name="Shape 7"/>
          <p:cNvSpPr/>
          <p:nvPr/>
        </p:nvSpPr>
        <p:spPr>
          <a:xfrm>
            <a:off x="457200" y="2029968"/>
            <a:ext cx="54864" cy="777240"/>
          </a:xfrm>
          <a:prstGeom prst="rect">
            <a:avLst/>
          </a:prstGeom>
          <a:solidFill>
            <a:srgbClr val="00B4A6"/>
          </a:solidFill>
          <a:ln w="12700">
            <a:solidFill>
              <a:srgbClr val="00B4A6"/>
            </a:solidFill>
            <a:prstDash val="solid"/>
          </a:ln>
        </p:spPr>
        <p:txBody>
          <a:bodyPr/>
          <a:lstStyle/>
          <a:p>
            <a:endParaRPr lang="LID4096" sz="2400"/>
          </a:p>
        </p:txBody>
      </p:sp>
      <p:sp>
        <p:nvSpPr>
          <p:cNvPr id="11" name="Text 8"/>
          <p:cNvSpPr/>
          <p:nvPr/>
        </p:nvSpPr>
        <p:spPr>
          <a:xfrm>
            <a:off x="621792" y="2029968"/>
            <a:ext cx="4572000" cy="292608"/>
          </a:xfrm>
          <a:prstGeom prst="rect">
            <a:avLst/>
          </a:prstGeom>
          <a:noFill/>
          <a:ln/>
        </p:spPr>
        <p:txBody>
          <a:bodyPr wrap="square" lIns="0" tIns="0" rIns="0" bIns="0" rtlCol="0" anchor="ctr"/>
          <a:lstStyle/>
          <a:p>
            <a:pPr marL="0" indent="0">
              <a:buNone/>
            </a:pPr>
            <a:r>
              <a:rPr lang="en-US" sz="1600" b="1" dirty="0">
                <a:solidFill>
                  <a:srgbClr val="00B4A6"/>
                </a:solidFill>
                <a:latin typeface="Palatino Linotype" pitchFamily="34" charset="0"/>
                <a:ea typeface="Palatino Linotype" pitchFamily="34" charset="-122"/>
                <a:cs typeface="Palatino Linotype" pitchFamily="34" charset="-120"/>
              </a:rPr>
              <a:t>Calibrated Z-score wins SKAB</a:t>
            </a:r>
            <a:endParaRPr lang="en-US" sz="1600" dirty="0"/>
          </a:p>
        </p:txBody>
      </p:sp>
      <p:sp>
        <p:nvSpPr>
          <p:cNvPr id="12" name="Text 9"/>
          <p:cNvSpPr/>
          <p:nvPr/>
        </p:nvSpPr>
        <p:spPr>
          <a:xfrm>
            <a:off x="621792" y="2322576"/>
            <a:ext cx="4572000" cy="438912"/>
          </a:xfrm>
          <a:prstGeom prst="rect">
            <a:avLst/>
          </a:prstGeom>
          <a:noFill/>
          <a:ln/>
        </p:spPr>
        <p:txBody>
          <a:bodyPr wrap="square" lIns="0" tIns="0" rIns="0" bIns="0" rtlCol="0" anchor="ctr"/>
          <a:lstStyle/>
          <a:p>
            <a:pPr marL="0" indent="0">
              <a:lnSpc>
                <a:spcPct val="125000"/>
              </a:lnSpc>
              <a:buNone/>
            </a:pPr>
            <a:r>
              <a:rPr lang="en-US" sz="1400" dirty="0">
                <a:solidFill>
                  <a:srgbClr val="A0C8E8"/>
                </a:solidFill>
                <a:latin typeface="Garamond" pitchFamily="34" charset="0"/>
                <a:ea typeface="Garamond" pitchFamily="34" charset="-122"/>
                <a:cs typeface="Garamond" pitchFamily="34" charset="-120"/>
              </a:rPr>
              <a:t>Event-level F1 = 1.000 on SKAB with warmup-based threshold · one coherent alert on valve fault</a:t>
            </a:r>
            <a:endParaRPr lang="en-US" sz="1400" dirty="0"/>
          </a:p>
        </p:txBody>
      </p:sp>
      <p:sp>
        <p:nvSpPr>
          <p:cNvPr id="13" name="Shape 10"/>
          <p:cNvSpPr/>
          <p:nvPr/>
        </p:nvSpPr>
        <p:spPr>
          <a:xfrm>
            <a:off x="457200" y="2944368"/>
            <a:ext cx="54864" cy="777240"/>
          </a:xfrm>
          <a:prstGeom prst="rect">
            <a:avLst/>
          </a:prstGeom>
          <a:solidFill>
            <a:srgbClr val="2DC653"/>
          </a:solidFill>
          <a:ln w="12700">
            <a:solidFill>
              <a:srgbClr val="2DC653"/>
            </a:solidFill>
            <a:prstDash val="solid"/>
          </a:ln>
        </p:spPr>
        <p:txBody>
          <a:bodyPr/>
          <a:lstStyle/>
          <a:p>
            <a:endParaRPr lang="LID4096" sz="2400"/>
          </a:p>
        </p:txBody>
      </p:sp>
      <p:sp>
        <p:nvSpPr>
          <p:cNvPr id="14" name="Text 11"/>
          <p:cNvSpPr/>
          <p:nvPr/>
        </p:nvSpPr>
        <p:spPr>
          <a:xfrm>
            <a:off x="621792" y="2944368"/>
            <a:ext cx="4572000" cy="292608"/>
          </a:xfrm>
          <a:prstGeom prst="rect">
            <a:avLst/>
          </a:prstGeom>
          <a:noFill/>
          <a:ln/>
        </p:spPr>
        <p:txBody>
          <a:bodyPr wrap="square" lIns="0" tIns="0" rIns="0" bIns="0" rtlCol="0" anchor="ctr"/>
          <a:lstStyle/>
          <a:p>
            <a:pPr marL="0" indent="0">
              <a:buNone/>
            </a:pPr>
            <a:r>
              <a:rPr lang="en-US" sz="1600" b="1" dirty="0">
                <a:solidFill>
                  <a:srgbClr val="2DC653"/>
                </a:solidFill>
                <a:latin typeface="Palatino Linotype" pitchFamily="34" charset="0"/>
                <a:ea typeface="Palatino Linotype" pitchFamily="34" charset="-122"/>
                <a:cs typeface="Palatino Linotype" pitchFamily="34" charset="-120"/>
              </a:rPr>
              <a:t>LSTM-AE dominates NAB</a:t>
            </a:r>
            <a:endParaRPr lang="en-US" sz="1600" dirty="0"/>
          </a:p>
        </p:txBody>
      </p:sp>
      <p:sp>
        <p:nvSpPr>
          <p:cNvPr id="15" name="Text 12"/>
          <p:cNvSpPr/>
          <p:nvPr/>
        </p:nvSpPr>
        <p:spPr>
          <a:xfrm>
            <a:off x="621792" y="3236976"/>
            <a:ext cx="4572000" cy="438912"/>
          </a:xfrm>
          <a:prstGeom prst="rect">
            <a:avLst/>
          </a:prstGeom>
          <a:noFill/>
          <a:ln/>
        </p:spPr>
        <p:txBody>
          <a:bodyPr wrap="square" lIns="0" tIns="0" rIns="0" bIns="0" rtlCol="0" anchor="ctr"/>
          <a:lstStyle/>
          <a:p>
            <a:pPr marL="0" indent="0">
              <a:lnSpc>
                <a:spcPct val="125000"/>
              </a:lnSpc>
              <a:buNone/>
            </a:pPr>
            <a:r>
              <a:rPr lang="en-US" sz="1400" dirty="0">
                <a:solidFill>
                  <a:srgbClr val="A0C8E8"/>
                </a:solidFill>
                <a:latin typeface="Garamond" pitchFamily="34" charset="0"/>
                <a:ea typeface="Garamond" pitchFamily="34" charset="-122"/>
                <a:cs typeface="Garamond" pitchFamily="34" charset="-120"/>
              </a:rPr>
              <a:t>PR-AUC 0.950 · Event F1 1.000 · 0 false positive events on ec2_network — best overall detector</a:t>
            </a:r>
            <a:endParaRPr lang="en-US" sz="1400" dirty="0"/>
          </a:p>
        </p:txBody>
      </p:sp>
      <p:sp>
        <p:nvSpPr>
          <p:cNvPr id="16" name="Shape 13"/>
          <p:cNvSpPr/>
          <p:nvPr/>
        </p:nvSpPr>
        <p:spPr>
          <a:xfrm>
            <a:off x="457200" y="3858768"/>
            <a:ext cx="54864" cy="777240"/>
          </a:xfrm>
          <a:prstGeom prst="rect">
            <a:avLst/>
          </a:prstGeom>
          <a:solidFill>
            <a:srgbClr val="F6AD55"/>
          </a:solidFill>
          <a:ln w="12700">
            <a:solidFill>
              <a:srgbClr val="F6AD55"/>
            </a:solidFill>
            <a:prstDash val="solid"/>
          </a:ln>
        </p:spPr>
        <p:txBody>
          <a:bodyPr/>
          <a:lstStyle/>
          <a:p>
            <a:endParaRPr lang="LID4096" sz="2400"/>
          </a:p>
        </p:txBody>
      </p:sp>
      <p:sp>
        <p:nvSpPr>
          <p:cNvPr id="17" name="Text 14"/>
          <p:cNvSpPr/>
          <p:nvPr/>
        </p:nvSpPr>
        <p:spPr>
          <a:xfrm>
            <a:off x="621792" y="3858768"/>
            <a:ext cx="4572000" cy="292608"/>
          </a:xfrm>
          <a:prstGeom prst="rect">
            <a:avLst/>
          </a:prstGeom>
          <a:noFill/>
          <a:ln/>
        </p:spPr>
        <p:txBody>
          <a:bodyPr wrap="square" lIns="0" tIns="0" rIns="0" bIns="0" rtlCol="0" anchor="ctr"/>
          <a:lstStyle/>
          <a:p>
            <a:pPr marL="0" indent="0">
              <a:buNone/>
            </a:pPr>
            <a:r>
              <a:rPr lang="en-US" sz="1600" b="1" dirty="0">
                <a:solidFill>
                  <a:srgbClr val="F6AD55"/>
                </a:solidFill>
                <a:latin typeface="Palatino Linotype" pitchFamily="34" charset="0"/>
                <a:ea typeface="Palatino Linotype" pitchFamily="34" charset="-122"/>
                <a:cs typeface="Palatino Linotype" pitchFamily="34" charset="-120"/>
              </a:rPr>
              <a:t>Multi-metric eval is non-negotiable</a:t>
            </a:r>
            <a:endParaRPr lang="en-US" sz="1600" dirty="0"/>
          </a:p>
        </p:txBody>
      </p:sp>
      <p:sp>
        <p:nvSpPr>
          <p:cNvPr id="18" name="Text 15"/>
          <p:cNvSpPr/>
          <p:nvPr/>
        </p:nvSpPr>
        <p:spPr>
          <a:xfrm>
            <a:off x="621792" y="4151376"/>
            <a:ext cx="4572000" cy="438912"/>
          </a:xfrm>
          <a:prstGeom prst="rect">
            <a:avLst/>
          </a:prstGeom>
          <a:noFill/>
          <a:ln/>
        </p:spPr>
        <p:txBody>
          <a:bodyPr wrap="square" lIns="0" tIns="0" rIns="0" bIns="0" rtlCol="0" anchor="ctr"/>
          <a:lstStyle/>
          <a:p>
            <a:pPr marL="0" indent="0">
              <a:lnSpc>
                <a:spcPct val="125000"/>
              </a:lnSpc>
              <a:buNone/>
            </a:pPr>
            <a:r>
              <a:rPr lang="en-US" sz="1400" dirty="0">
                <a:solidFill>
                  <a:srgbClr val="A0C8E8"/>
                </a:solidFill>
                <a:latin typeface="Garamond" pitchFamily="34" charset="0"/>
                <a:ea typeface="Garamond" pitchFamily="34" charset="-122"/>
                <a:cs typeface="Garamond" pitchFamily="34" charset="-120"/>
              </a:rPr>
              <a:t>Point F1 + Event F1 + PR-AUC together reveal what any single metric hides</a:t>
            </a:r>
            <a:endParaRPr lang="en-US" sz="1400" dirty="0"/>
          </a:p>
        </p:txBody>
      </p:sp>
      <p:sp>
        <p:nvSpPr>
          <p:cNvPr id="19" name="Text 16"/>
          <p:cNvSpPr/>
          <p:nvPr/>
        </p:nvSpPr>
        <p:spPr>
          <a:xfrm>
            <a:off x="5303520" y="2807208"/>
            <a:ext cx="3840480" cy="2336292"/>
          </a:xfrm>
          <a:prstGeom prst="rect">
            <a:avLst/>
          </a:prstGeom>
          <a:noFill/>
          <a:ln/>
        </p:spPr>
        <p:txBody>
          <a:bodyPr wrap="square" rtlCol="0" anchor="ctr"/>
          <a:lstStyle/>
          <a:p>
            <a:pPr marL="0" indent="0">
              <a:buNone/>
            </a:pPr>
            <a:r>
              <a:rPr lang="en-US" sz="4000" dirty="0">
                <a:solidFill>
                  <a:schemeClr val="bg1"/>
                </a:solidFill>
                <a:latin typeface="Garamond" pitchFamily="34" charset="0"/>
                <a:ea typeface="Garamond" pitchFamily="34" charset="-122"/>
                <a:cs typeface="Garamond" pitchFamily="34" charset="-120"/>
              </a:rPr>
              <a:t>Thank you for your attention.</a:t>
            </a:r>
            <a:endParaRPr lang="en-US" sz="4000"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TotalTime>
  <Words>6259</Words>
  <Application>Microsoft Office PowerPoint</Application>
  <PresentationFormat>On-screen Show (16:9)</PresentationFormat>
  <Paragraphs>444</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Garamond</vt:lpstr>
      <vt:lpstr>Palatino Linotype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 Telemetry Anomaly Detection</dc:title>
  <dc:subject>PptxGenJS Presentation</dc:subject>
  <dc:creator>PptxGenJS</dc:creator>
  <cp:lastModifiedBy>Konstantinos Larkou</cp:lastModifiedBy>
  <cp:revision>5</cp:revision>
  <dcterms:created xsi:type="dcterms:W3CDTF">2026-04-28T10:59:08Z</dcterms:created>
  <dcterms:modified xsi:type="dcterms:W3CDTF">2026-04-28T13:36:15Z</dcterms:modified>
</cp:coreProperties>
</file>